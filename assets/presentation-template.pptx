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6.xml.rels" ContentType="application/vnd.openxmlformats-package.relationships+xml"/>
  <Override PartName="/ppt/slides/_rels/slide23.xml.rels" ContentType="application/vnd.openxmlformats-package.relationships+xml"/>
  <Override PartName="/ppt/slides/_rels/slide15.xml.rels" ContentType="application/vnd.openxmlformats-package.relationships+xml"/>
  <Override PartName="/ppt/slides/_rels/slide7.xml.rels" ContentType="application/vnd.openxmlformats-package.relationships+xml"/>
  <Override PartName="/ppt/slides/_rels/slide24.xml.rels" ContentType="application/vnd.openxmlformats-package.relationships+xml"/>
  <Override PartName="/ppt/slides/_rels/slide34.xml.rels" ContentType="application/vnd.openxmlformats-package.relationships+xml"/>
  <Override PartName="/ppt/slides/_rels/slide33.xml.rels" ContentType="application/vnd.openxmlformats-package.relationships+xml"/>
  <Override PartName="/ppt/slides/_rels/slide32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27.xml.rels" ContentType="application/vnd.openxmlformats-package.relationships+xml"/>
  <Override PartName="/ppt/slides/_rels/slide12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34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9320" cy="5142960"/>
          </a:xfrm>
          <a:prstGeom prst="rect">
            <a:avLst/>
          </a:prstGeom>
          <a:solidFill>
            <a:srgbClr val="94a3f6"/>
          </a:solidFill>
          <a:ln w="12700">
            <a:solidFill>
              <a:srgbClr val="94a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20040" y="3566160"/>
            <a:ext cx="8823240" cy="49680"/>
          </a:xfrm>
          <a:prstGeom prst="rect">
            <a:avLst/>
          </a:prstGeom>
          <a:solidFill>
            <a:srgbClr val="94a3f6"/>
          </a:solidFill>
          <a:ln w="12700">
            <a:solidFill>
              <a:srgbClr val="94a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0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494" strike="noStrike">
                <a:solidFill>
                  <a:srgbClr val="94a3f6"/>
                </a:solidFill>
                <a:latin typeface="Calibri"/>
                <a:ea typeface="Calibri"/>
              </a:rPr>
              <a:t>PRODUCT DISCOVERY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80460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ffffff"/>
                </a:solidFill>
                <a:latin typeface="Calibri"/>
                <a:ea typeface="Calibri"/>
              </a:rPr>
              <a:t>WONDER DIAMOND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80460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8eaf6"/>
                </a:solidFill>
                <a:latin typeface="Calibri"/>
                <a:ea typeface="Calibri"/>
              </a:rPr>
              <a:t>CVD-бриллиантовые украшения 6ct+ от производителя — в 10–50× дешевле натуральных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3794760"/>
            <a:ext cx="80460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94" strike="noStrike">
                <a:solidFill>
                  <a:srgbClr val="64748b"/>
                </a:solidFill>
                <a:latin typeface="Calibri"/>
                <a:ea typeface="Calibri"/>
              </a:rPr>
              <a:t>Россия, B2C  ·  Апрель 2026  ·  Этап: Verification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9143280" cy="68508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Text 1"/>
          <p:cNvSpPr/>
          <p:nvPr/>
        </p:nvSpPr>
        <p:spPr>
          <a:xfrm>
            <a:off x="365760" y="0"/>
            <a:ext cx="7314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Содержание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" name="Text 3"/>
          <p:cNvSpPr/>
          <p:nvPr/>
        </p:nvSpPr>
        <p:spPr>
          <a:xfrm>
            <a:off x="365760" y="4937760"/>
            <a:ext cx="64000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Источник: Product Discovery Wonder Diamond, апрель 2026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365760" y="658440"/>
            <a:ext cx="474840" cy="529560"/>
          </a:xfrm>
          <a:prstGeom prst="rect">
            <a:avLst/>
          </a:prstGeom>
          <a:solidFill>
            <a:srgbClr val="94a3f6"/>
          </a:solidFill>
          <a:ln w="12700">
            <a:solidFill>
              <a:srgbClr val="94a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Text 5"/>
          <p:cNvSpPr/>
          <p:nvPr/>
        </p:nvSpPr>
        <p:spPr>
          <a:xfrm>
            <a:off x="365760" y="658440"/>
            <a:ext cx="47484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01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1005840" y="694800"/>
            <a:ext cx="7771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f1020"/>
                </a:solidFill>
                <a:latin typeface="Calibri"/>
                <a:ea typeface="Calibri"/>
              </a:rPr>
              <a:t>Анализ рынка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1005840" y="969120"/>
            <a:ext cx="77716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TAM/SAM/SOM · Динамика · Тренды · Value Chain · Конкуренты · PESTEL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365760" y="1371600"/>
            <a:ext cx="474840" cy="529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Text 9"/>
          <p:cNvSpPr/>
          <p:nvPr/>
        </p:nvSpPr>
        <p:spPr>
          <a:xfrm>
            <a:off x="365760" y="1371600"/>
            <a:ext cx="47484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02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1005840" y="1408320"/>
            <a:ext cx="7771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f1020"/>
                </a:solidFill>
                <a:latin typeface="Calibri"/>
                <a:ea typeface="Calibri"/>
              </a:rPr>
              <a:t>Исследование потребителей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1005840" y="1682640"/>
            <a:ext cx="77716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JTBD · CJM · Инсайты · Opportunity Score · Персоны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365760" y="2084760"/>
            <a:ext cx="474840" cy="529560"/>
          </a:xfrm>
          <a:prstGeom prst="rect">
            <a:avLst/>
          </a:prstGeom>
          <a:solidFill>
            <a:srgbClr val="457e4a"/>
          </a:solidFill>
          <a:ln w="12700">
            <a:solidFill>
              <a:srgbClr val="457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365760" y="2084760"/>
            <a:ext cx="47484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03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1005840" y="2121480"/>
            <a:ext cx="7771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f1020"/>
                </a:solidFill>
                <a:latin typeface="Calibri"/>
                <a:ea typeface="Calibri"/>
              </a:rPr>
              <a:t>Текущий стратегический сценарий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1005840" y="2395800"/>
            <a:ext cx="77716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Цели · Lean Canvas/BMC · PAC · SWOT · Консистентность · Юнит-экономика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365760" y="2797920"/>
            <a:ext cx="474840" cy="529560"/>
          </a:xfrm>
          <a:prstGeom prst="rect">
            <a:avLst/>
          </a:prstGeom>
          <a:solidFill>
            <a:srgbClr val="94a3f6"/>
          </a:solidFill>
          <a:ln w="12700">
            <a:solidFill>
              <a:srgbClr val="94a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Text 17"/>
          <p:cNvSpPr/>
          <p:nvPr/>
        </p:nvSpPr>
        <p:spPr>
          <a:xfrm>
            <a:off x="365760" y="2797920"/>
            <a:ext cx="47484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04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 18"/>
          <p:cNvSpPr/>
          <p:nvPr/>
        </p:nvSpPr>
        <p:spPr>
          <a:xfrm>
            <a:off x="1005840" y="2834640"/>
            <a:ext cx="7771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f1020"/>
                </a:solidFill>
                <a:latin typeface="Calibri"/>
                <a:ea typeface="Calibri"/>
              </a:rPr>
              <a:t>Opportunity Solution Tree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19"/>
          <p:cNvSpPr/>
          <p:nvPr/>
        </p:nvSpPr>
        <p:spPr>
          <a:xfrm>
            <a:off x="1005840" y="3108960"/>
            <a:ext cx="77716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Уровни 1–2: цель + возможности · Уровни 3–4: решения + эксперименты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Shape 20"/>
          <p:cNvSpPr/>
          <p:nvPr/>
        </p:nvSpPr>
        <p:spPr>
          <a:xfrm>
            <a:off x="365760" y="3511440"/>
            <a:ext cx="474840" cy="529560"/>
          </a:xfrm>
          <a:prstGeom prst="rect">
            <a:avLst/>
          </a:prstGeom>
          <a:solidFill>
            <a:srgbClr val="f5939e"/>
          </a:solidFill>
          <a:ln w="12700">
            <a:solidFill>
              <a:srgbClr val="f593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Text 21"/>
          <p:cNvSpPr/>
          <p:nvPr/>
        </p:nvSpPr>
        <p:spPr>
          <a:xfrm>
            <a:off x="365760" y="3511440"/>
            <a:ext cx="47484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05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 22"/>
          <p:cNvSpPr/>
          <p:nvPr/>
        </p:nvSpPr>
        <p:spPr>
          <a:xfrm>
            <a:off x="1005840" y="3547800"/>
            <a:ext cx="7771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f1020"/>
                </a:solidFill>
                <a:latin typeface="Calibri"/>
                <a:ea typeface="Calibri"/>
              </a:rPr>
              <a:t>Альтернативный сценарий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 23"/>
          <p:cNvSpPr/>
          <p:nvPr/>
        </p:nvSpPr>
        <p:spPr>
          <a:xfrm>
            <a:off x="1005840" y="3822120"/>
            <a:ext cx="77716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Ключевые изменения · RICE · Пул гипотез + план тестирования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Shape 24"/>
          <p:cNvSpPr/>
          <p:nvPr/>
        </p:nvSpPr>
        <p:spPr>
          <a:xfrm>
            <a:off x="365760" y="4224600"/>
            <a:ext cx="474840" cy="529560"/>
          </a:xfrm>
          <a:prstGeom prst="rect">
            <a:avLst/>
          </a:prstGeom>
          <a:solidFill>
            <a:srgbClr val="457e4a"/>
          </a:solidFill>
          <a:ln w="12700">
            <a:solidFill>
              <a:srgbClr val="457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" name="Text 25"/>
          <p:cNvSpPr/>
          <p:nvPr/>
        </p:nvSpPr>
        <p:spPr>
          <a:xfrm>
            <a:off x="365760" y="4224600"/>
            <a:ext cx="47484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06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26"/>
          <p:cNvSpPr/>
          <p:nvPr/>
        </p:nvSpPr>
        <p:spPr>
          <a:xfrm>
            <a:off x="1005840" y="4260960"/>
            <a:ext cx="7771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f1020"/>
                </a:solidFill>
                <a:latin typeface="Calibri"/>
                <a:ea typeface="Calibri"/>
              </a:rPr>
              <a:t>PMF-метрики и следующие шаги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27"/>
          <p:cNvSpPr/>
          <p:nvPr/>
        </p:nvSpPr>
        <p:spPr>
          <a:xfrm>
            <a:off x="1005840" y="4535280"/>
            <a:ext cx="77716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PMF по фазам · OS финальный (топ-10) · Следующие шаги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0"/>
          <p:cNvSpPr/>
          <p:nvPr/>
        </p:nvSpPr>
        <p:spPr>
          <a:xfrm>
            <a:off x="0" y="0"/>
            <a:ext cx="9143280" cy="68508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Text 1"/>
          <p:cNvSpPr/>
          <p:nvPr/>
        </p:nvSpPr>
        <p:spPr>
          <a:xfrm>
            <a:off x="365760" y="0"/>
            <a:ext cx="7314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Оценка объёма рынка (TAM / SAM / SOM)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2"/>
          <p:cNvSpPr/>
          <p:nvPr/>
        </p:nvSpPr>
        <p:spPr>
          <a:xfrm>
            <a:off x="7132320" y="0"/>
            <a:ext cx="1828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94" strike="noStrike">
                <a:solidFill>
                  <a:srgbClr val="94a3f6"/>
                </a:solidFill>
                <a:latin typeface="Calibri"/>
                <a:ea typeface="Calibri"/>
              </a:rPr>
              <a:t>АНАЛИЗ РЫНКА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Shape 3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Text 4"/>
          <p:cNvSpPr/>
          <p:nvPr/>
        </p:nvSpPr>
        <p:spPr>
          <a:xfrm>
            <a:off x="365760" y="4937760"/>
            <a:ext cx="64000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Источник: Ассоциация ювелиров РФ 2025; INFOLine 2025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Shape 5"/>
          <p:cNvSpPr/>
          <p:nvPr/>
        </p:nvSpPr>
        <p:spPr>
          <a:xfrm>
            <a:off x="365760" y="868680"/>
            <a:ext cx="8411760" cy="100512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Text 6"/>
          <p:cNvSpPr/>
          <p:nvPr/>
        </p:nvSpPr>
        <p:spPr>
          <a:xfrm>
            <a:off x="548640" y="941760"/>
            <a:ext cx="10965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TAM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7"/>
          <p:cNvSpPr/>
          <p:nvPr/>
        </p:nvSpPr>
        <p:spPr>
          <a:xfrm>
            <a:off x="548640" y="1371600"/>
            <a:ext cx="3199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e8eaf6"/>
                </a:solidFill>
                <a:latin typeface="Calibri"/>
                <a:ea typeface="Calibri"/>
              </a:rPr>
              <a:t>Total Addressable Market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8"/>
          <p:cNvSpPr/>
          <p:nvPr/>
        </p:nvSpPr>
        <p:spPr>
          <a:xfrm>
            <a:off x="5577840" y="868680"/>
            <a:ext cx="301680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rIns="101520" tIns="101520" bIns="10152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ffffff"/>
                </a:solidFill>
                <a:latin typeface="Calibri"/>
                <a:ea typeface="Calibri"/>
              </a:rPr>
              <a:t>539 млрд ₽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Shape 9"/>
          <p:cNvSpPr/>
          <p:nvPr/>
        </p:nvSpPr>
        <p:spPr>
          <a:xfrm>
            <a:off x="1600200" y="2057400"/>
            <a:ext cx="5942880" cy="1005120"/>
          </a:xfrm>
          <a:prstGeom prst="rect">
            <a:avLst/>
          </a:prstGeom>
          <a:solidFill>
            <a:srgbClr val="6b7fe3"/>
          </a:solidFill>
          <a:ln w="12700">
            <a:solidFill>
              <a:srgbClr val="6b7f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Text 10"/>
          <p:cNvSpPr/>
          <p:nvPr/>
        </p:nvSpPr>
        <p:spPr>
          <a:xfrm>
            <a:off x="1783080" y="2130480"/>
            <a:ext cx="10965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SAM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11"/>
          <p:cNvSpPr/>
          <p:nvPr/>
        </p:nvSpPr>
        <p:spPr>
          <a:xfrm>
            <a:off x="1783080" y="2560320"/>
            <a:ext cx="3199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e8eaf6"/>
                </a:solidFill>
                <a:latin typeface="Calibri"/>
                <a:ea typeface="Calibri"/>
              </a:rPr>
              <a:t>Serviceable Available Market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12"/>
          <p:cNvSpPr/>
          <p:nvPr/>
        </p:nvSpPr>
        <p:spPr>
          <a:xfrm>
            <a:off x="4343400" y="2057400"/>
            <a:ext cx="301680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rIns="101520" tIns="101520" bIns="10152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ffffff"/>
                </a:solidFill>
                <a:latin typeface="Calibri"/>
                <a:ea typeface="Calibri"/>
              </a:rPr>
              <a:t>2,1 млрд ₽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Shape 13"/>
          <p:cNvSpPr/>
          <p:nvPr/>
        </p:nvSpPr>
        <p:spPr>
          <a:xfrm>
            <a:off x="2788920" y="3246120"/>
            <a:ext cx="3565440" cy="1005120"/>
          </a:xfrm>
          <a:prstGeom prst="rect">
            <a:avLst/>
          </a:prstGeom>
          <a:solidFill>
            <a:srgbClr val="94a3f6"/>
          </a:solidFill>
          <a:ln w="12700">
            <a:solidFill>
              <a:srgbClr val="94a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0" name="Text 14"/>
          <p:cNvSpPr/>
          <p:nvPr/>
        </p:nvSpPr>
        <p:spPr>
          <a:xfrm>
            <a:off x="2971800" y="3319200"/>
            <a:ext cx="10965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SOM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15"/>
          <p:cNvSpPr/>
          <p:nvPr/>
        </p:nvSpPr>
        <p:spPr>
          <a:xfrm>
            <a:off x="2971800" y="3749040"/>
            <a:ext cx="3199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e8eaf6"/>
                </a:solidFill>
                <a:latin typeface="Calibri"/>
                <a:ea typeface="Calibri"/>
              </a:rPr>
              <a:t>Serviceable Obtainable Market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16"/>
          <p:cNvSpPr/>
          <p:nvPr/>
        </p:nvSpPr>
        <p:spPr>
          <a:xfrm>
            <a:off x="3154680" y="3246120"/>
            <a:ext cx="301680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rIns="101520" tIns="101520" bIns="10152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ffffff"/>
                </a:solidFill>
                <a:latin typeface="Calibri"/>
                <a:ea typeface="Calibri"/>
              </a:rPr>
              <a:t>50 млн ₽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17"/>
          <p:cNvSpPr/>
          <p:nvPr/>
        </p:nvSpPr>
        <p:spPr>
          <a:xfrm>
            <a:off x="365760" y="4544640"/>
            <a:ext cx="8411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64748b"/>
                </a:solidFill>
                <a:latin typeface="Calibri"/>
                <a:ea typeface="Calibri"/>
              </a:rPr>
              <a:t>Top-down: 539B × 15% премиум × 5% CVD × 26% онлайн = 2,1 млрд ₽. Bottom-up: 300K покупателей × 0,4 × 250K × 7% = 2,1 млрд ₽. Расхождение 1× ✅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0"/>
          <p:cNvSpPr/>
          <p:nvPr/>
        </p:nvSpPr>
        <p:spPr>
          <a:xfrm>
            <a:off x="0" y="0"/>
            <a:ext cx="9143280" cy="68508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Text 1"/>
          <p:cNvSpPr/>
          <p:nvPr/>
        </p:nvSpPr>
        <p:spPr>
          <a:xfrm>
            <a:off x="365760" y="0"/>
            <a:ext cx="7314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Динамика рынка (CAGR)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2"/>
          <p:cNvSpPr/>
          <p:nvPr/>
        </p:nvSpPr>
        <p:spPr>
          <a:xfrm>
            <a:off x="7132320" y="0"/>
            <a:ext cx="1828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94" strike="noStrike">
                <a:solidFill>
                  <a:srgbClr val="94a3f6"/>
                </a:solidFill>
                <a:latin typeface="Calibri"/>
                <a:ea typeface="Calibri"/>
              </a:rPr>
              <a:t>АНАЛИЗ РЫНКА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Shape 3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Text 4"/>
          <p:cNvSpPr/>
          <p:nvPr/>
        </p:nvSpPr>
        <p:spPr>
          <a:xfrm>
            <a:off x="365760" y="4937760"/>
            <a:ext cx="64000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Источник: INFOLine 2025; Sokolov Analytics; Ассоциация ювелиров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Shape 5"/>
          <p:cNvSpPr/>
          <p:nvPr/>
        </p:nvSpPr>
        <p:spPr>
          <a:xfrm>
            <a:off x="365760" y="868680"/>
            <a:ext cx="2559600" cy="132516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0" name="Shape 6"/>
          <p:cNvSpPr/>
          <p:nvPr/>
        </p:nvSpPr>
        <p:spPr>
          <a:xfrm>
            <a:off x="365760" y="868680"/>
            <a:ext cx="2559600" cy="54000"/>
          </a:xfrm>
          <a:prstGeom prst="rect">
            <a:avLst/>
          </a:prstGeom>
          <a:solidFill>
            <a:srgbClr val="94a3f6"/>
          </a:solidFill>
          <a:ln w="12700">
            <a:solidFill>
              <a:srgbClr val="94a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Text 7"/>
          <p:cNvSpPr/>
          <p:nvPr/>
        </p:nvSpPr>
        <p:spPr>
          <a:xfrm>
            <a:off x="365760" y="1051560"/>
            <a:ext cx="255960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94a3f6"/>
                </a:solidFill>
                <a:latin typeface="Calibri"/>
                <a:ea typeface="Calibri"/>
              </a:rPr>
              <a:t>Динамика рынка (CAGR)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8"/>
          <p:cNvSpPr/>
          <p:nvPr/>
        </p:nvSpPr>
        <p:spPr>
          <a:xfrm>
            <a:off x="365760" y="1645920"/>
            <a:ext cx="255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Объём рынка (TAM)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9"/>
          <p:cNvSpPr/>
          <p:nvPr/>
        </p:nvSpPr>
        <p:spPr>
          <a:xfrm>
            <a:off x="3291840" y="868680"/>
            <a:ext cx="2559600" cy="132516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Shape 10"/>
          <p:cNvSpPr/>
          <p:nvPr/>
        </p:nvSpPr>
        <p:spPr>
          <a:xfrm>
            <a:off x="3291840" y="868680"/>
            <a:ext cx="2559600" cy="54000"/>
          </a:xfrm>
          <a:prstGeom prst="rect">
            <a:avLst/>
          </a:prstGeom>
          <a:solidFill>
            <a:srgbClr val="457e4a"/>
          </a:solidFill>
          <a:ln w="12700">
            <a:solidFill>
              <a:srgbClr val="457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5" name="Text 11"/>
          <p:cNvSpPr/>
          <p:nvPr/>
        </p:nvSpPr>
        <p:spPr>
          <a:xfrm>
            <a:off x="3291840" y="1051560"/>
            <a:ext cx="255960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457e4a"/>
                </a:solidFill>
                <a:latin typeface="Calibri"/>
                <a:ea typeface="Calibri"/>
              </a:rPr>
              <a:t>15–17%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12"/>
          <p:cNvSpPr/>
          <p:nvPr/>
        </p:nvSpPr>
        <p:spPr>
          <a:xfrm>
            <a:off x="3291840" y="1645920"/>
            <a:ext cx="255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CAGR (рост рынка)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13"/>
          <p:cNvSpPr/>
          <p:nvPr/>
        </p:nvSpPr>
        <p:spPr>
          <a:xfrm>
            <a:off x="6217920" y="868680"/>
            <a:ext cx="2559600" cy="132516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" name="Shape 14"/>
          <p:cNvSpPr/>
          <p:nvPr/>
        </p:nvSpPr>
        <p:spPr>
          <a:xfrm>
            <a:off x="6217920" y="868680"/>
            <a:ext cx="2559600" cy="54000"/>
          </a:xfrm>
          <a:prstGeom prst="rect">
            <a:avLst/>
          </a:prstGeom>
          <a:solidFill>
            <a:srgbClr val="94a3f6"/>
          </a:solidFill>
          <a:ln w="12700">
            <a:solidFill>
              <a:srgbClr val="94a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9" name="Text 15"/>
          <p:cNvSpPr/>
          <p:nvPr/>
        </p:nvSpPr>
        <p:spPr>
          <a:xfrm>
            <a:off x="6217920" y="1051560"/>
            <a:ext cx="255960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94a3f6"/>
                </a:solidFill>
                <a:latin typeface="Calibri"/>
                <a:ea typeface="Calibri"/>
              </a:rPr>
              <a:t>6 ключевых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16"/>
          <p:cNvSpPr/>
          <p:nvPr/>
        </p:nvSpPr>
        <p:spPr>
          <a:xfrm>
            <a:off x="6217920" y="1645920"/>
            <a:ext cx="255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Ключевых участников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17"/>
          <p:cNvSpPr/>
          <p:nvPr/>
        </p:nvSpPr>
        <p:spPr>
          <a:xfrm>
            <a:off x="365760" y="2377440"/>
            <a:ext cx="8411760" cy="233100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2" name="Shape 18"/>
          <p:cNvSpPr/>
          <p:nvPr/>
        </p:nvSpPr>
        <p:spPr>
          <a:xfrm>
            <a:off x="365760" y="2377440"/>
            <a:ext cx="8411760" cy="54000"/>
          </a:xfrm>
          <a:prstGeom prst="rect">
            <a:avLst/>
          </a:prstGeom>
          <a:solidFill>
            <a:srgbClr val="94a3f6"/>
          </a:solidFill>
          <a:ln w="12700">
            <a:solidFill>
              <a:srgbClr val="94a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" name="Text 19"/>
          <p:cNvSpPr/>
          <p:nvPr/>
        </p:nvSpPr>
        <p:spPr>
          <a:xfrm>
            <a:off x="502920" y="2468880"/>
            <a:ext cx="81374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Динамика рынка и прогноз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20"/>
          <p:cNvSpPr/>
          <p:nvPr/>
        </p:nvSpPr>
        <p:spPr>
          <a:xfrm>
            <a:off x="475560" y="2834640"/>
            <a:ext cx="8192160" cy="180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CAGR 15–17%/год за 2023–2025. Источник: INFOLine, Ассоциация ювелиров РФ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Прогноз: 2026: 620 млрд ₽ → 2028: ~850 млрд (при сохранении 16% CAGR)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Драйверы: рост цены золота (+45%), e-commerce +35%, премиализация, CVD занял 20% рынка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Риски: высокая ключевая ставка ЦБ, падение покуп. способности, падение RAPI натуральных −10%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0"/>
          <p:cNvSpPr/>
          <p:nvPr/>
        </p:nvSpPr>
        <p:spPr>
          <a:xfrm>
            <a:off x="0" y="0"/>
            <a:ext cx="9143280" cy="68508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6" name="Text 1"/>
          <p:cNvSpPr/>
          <p:nvPr/>
        </p:nvSpPr>
        <p:spPr>
          <a:xfrm>
            <a:off x="365760" y="0"/>
            <a:ext cx="7314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Тренды рынка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2"/>
          <p:cNvSpPr/>
          <p:nvPr/>
        </p:nvSpPr>
        <p:spPr>
          <a:xfrm>
            <a:off x="7132320" y="0"/>
            <a:ext cx="1828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94" strike="noStrike">
                <a:solidFill>
                  <a:srgbClr val="94a3f6"/>
                </a:solidFill>
                <a:latin typeface="Calibri"/>
                <a:ea typeface="Calibri"/>
              </a:rPr>
              <a:t>АНАЛИЗ РЫНКА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3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9" name="Text 4"/>
          <p:cNvSpPr/>
          <p:nvPr/>
        </p:nvSpPr>
        <p:spPr>
          <a:xfrm>
            <a:off x="365760" y="4937760"/>
            <a:ext cx="64000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Источник: Ассоциация ювелиров 2025; INFOLine; Financial Times; Sokolov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5"/>
          <p:cNvSpPr/>
          <p:nvPr/>
        </p:nvSpPr>
        <p:spPr>
          <a:xfrm>
            <a:off x="365760" y="868680"/>
            <a:ext cx="4205520" cy="169092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1" name="Shape 6"/>
          <p:cNvSpPr/>
          <p:nvPr/>
        </p:nvSpPr>
        <p:spPr>
          <a:xfrm>
            <a:off x="365760" y="868680"/>
            <a:ext cx="4205520" cy="54000"/>
          </a:xfrm>
          <a:prstGeom prst="rect">
            <a:avLst/>
          </a:prstGeom>
          <a:solidFill>
            <a:srgbClr val="94a3f6"/>
          </a:solidFill>
          <a:ln w="12700">
            <a:solidFill>
              <a:srgbClr val="94a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2" name="Text 7"/>
          <p:cNvSpPr/>
          <p:nvPr/>
        </p:nvSpPr>
        <p:spPr>
          <a:xfrm>
            <a:off x="502920" y="960120"/>
            <a:ext cx="3931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Технологический тренд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8"/>
          <p:cNvSpPr/>
          <p:nvPr/>
        </p:nvSpPr>
        <p:spPr>
          <a:xfrm>
            <a:off x="475560" y="1325880"/>
            <a:ext cx="3985920" cy="11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CVD занял ~20% бриллиантового рынка глобально (было 0% в 2015) — категория легитимизируется. Снижает барьер недоверия для новых CVD-брендов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9"/>
          <p:cNvSpPr/>
          <p:nvPr/>
        </p:nvSpPr>
        <p:spPr>
          <a:xfrm>
            <a:off x="4754880" y="868680"/>
            <a:ext cx="4205520" cy="169092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5" name="Shape 10"/>
          <p:cNvSpPr/>
          <p:nvPr/>
        </p:nvSpPr>
        <p:spPr>
          <a:xfrm>
            <a:off x="4754880" y="868680"/>
            <a:ext cx="4205520" cy="54000"/>
          </a:xfrm>
          <a:prstGeom prst="rect">
            <a:avLst/>
          </a:prstGeom>
          <a:solidFill>
            <a:srgbClr val="457e4a"/>
          </a:solidFill>
          <a:ln w="12700">
            <a:solidFill>
              <a:srgbClr val="457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6" name="Text 11"/>
          <p:cNvSpPr/>
          <p:nvPr/>
        </p:nvSpPr>
        <p:spPr>
          <a:xfrm>
            <a:off x="4892040" y="960120"/>
            <a:ext cx="3931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Поведенческий тренд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12"/>
          <p:cNvSpPr/>
          <p:nvPr/>
        </p:nvSpPr>
        <p:spPr>
          <a:xfrm>
            <a:off x="4864680" y="1325880"/>
            <a:ext cx="3985920" cy="11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E-commerce ювелирки растёт: 26% → 35% к 2026 (Sokolov). Премиализация: доля украшений с камнями 42% → 45–50% (Ювелир.INFO)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13"/>
          <p:cNvSpPr/>
          <p:nvPr/>
        </p:nvSpPr>
        <p:spPr>
          <a:xfrm>
            <a:off x="365760" y="2743200"/>
            <a:ext cx="4205520" cy="169092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9" name="Shape 14"/>
          <p:cNvSpPr/>
          <p:nvPr/>
        </p:nvSpPr>
        <p:spPr>
          <a:xfrm>
            <a:off x="365760" y="2743200"/>
            <a:ext cx="4205520" cy="54000"/>
          </a:xfrm>
          <a:prstGeom prst="rect">
            <a:avLst/>
          </a:prstGeom>
          <a:solidFill>
            <a:srgbClr val="94a3f6"/>
          </a:solidFill>
          <a:ln w="12700">
            <a:solidFill>
              <a:srgbClr val="94a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0" name="Text 15"/>
          <p:cNvSpPr/>
          <p:nvPr/>
        </p:nvSpPr>
        <p:spPr>
          <a:xfrm>
            <a:off x="502920" y="2834640"/>
            <a:ext cx="3931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Регуляторный тренд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16"/>
          <p:cNvSpPr/>
          <p:nvPr/>
        </p:nvSpPr>
        <p:spPr>
          <a:xfrm>
            <a:off x="475560" y="3200400"/>
            <a:ext cx="3985920" cy="11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Закон 334-ФЗ (с 01.03.2026): реестр объектов розницы в ГИИС ДМДК. Обязательная 2D-маркировка (с сент. 2025)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Shape 17"/>
          <p:cNvSpPr/>
          <p:nvPr/>
        </p:nvSpPr>
        <p:spPr>
          <a:xfrm>
            <a:off x="4754880" y="2743200"/>
            <a:ext cx="4205520" cy="169092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3" name="Shape 18"/>
          <p:cNvSpPr/>
          <p:nvPr/>
        </p:nvSpPr>
        <p:spPr>
          <a:xfrm>
            <a:off x="4754880" y="2743200"/>
            <a:ext cx="4205520" cy="54000"/>
          </a:xfrm>
          <a:prstGeom prst="rect">
            <a:avLst/>
          </a:prstGeom>
          <a:solidFill>
            <a:srgbClr val="457e4a"/>
          </a:solidFill>
          <a:ln w="12700">
            <a:solidFill>
              <a:srgbClr val="457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4" name="Text 19"/>
          <p:cNvSpPr/>
          <p:nvPr/>
        </p:nvSpPr>
        <p:spPr>
          <a:xfrm>
            <a:off x="4892040" y="2834640"/>
            <a:ext cx="3931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Экономический тренд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20"/>
          <p:cNvSpPr/>
          <p:nvPr/>
        </p:nvSpPr>
        <p:spPr>
          <a:xfrm>
            <a:off x="4864680" y="3200400"/>
            <a:ext cx="3985920" cy="11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Рост цены золота +45% за 2024 → рост COGS оправ. RAPI натуральных бриллиантов −10% за 2025 → рынок натуральных слабеет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0"/>
          <p:cNvSpPr/>
          <p:nvPr/>
        </p:nvSpPr>
        <p:spPr>
          <a:xfrm>
            <a:off x="0" y="0"/>
            <a:ext cx="9143280" cy="68508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7" name="Text 1"/>
          <p:cNvSpPr/>
          <p:nvPr/>
        </p:nvSpPr>
        <p:spPr>
          <a:xfrm>
            <a:off x="365760" y="0"/>
            <a:ext cx="7314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Value Chain — цепочка создания стоимости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2"/>
          <p:cNvSpPr/>
          <p:nvPr/>
        </p:nvSpPr>
        <p:spPr>
          <a:xfrm>
            <a:off x="7132320" y="0"/>
            <a:ext cx="1828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94" strike="noStrike">
                <a:solidFill>
                  <a:srgbClr val="94a3f6"/>
                </a:solidFill>
                <a:latin typeface="Calibri"/>
                <a:ea typeface="Calibri"/>
              </a:rPr>
              <a:t>АНАЛИЗ РЫНКА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Questions"/>
          <p:cNvSpPr/>
          <p:nvPr/>
        </p:nvSpPr>
        <p:spPr>
          <a:xfrm>
            <a:off x="365760" y="868680"/>
            <a:ext cx="8412120" cy="868320"/>
          </a:xfrm>
          <a:prstGeom prst="rect">
            <a:avLst/>
          </a:prstGeom>
          <a:solidFill>
            <a:srgbClr val="1a1f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91440" bIns="91440" anchor="t">
            <a:noAutofit/>
          </a:bodyPr>
          <a:p>
            <a:pPr>
              <a:lnSpc>
                <a:spcPct val="100000"/>
              </a:lnSpc>
            </a:pPr>
            <a:r>
              <a:rPr b="1" lang="ru-RU" sz="1000" spc="-1" strike="noStrike">
                <a:solidFill>
                  <a:srgbClr val="94a3f6"/>
                </a:solidFill>
                <a:latin typeface="Arial"/>
              </a:rPr>
              <a:t>▸ </a:t>
            </a:r>
            <a:r>
              <a:rPr b="0" lang="ru-RU" sz="1000" spc="-1" strike="noStrike">
                <a:solidFill>
                  <a:srgbClr val="ffffff"/>
                </a:solidFill>
                <a:latin typeface="Arial"/>
              </a:rPr>
              <a:t>Участники: от поставщиков сырья до конечного потребителя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1000" spc="-1" strike="noStrike">
                <a:solidFill>
                  <a:srgbClr val="94a3f6"/>
                </a:solidFill>
                <a:latin typeface="Arial"/>
              </a:rPr>
              <a:t>▸ </a:t>
            </a:r>
            <a:r>
              <a:rPr b="0" lang="ru-RU" sz="1000" spc="-1" strike="noStrike">
                <a:solidFill>
                  <a:srgbClr val="ffffff"/>
                </a:solidFill>
                <a:latin typeface="Arial"/>
              </a:rPr>
              <a:t>На каком звене создаётся наибольшая ценность и маржинальность?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1000" spc="-1" strike="noStrike">
                <a:solidFill>
                  <a:srgbClr val="94a3f6"/>
                </a:solidFill>
                <a:latin typeface="Arial"/>
              </a:rPr>
              <a:t>▸ </a:t>
            </a:r>
            <a:r>
              <a:rPr b="0" lang="ru-RU" sz="1000" spc="-1" strike="noStrike">
                <a:solidFill>
                  <a:srgbClr val="ffffff"/>
                </a:solidFill>
                <a:latin typeface="Arial"/>
              </a:rPr>
              <a:t>Где в цепочке находится продукт? Где возможности для дифференциации?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ChainCard0"/>
          <p:cNvSpPr/>
          <p:nvPr/>
        </p:nvSpPr>
        <p:spPr>
          <a:xfrm>
            <a:off x="466200" y="1874520"/>
            <a:ext cx="1554120" cy="1325520"/>
          </a:xfrm>
          <a:prstGeom prst="rect">
            <a:avLst/>
          </a:prstGeom>
          <a:solidFill>
            <a:srgbClr val="6b7f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109800" bIns="10980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1100" spc="-1" strike="noStrike">
                <a:solidFill>
                  <a:srgbClr val="ffffff"/>
                </a:solidFill>
                <a:latin typeface="Arial"/>
              </a:rPr>
              <a:t>[Звено 1]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ru-RU" sz="800" spc="-1" strike="noStrike">
                <a:solidFill>
                  <a:srgbClr val="ffffff"/>
                </a:solidFill>
                <a:latin typeface="Arial"/>
              </a:rPr>
              <a:t>[Игроки / кто]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ChainMargin0"/>
          <p:cNvSpPr/>
          <p:nvPr/>
        </p:nvSpPr>
        <p:spPr>
          <a:xfrm>
            <a:off x="466200" y="3200400"/>
            <a:ext cx="1554120" cy="319680"/>
          </a:xfrm>
          <a:prstGeom prst="rect">
            <a:avLst/>
          </a:prstGeom>
          <a:solidFill>
            <a:srgbClr val="e8ea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6720" bIns="3672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900" spc="-1" strike="noStrike">
                <a:solidFill>
                  <a:srgbClr val="0f1020"/>
                </a:solidFill>
                <a:latin typeface="Arial"/>
              </a:rPr>
              <a:t>Маржа: [X%]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Arrow0"/>
          <p:cNvSpPr/>
          <p:nvPr/>
        </p:nvSpPr>
        <p:spPr>
          <a:xfrm>
            <a:off x="2025360" y="2423160"/>
            <a:ext cx="100080" cy="548280"/>
          </a:xfrm>
          <a:prstGeom prst="rect">
            <a:avLst/>
          </a:prstGeom>
          <a:solidFill>
            <a:srgbClr val="0f10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1800" spc="-1" strike="noStrike">
                <a:solidFill>
                  <a:srgbClr val="94a3f6"/>
                </a:solidFill>
                <a:latin typeface="Arial"/>
              </a:rPr>
              <a:t>→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ChainCard1"/>
          <p:cNvSpPr/>
          <p:nvPr/>
        </p:nvSpPr>
        <p:spPr>
          <a:xfrm>
            <a:off x="2130480" y="1874520"/>
            <a:ext cx="1554120" cy="1325520"/>
          </a:xfrm>
          <a:prstGeom prst="rect">
            <a:avLst/>
          </a:prstGeom>
          <a:solidFill>
            <a:srgbClr val="6b7f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109800" bIns="10980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1100" spc="-1" strike="noStrike">
                <a:solidFill>
                  <a:srgbClr val="ffffff"/>
                </a:solidFill>
                <a:latin typeface="Arial"/>
              </a:rPr>
              <a:t>[Звено 2]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ru-RU" sz="800" spc="-1" strike="noStrike">
                <a:solidFill>
                  <a:srgbClr val="ffffff"/>
                </a:solidFill>
                <a:latin typeface="Arial"/>
              </a:rPr>
              <a:t>[Игроки / кто]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ChainMargin1"/>
          <p:cNvSpPr/>
          <p:nvPr/>
        </p:nvSpPr>
        <p:spPr>
          <a:xfrm>
            <a:off x="2130480" y="3200400"/>
            <a:ext cx="1554120" cy="319680"/>
          </a:xfrm>
          <a:prstGeom prst="rect">
            <a:avLst/>
          </a:prstGeom>
          <a:solidFill>
            <a:srgbClr val="e8ea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6720" bIns="3672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900" spc="-1" strike="noStrike">
                <a:solidFill>
                  <a:srgbClr val="0f1020"/>
                </a:solidFill>
                <a:latin typeface="Arial"/>
              </a:rPr>
              <a:t>Маржа: [X%]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Arrow1"/>
          <p:cNvSpPr/>
          <p:nvPr/>
        </p:nvSpPr>
        <p:spPr>
          <a:xfrm>
            <a:off x="3689640" y="2423160"/>
            <a:ext cx="100080" cy="548280"/>
          </a:xfrm>
          <a:prstGeom prst="rect">
            <a:avLst/>
          </a:prstGeom>
          <a:solidFill>
            <a:srgbClr val="0f10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1800" spc="-1" strike="noStrike">
                <a:solidFill>
                  <a:srgbClr val="94a3f6"/>
                </a:solidFill>
                <a:latin typeface="Arial"/>
              </a:rPr>
              <a:t>→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ChainCard2"/>
          <p:cNvSpPr/>
          <p:nvPr/>
        </p:nvSpPr>
        <p:spPr>
          <a:xfrm>
            <a:off x="3794760" y="1874520"/>
            <a:ext cx="1554120" cy="1325520"/>
          </a:xfrm>
          <a:prstGeom prst="rect">
            <a:avLst/>
          </a:prstGeom>
          <a:solidFill>
            <a:srgbClr val="4a5e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109800" bIns="10980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1100" spc="-1" strike="noStrike">
                <a:solidFill>
                  <a:srgbClr val="ffffff"/>
                </a:solidFill>
                <a:latin typeface="Arial"/>
              </a:rPr>
              <a:t>[Звено 3]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ru-RU" sz="800" spc="-1" strike="noStrike">
                <a:solidFill>
                  <a:srgbClr val="ffffff"/>
                </a:solidFill>
                <a:latin typeface="Arial"/>
              </a:rPr>
              <a:t>[Игроки / кто]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ChainMargin2"/>
          <p:cNvSpPr/>
          <p:nvPr/>
        </p:nvSpPr>
        <p:spPr>
          <a:xfrm>
            <a:off x="3794760" y="3200400"/>
            <a:ext cx="1554120" cy="319680"/>
          </a:xfrm>
          <a:prstGeom prst="rect">
            <a:avLst/>
          </a:prstGeom>
          <a:solidFill>
            <a:srgbClr val="e8ea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6720" bIns="3672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900" spc="-1" strike="noStrike">
                <a:solidFill>
                  <a:srgbClr val="0f1020"/>
                </a:solidFill>
                <a:latin typeface="Arial"/>
              </a:rPr>
              <a:t>Маржа: [X%]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Arrow2"/>
          <p:cNvSpPr/>
          <p:nvPr/>
        </p:nvSpPr>
        <p:spPr>
          <a:xfrm>
            <a:off x="5353920" y="2423160"/>
            <a:ext cx="100080" cy="548280"/>
          </a:xfrm>
          <a:prstGeom prst="rect">
            <a:avLst/>
          </a:prstGeom>
          <a:solidFill>
            <a:srgbClr val="0f10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1800" spc="-1" strike="noStrike">
                <a:solidFill>
                  <a:srgbClr val="94a3f6"/>
                </a:solidFill>
                <a:latin typeface="Arial"/>
              </a:rPr>
              <a:t>→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ChainCard3"/>
          <p:cNvSpPr/>
          <p:nvPr/>
        </p:nvSpPr>
        <p:spPr>
          <a:xfrm>
            <a:off x="5459040" y="1874520"/>
            <a:ext cx="1554120" cy="1325520"/>
          </a:xfrm>
          <a:prstGeom prst="rect">
            <a:avLst/>
          </a:prstGeom>
          <a:solidFill>
            <a:srgbClr val="e5737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109800" bIns="10980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1100" spc="-1" strike="noStrike">
                <a:solidFill>
                  <a:srgbClr val="ffffff"/>
                </a:solidFill>
                <a:latin typeface="Arial"/>
              </a:rPr>
              <a:t>[Звено 4]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ru-RU" sz="800" spc="-1" strike="noStrike">
                <a:solidFill>
                  <a:srgbClr val="ffffff"/>
                </a:solidFill>
                <a:latin typeface="Arial"/>
              </a:rPr>
              <a:t>[Игроки / кто]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ChainMargin3"/>
          <p:cNvSpPr/>
          <p:nvPr/>
        </p:nvSpPr>
        <p:spPr>
          <a:xfrm>
            <a:off x="5459040" y="3200400"/>
            <a:ext cx="1554120" cy="319680"/>
          </a:xfrm>
          <a:prstGeom prst="rect">
            <a:avLst/>
          </a:prstGeom>
          <a:solidFill>
            <a:srgbClr val="e8ea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6720" bIns="3672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900" spc="-1" strike="noStrike">
                <a:solidFill>
                  <a:srgbClr val="0f1020"/>
                </a:solidFill>
                <a:latin typeface="Arial"/>
              </a:rPr>
              <a:t>Маржа: [X%]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Arrow3"/>
          <p:cNvSpPr/>
          <p:nvPr/>
        </p:nvSpPr>
        <p:spPr>
          <a:xfrm>
            <a:off x="7017840" y="2423160"/>
            <a:ext cx="100080" cy="548280"/>
          </a:xfrm>
          <a:prstGeom prst="rect">
            <a:avLst/>
          </a:prstGeom>
          <a:solidFill>
            <a:srgbClr val="0f10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1800" spc="-1" strike="noStrike">
                <a:solidFill>
                  <a:srgbClr val="94a3f6"/>
                </a:solidFill>
                <a:latin typeface="Arial"/>
              </a:rPr>
              <a:t>→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ChainCard4"/>
          <p:cNvSpPr/>
          <p:nvPr/>
        </p:nvSpPr>
        <p:spPr>
          <a:xfrm>
            <a:off x="7123320" y="1874520"/>
            <a:ext cx="1554120" cy="1325520"/>
          </a:xfrm>
          <a:prstGeom prst="rect">
            <a:avLst/>
          </a:prstGeom>
          <a:solidFill>
            <a:srgbClr val="94a3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109800" bIns="10980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1100" spc="-1" strike="noStrike">
                <a:solidFill>
                  <a:srgbClr val="ffffff"/>
                </a:solidFill>
                <a:latin typeface="Arial"/>
              </a:rPr>
              <a:t>[Звено 5]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ru-RU" sz="800" spc="-1" strike="noStrike">
                <a:solidFill>
                  <a:srgbClr val="ffffff"/>
                </a:solidFill>
                <a:latin typeface="Arial"/>
              </a:rPr>
              <a:t>[ЦП / контекст]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ChainMargin4"/>
          <p:cNvSpPr/>
          <p:nvPr/>
        </p:nvSpPr>
        <p:spPr>
          <a:xfrm>
            <a:off x="7123320" y="3200400"/>
            <a:ext cx="1554120" cy="319680"/>
          </a:xfrm>
          <a:prstGeom prst="rect">
            <a:avLst/>
          </a:prstGeom>
          <a:solidFill>
            <a:srgbClr val="e8ea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6720" bIns="3672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900" spc="-1" strike="noStrike">
                <a:solidFill>
                  <a:srgbClr val="0f1020"/>
                </a:solidFill>
                <a:latin typeface="Arial"/>
              </a:rPr>
              <a:t>Маржа: —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Conclusion"/>
          <p:cNvSpPr/>
          <p:nvPr/>
        </p:nvSpPr>
        <p:spPr>
          <a:xfrm>
            <a:off x="365760" y="3840480"/>
            <a:ext cx="8412120" cy="639720"/>
          </a:xfrm>
          <a:prstGeom prst="rect">
            <a:avLst/>
          </a:prstGeom>
          <a:solidFill>
            <a:srgbClr val="1a1f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</a:pPr>
            <a:r>
              <a:rPr b="1" lang="ru-RU" sz="1100" spc="-1" strike="noStrike">
                <a:solidFill>
                  <a:srgbClr val="94a3f6"/>
                </a:solidFill>
                <a:latin typeface="Arial"/>
              </a:rPr>
              <a:t>Вывод: </a:t>
            </a:r>
            <a:r>
              <a:rPr b="0" lang="ru-RU" sz="1000" spc="-1" strike="noStrike">
                <a:solidFill>
                  <a:srgbClr val="ffffff"/>
                </a:solidFill>
                <a:latin typeface="Arial"/>
              </a:rPr>
              <a:t>[На каком звене создаётся наибольшая ценность? Где возможности для дифференциации?]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000" spc="-1" strike="noStrike">
                <a:solidFill>
                  <a:srgbClr val="ffffff"/>
                </a:solidFill>
                <a:latin typeface="Arial"/>
              </a:rPr>
              <a:t>[Вывод: незакрытое звено / белое пятно для продукта]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Shape 3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6" name="Text 4"/>
          <p:cNvSpPr/>
          <p:nvPr/>
        </p:nvSpPr>
        <p:spPr>
          <a:xfrm>
            <a:off x="365760" y="4937760"/>
            <a:ext cx="64000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Источник: [указать источник]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0"/>
          <p:cNvSpPr/>
          <p:nvPr/>
        </p:nvSpPr>
        <p:spPr>
          <a:xfrm>
            <a:off x="0" y="0"/>
            <a:ext cx="9143280" cy="68508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8" name="Text 1"/>
          <p:cNvSpPr/>
          <p:nvPr/>
        </p:nvSpPr>
        <p:spPr>
          <a:xfrm>
            <a:off x="365760" y="0"/>
            <a:ext cx="7314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Конкурентный ландшафт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2"/>
          <p:cNvSpPr/>
          <p:nvPr/>
        </p:nvSpPr>
        <p:spPr>
          <a:xfrm>
            <a:off x="7132320" y="0"/>
            <a:ext cx="1828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94" strike="noStrike">
                <a:solidFill>
                  <a:srgbClr val="94a3f6"/>
                </a:solidFill>
                <a:latin typeface="Calibri"/>
                <a:ea typeface="Calibri"/>
              </a:rPr>
              <a:t>АНАЛИЗ РЫНКА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Shape 3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1" name="Text 4"/>
          <p:cNvSpPr/>
          <p:nvPr/>
        </p:nvSpPr>
        <p:spPr>
          <a:xfrm>
            <a:off x="365760" y="4937760"/>
            <a:ext cx="64000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Источник: Сайты конкурентов, VC.ru, отзывы Ozon/Wildberries; PD WD 2026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Shape 5"/>
          <p:cNvSpPr/>
          <p:nvPr/>
        </p:nvSpPr>
        <p:spPr>
          <a:xfrm>
            <a:off x="365760" y="868680"/>
            <a:ext cx="4205520" cy="169092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3" name="Shape 6"/>
          <p:cNvSpPr/>
          <p:nvPr/>
        </p:nvSpPr>
        <p:spPr>
          <a:xfrm>
            <a:off x="365760" y="868680"/>
            <a:ext cx="4205520" cy="54000"/>
          </a:xfrm>
          <a:prstGeom prst="rect">
            <a:avLst/>
          </a:prstGeom>
          <a:solidFill>
            <a:srgbClr val="94a3f6"/>
          </a:solidFill>
          <a:ln w="12700">
            <a:solidFill>
              <a:srgbClr val="94a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4" name="Text 7"/>
          <p:cNvSpPr/>
          <p:nvPr/>
        </p:nvSpPr>
        <p:spPr>
          <a:xfrm>
            <a:off x="502920" y="960120"/>
            <a:ext cx="3931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Прямые конкуренты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 8"/>
          <p:cNvSpPr/>
          <p:nvPr/>
        </p:nvSpPr>
        <p:spPr>
          <a:xfrm>
            <a:off x="475560" y="1325880"/>
            <a:ext cx="3985920" cy="11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IQ Diamonds · Bright Spark · EcoDiam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Shape 9"/>
          <p:cNvSpPr/>
          <p:nvPr/>
        </p:nvSpPr>
        <p:spPr>
          <a:xfrm>
            <a:off x="4754880" y="868680"/>
            <a:ext cx="4205520" cy="169092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7" name="Shape 10"/>
          <p:cNvSpPr/>
          <p:nvPr/>
        </p:nvSpPr>
        <p:spPr>
          <a:xfrm>
            <a:off x="4754880" y="868680"/>
            <a:ext cx="4205520" cy="54000"/>
          </a:xfrm>
          <a:prstGeom prst="rect">
            <a:avLst/>
          </a:prstGeom>
          <a:solidFill>
            <a:srgbClr val="457e4a"/>
          </a:solidFill>
          <a:ln w="12700">
            <a:solidFill>
              <a:srgbClr val="457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8" name="Text 11"/>
          <p:cNvSpPr/>
          <p:nvPr/>
        </p:nvSpPr>
        <p:spPr>
          <a:xfrm>
            <a:off x="4892040" y="960120"/>
            <a:ext cx="3931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Косвенные конкуренты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12"/>
          <p:cNvSpPr/>
          <p:nvPr/>
        </p:nvSpPr>
        <p:spPr>
          <a:xfrm>
            <a:off x="4864680" y="1325880"/>
            <a:ext cx="3985920" cy="11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Sunlight Cold Diamonds · Gems Hunter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Shape 13"/>
          <p:cNvSpPr/>
          <p:nvPr/>
        </p:nvSpPr>
        <p:spPr>
          <a:xfrm>
            <a:off x="365760" y="2743200"/>
            <a:ext cx="4205520" cy="169092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1" name="Shape 14"/>
          <p:cNvSpPr/>
          <p:nvPr/>
        </p:nvSpPr>
        <p:spPr>
          <a:xfrm>
            <a:off x="365760" y="2743200"/>
            <a:ext cx="4205520" cy="54000"/>
          </a:xfrm>
          <a:prstGeom prst="rect">
            <a:avLst/>
          </a:prstGeom>
          <a:solidFill>
            <a:srgbClr val="f5939e"/>
          </a:solidFill>
          <a:ln w="12700">
            <a:solidFill>
              <a:srgbClr val="f593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2" name="Text 15"/>
          <p:cNvSpPr/>
          <p:nvPr/>
        </p:nvSpPr>
        <p:spPr>
          <a:xfrm>
            <a:off x="502920" y="2834640"/>
            <a:ext cx="3931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Вытеснители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16"/>
          <p:cNvSpPr/>
          <p:nvPr/>
        </p:nvSpPr>
        <p:spPr>
          <a:xfrm>
            <a:off x="475560" y="3200400"/>
            <a:ext cx="3985920" cy="11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SOKOLOV (натуральные бриллианты) · Серебро и бижутерия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Shape 17"/>
          <p:cNvSpPr/>
          <p:nvPr/>
        </p:nvSpPr>
        <p:spPr>
          <a:xfrm>
            <a:off x="4754880" y="2743200"/>
            <a:ext cx="4205520" cy="169092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5" name="Shape 18"/>
          <p:cNvSpPr/>
          <p:nvPr/>
        </p:nvSpPr>
        <p:spPr>
          <a:xfrm>
            <a:off x="4754880" y="2743200"/>
            <a:ext cx="4205520" cy="54000"/>
          </a:xfrm>
          <a:prstGeom prst="rect">
            <a:avLst/>
          </a:prstGeom>
          <a:solidFill>
            <a:srgbClr val="94a3f6"/>
          </a:solidFill>
          <a:ln w="12700">
            <a:solidFill>
              <a:srgbClr val="94a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6" name="Text 19"/>
          <p:cNvSpPr/>
          <p:nvPr/>
        </p:nvSpPr>
        <p:spPr>
          <a:xfrm>
            <a:off x="4892040" y="2834640"/>
            <a:ext cx="3931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Конкуренты по каналам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20"/>
          <p:cNvSpPr/>
          <p:nvPr/>
        </p:nvSpPr>
        <p:spPr>
          <a:xfrm>
            <a:off x="4864680" y="3200400"/>
            <a:ext cx="3985920" cy="11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Sunlight — 1 500+ магазинов РФ, все маркетплейсы, ~30% рынка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Box 1"/>
          <p:cNvSpPr/>
          <p:nvPr/>
        </p:nvSpPr>
        <p:spPr>
          <a:xfrm>
            <a:off x="365760" y="228600"/>
            <a:ext cx="84117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400" spc="-1" strike="noStrike">
                <a:solidFill>
                  <a:srgbClr val="1f3864"/>
                </a:solidFill>
                <a:latin typeface="Arial"/>
              </a:rPr>
              <a:t>Сравнение конкурентов: финансы и продукт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Box 2"/>
          <p:cNvSpPr/>
          <p:nvPr/>
        </p:nvSpPr>
        <p:spPr>
          <a:xfrm>
            <a:off x="365760" y="777240"/>
            <a:ext cx="841176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i="1" lang="en-US" sz="1100" spc="-1" strike="noStrike">
                <a:solidFill>
                  <a:srgbClr val="595959"/>
                </a:solidFill>
                <a:latin typeface="Arial"/>
              </a:rPr>
              <a:t>Финансовые и продуктовые параметры основных игроков. Цифры — оценка по открытым источникам, указывай уровень достоверности.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40" name="Table 3"/>
          <p:cNvGraphicFramePr/>
          <p:nvPr/>
        </p:nvGraphicFramePr>
        <p:xfrm>
          <a:off x="365760" y="1280160"/>
          <a:ext cx="8411040" cy="3473280"/>
        </p:xfrm>
        <a:graphic>
          <a:graphicData uri="http://schemas.openxmlformats.org/drawingml/2006/table">
            <a:tbl>
              <a:tblPr/>
              <a:tblGrid>
                <a:gridCol w="1364040"/>
                <a:gridCol w="1023120"/>
                <a:gridCol w="1136520"/>
                <a:gridCol w="1023120"/>
                <a:gridCol w="1023120"/>
                <a:gridCol w="1704960"/>
                <a:gridCol w="1136520"/>
              </a:tblGrid>
              <a:tr h="57888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Конкурент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Рынок / гео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Цена / подписка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Клиенты (оценка)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Выручка (оценка)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Ключевые фичи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Слабость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</a:tr>
              <a:tr h="578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Arial"/>
                        </a:rPr>
                        <a:t>IQ Diamonds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Arial"/>
                        </a:rPr>
                        <a:t>СПб, онлайн РФ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Arial"/>
                        </a:rPr>
                        <a:t>20K–200K ₽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Arial"/>
                        </a:rPr>
                        <a:t>~3 000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Arial"/>
                        </a:rPr>
                        <a:t>~200M ₽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Arial"/>
                        </a:rPr>
                        <a:t>Полная коллекция CVD, шоурум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Arial"/>
                        </a:rPr>
                        <a:t>Нет камней &gt; 3ct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</a:tr>
              <a:tr h="578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Arial"/>
                        </a:rPr>
                        <a:t>Bright Spark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Arial"/>
                        </a:rPr>
                        <a:t>МСК, СПб, онлайн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Arial"/>
                        </a:rPr>
                        <a:t>50K–300K ₽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Arial"/>
                        </a:rPr>
                        <a:t>~500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Arial"/>
                        </a:rPr>
                        <a:t>~50M ₽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Arial"/>
                        </a:rPr>
                        <a:t>Авторский кастом, шоурумы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Arial"/>
                        </a:rPr>
                        <a:t>Кастом 2–4 нед.; нет готовых 6ct+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</a:tr>
              <a:tr h="578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Arial"/>
                        </a:rPr>
                        <a:t>EcoDiam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Arial"/>
                        </a:rPr>
                        <a:t>Онлайн РФ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Arial"/>
                        </a:rPr>
                        <a:t>10K–150K ₽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Arial"/>
                        </a:rPr>
                        <a:t>~1 000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Arial"/>
                        </a:rPr>
                        <a:t>~30M ₽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Arial"/>
                        </a:rPr>
                        <a:t>Широкий выбор камней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Arial"/>
                        </a:rPr>
                        <a:t>Фокус на камни, не ювелирка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</a:tr>
              <a:tr h="578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Arial"/>
                        </a:rPr>
                        <a:t>Sunlight Cold Diamonds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Arial"/>
                        </a:rPr>
                        <a:t>Вся РФ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Arial"/>
                        </a:rPr>
                        <a:t>15K–80K ₽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Arial"/>
                        </a:rPr>
                        <a:t>~50 000+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Arial"/>
                        </a:rPr>
                        <a:t>~5B ₽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Arial"/>
                        </a:rPr>
                        <a:t>Дистрибуция 1 500+ магазинов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Arial"/>
                        </a:rPr>
                        <a:t>Мелкие камни; масс-сегмент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</a:tr>
              <a:tr h="578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Arial"/>
                        </a:rPr>
                        <a:t>Wonder Diamond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Arial"/>
                        </a:rPr>
                        <a:t>Онлайн РФ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Arial"/>
                        </a:rPr>
                        <a:t>150K–350K ₽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Arial"/>
                        </a:rPr>
                        <a:t>0 (MVP)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Arial"/>
                        </a:rPr>
                        <a:t>0 (старт)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Arial"/>
                        </a:rPr>
                        <a:t>CVD 6ct+ от производителя, IGI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Arial"/>
                        </a:rPr>
                        <a:t>Нет клиентов, нет шоурума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</a:tr>
            </a:tbl>
          </a:graphicData>
        </a:graphic>
      </p:graphicFrame>
      <p:sp>
        <p:nvSpPr>
          <p:cNvPr id="141" name="TextBox 4"/>
          <p:cNvSpPr/>
          <p:nvPr/>
        </p:nvSpPr>
        <p:spPr>
          <a:xfrm>
            <a:off x="2743200" y="4846320"/>
            <a:ext cx="36568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i="1" lang="en-US" sz="800" spc="-1" strike="noStrike">
                <a:solidFill>
                  <a:srgbClr val="808080"/>
                </a:solidFill>
                <a:latin typeface="Arial"/>
              </a:rPr>
              <a:t>Источники: G2, Crunchbase, SimilarWeb, отчёты компаний (задача 3, 4)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0"/>
          <p:cNvSpPr/>
          <p:nvPr/>
        </p:nvSpPr>
        <p:spPr>
          <a:xfrm>
            <a:off x="0" y="0"/>
            <a:ext cx="9143280" cy="68508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3" name="Text 1"/>
          <p:cNvSpPr/>
          <p:nvPr/>
        </p:nvSpPr>
        <p:spPr>
          <a:xfrm>
            <a:off x="365760" y="0"/>
            <a:ext cx="7314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Ключевой конкурент: IQ Diamonds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2"/>
          <p:cNvSpPr/>
          <p:nvPr/>
        </p:nvSpPr>
        <p:spPr>
          <a:xfrm>
            <a:off x="7132320" y="0"/>
            <a:ext cx="1828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94" strike="noStrike">
                <a:solidFill>
                  <a:srgbClr val="94a3f6"/>
                </a:solidFill>
                <a:latin typeface="Calibri"/>
                <a:ea typeface="Calibri"/>
              </a:rPr>
              <a:t>АНАЛИЗ РЫНКА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hape 3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6" name="Text 4"/>
          <p:cNvSpPr/>
          <p:nvPr/>
        </p:nvSpPr>
        <p:spPr>
          <a:xfrm>
            <a:off x="365760" y="4937760"/>
            <a:ext cx="64000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Источник: iqdiamonds.ru, отзывы ВК/Telegram; аналитика WD 2026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5"/>
          <p:cNvSpPr/>
          <p:nvPr/>
        </p:nvSpPr>
        <p:spPr>
          <a:xfrm>
            <a:off x="365760" y="777240"/>
            <a:ext cx="84117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94" strike="noStrike">
                <a:solidFill>
                  <a:srgbClr val="64748b"/>
                </a:solidFill>
                <a:latin typeface="Calibri"/>
                <a:ea typeface="Calibri"/>
              </a:rPr>
              <a:t>АНАЛИЗ ПО ВОРОНКЕ AARRR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hape 6"/>
          <p:cNvSpPr/>
          <p:nvPr/>
        </p:nvSpPr>
        <p:spPr>
          <a:xfrm>
            <a:off x="365760" y="1097280"/>
            <a:ext cx="1096560" cy="584640"/>
          </a:xfrm>
          <a:prstGeom prst="rect">
            <a:avLst/>
          </a:prstGeom>
          <a:solidFill>
            <a:srgbClr val="94a3f6"/>
          </a:solidFill>
          <a:ln w="12700">
            <a:solidFill>
              <a:srgbClr val="94a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9" name="Text 7"/>
          <p:cNvSpPr/>
          <p:nvPr/>
        </p:nvSpPr>
        <p:spPr>
          <a:xfrm>
            <a:off x="365760" y="1097280"/>
            <a:ext cx="109656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Acquisition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8"/>
          <p:cNvSpPr/>
          <p:nvPr/>
        </p:nvSpPr>
        <p:spPr>
          <a:xfrm>
            <a:off x="1600200" y="1207080"/>
            <a:ext cx="7177320" cy="40176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1" name="Text 9"/>
          <p:cNvSpPr/>
          <p:nvPr/>
        </p:nvSpPr>
        <p:spPr>
          <a:xfrm>
            <a:off x="1737360" y="1207080"/>
            <a:ext cx="699444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Acquisition: SEO «лабораторные бриллианты» (~40%), Instagram/ВК (~25%), прямой трафик (~20%), Telegram (~10%), сарафан (~5%). Оценочный CPC: 80–150 ₽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Shape 10"/>
          <p:cNvSpPr/>
          <p:nvPr/>
        </p:nvSpPr>
        <p:spPr>
          <a:xfrm>
            <a:off x="365760" y="1819800"/>
            <a:ext cx="1096560" cy="584640"/>
          </a:xfrm>
          <a:prstGeom prst="rect">
            <a:avLst/>
          </a:prstGeom>
          <a:solidFill>
            <a:srgbClr val="457e4a"/>
          </a:solidFill>
          <a:ln w="12700">
            <a:solidFill>
              <a:srgbClr val="457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3" name="Text 11"/>
          <p:cNvSpPr/>
          <p:nvPr/>
        </p:nvSpPr>
        <p:spPr>
          <a:xfrm>
            <a:off x="365760" y="1819800"/>
            <a:ext cx="109656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Activation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12"/>
          <p:cNvSpPr/>
          <p:nvPr/>
        </p:nvSpPr>
        <p:spPr>
          <a:xfrm>
            <a:off x="1600200" y="1929240"/>
            <a:ext cx="7177320" cy="40176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5" name="Text 13"/>
          <p:cNvSpPr/>
          <p:nvPr/>
        </p:nvSpPr>
        <p:spPr>
          <a:xfrm>
            <a:off x="1737360" y="1929240"/>
            <a:ext cx="699444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Activation: самостоятельный онлайн-каталог с фильтрами (4C, размер, цена). Aha-moment: момент сравнения CVD с натуральным аналогом. Время до first value: ~5 минут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Shape 14"/>
          <p:cNvSpPr/>
          <p:nvPr/>
        </p:nvSpPr>
        <p:spPr>
          <a:xfrm>
            <a:off x="365760" y="2541960"/>
            <a:ext cx="1096560" cy="584640"/>
          </a:xfrm>
          <a:prstGeom prst="rect">
            <a:avLst/>
          </a:prstGeom>
          <a:solidFill>
            <a:srgbClr val="94a3f6"/>
          </a:solidFill>
          <a:ln w="12700">
            <a:solidFill>
              <a:srgbClr val="94a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7" name="Text 15"/>
          <p:cNvSpPr/>
          <p:nvPr/>
        </p:nvSpPr>
        <p:spPr>
          <a:xfrm>
            <a:off x="365760" y="2541960"/>
            <a:ext cx="109656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Retention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Shape 16"/>
          <p:cNvSpPr/>
          <p:nvPr/>
        </p:nvSpPr>
        <p:spPr>
          <a:xfrm>
            <a:off x="1600200" y="2651760"/>
            <a:ext cx="7177320" cy="40176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9" name="Text 17"/>
          <p:cNvSpPr/>
          <p:nvPr/>
        </p:nvSpPr>
        <p:spPr>
          <a:xfrm>
            <a:off x="1737360" y="2651760"/>
            <a:ext cx="699444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Retention: нет публичной loyalty-программы. Повторная покупка через контент (посты, истории клиентов). Оценочный repeat rate: ~10% за 12 мес.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Shape 18"/>
          <p:cNvSpPr/>
          <p:nvPr/>
        </p:nvSpPr>
        <p:spPr>
          <a:xfrm>
            <a:off x="365760" y="3264480"/>
            <a:ext cx="1096560" cy="584640"/>
          </a:xfrm>
          <a:prstGeom prst="rect">
            <a:avLst/>
          </a:prstGeom>
          <a:solidFill>
            <a:srgbClr val="457e4a"/>
          </a:solidFill>
          <a:ln w="12700">
            <a:solidFill>
              <a:srgbClr val="457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1" name="Text 19"/>
          <p:cNvSpPr/>
          <p:nvPr/>
        </p:nvSpPr>
        <p:spPr>
          <a:xfrm>
            <a:off x="365760" y="3264480"/>
            <a:ext cx="109656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Revenue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Shape 20"/>
          <p:cNvSpPr/>
          <p:nvPr/>
        </p:nvSpPr>
        <p:spPr>
          <a:xfrm>
            <a:off x="1600200" y="3374280"/>
            <a:ext cx="7177320" cy="40176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3" name="Text 21"/>
          <p:cNvSpPr/>
          <p:nvPr/>
        </p:nvSpPr>
        <p:spPr>
          <a:xfrm>
            <a:off x="1737360" y="3374280"/>
            <a:ext cx="699444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Revenue: разовые продажи украшений 20K–200K ₽. Средний чек: ~60K ₽. Оценочная выручка: ~200 млн ₽/год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Shape 22"/>
          <p:cNvSpPr/>
          <p:nvPr/>
        </p:nvSpPr>
        <p:spPr>
          <a:xfrm>
            <a:off x="365760" y="3986640"/>
            <a:ext cx="1096560" cy="584640"/>
          </a:xfrm>
          <a:prstGeom prst="rect">
            <a:avLst/>
          </a:prstGeom>
          <a:solidFill>
            <a:srgbClr val="f5939e"/>
          </a:solidFill>
          <a:ln w="12700">
            <a:solidFill>
              <a:srgbClr val="f593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5" name="Text 23"/>
          <p:cNvSpPr/>
          <p:nvPr/>
        </p:nvSpPr>
        <p:spPr>
          <a:xfrm>
            <a:off x="365760" y="3986640"/>
            <a:ext cx="109656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Referral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24"/>
          <p:cNvSpPr/>
          <p:nvPr/>
        </p:nvSpPr>
        <p:spPr>
          <a:xfrm>
            <a:off x="1600200" y="4096440"/>
            <a:ext cx="7177320" cy="40176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7" name="Text 25"/>
          <p:cNvSpPr/>
          <p:nvPr/>
        </p:nvSpPr>
        <p:spPr>
          <a:xfrm>
            <a:off x="1737360" y="4096440"/>
            <a:ext cx="699444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Referral: отзывы на сайте/Wildberries. Нет публичной реферальной программы. NPS не раскрывается. Слабость: нет камней &gt;3ct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0"/>
          <p:cNvSpPr/>
          <p:nvPr/>
        </p:nvSpPr>
        <p:spPr>
          <a:xfrm>
            <a:off x="0" y="0"/>
            <a:ext cx="9143280" cy="68508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9" name="Text 1"/>
          <p:cNvSpPr/>
          <p:nvPr/>
        </p:nvSpPr>
        <p:spPr>
          <a:xfrm>
            <a:off x="365760" y="0"/>
            <a:ext cx="7314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PESTEL-анализ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2"/>
          <p:cNvSpPr/>
          <p:nvPr/>
        </p:nvSpPr>
        <p:spPr>
          <a:xfrm>
            <a:off x="7132320" y="0"/>
            <a:ext cx="1828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94" strike="noStrike">
                <a:solidFill>
                  <a:srgbClr val="94a3f6"/>
                </a:solidFill>
                <a:latin typeface="Calibri"/>
                <a:ea typeface="Calibri"/>
              </a:rPr>
              <a:t>АНАЛИЗ РЫНКА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Shape 3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2" name="Text 4"/>
          <p:cNvSpPr/>
          <p:nvPr/>
        </p:nvSpPr>
        <p:spPr>
          <a:xfrm>
            <a:off x="365760" y="4937760"/>
            <a:ext cx="64000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Источник: probpalata.gov.ru, Минфин РФ, Ассоциация ювелиров РФ 2025–2026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Shape 5"/>
          <p:cNvSpPr/>
          <p:nvPr/>
        </p:nvSpPr>
        <p:spPr>
          <a:xfrm>
            <a:off x="365760" y="868680"/>
            <a:ext cx="54000" cy="593640"/>
          </a:xfrm>
          <a:prstGeom prst="rect">
            <a:avLst/>
          </a:prstGeom>
          <a:solidFill>
            <a:srgbClr val="94a3f6"/>
          </a:solidFill>
          <a:ln w="12700">
            <a:solidFill>
              <a:srgbClr val="94a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4" name="Text 6"/>
          <p:cNvSpPr/>
          <p:nvPr/>
        </p:nvSpPr>
        <p:spPr>
          <a:xfrm>
            <a:off x="594360" y="887040"/>
            <a:ext cx="18280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P — Political (политические)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 7"/>
          <p:cNvSpPr/>
          <p:nvPr/>
        </p:nvSpPr>
        <p:spPr>
          <a:xfrm>
            <a:off x="594360" y="1161360"/>
            <a:ext cx="82288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POLITICAL: Закон 334-ФЗ (ГИИС ДМДК с 01.03.2026): 3×5=15 ⚠️ Compliance обязателен. Санкции → усложнение импорта: 2×3=6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Shape 8"/>
          <p:cNvSpPr/>
          <p:nvPr/>
        </p:nvSpPr>
        <p:spPr>
          <a:xfrm>
            <a:off x="365760" y="1664280"/>
            <a:ext cx="54000" cy="593640"/>
          </a:xfrm>
          <a:prstGeom prst="rect">
            <a:avLst/>
          </a:prstGeom>
          <a:solidFill>
            <a:srgbClr val="457e4a"/>
          </a:solidFill>
          <a:ln w="12700">
            <a:solidFill>
              <a:srgbClr val="457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7" name="Text 9"/>
          <p:cNvSpPr/>
          <p:nvPr/>
        </p:nvSpPr>
        <p:spPr>
          <a:xfrm>
            <a:off x="594360" y="1682640"/>
            <a:ext cx="18280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E — Economic (экономические)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 10"/>
          <p:cNvSpPr/>
          <p:nvPr/>
        </p:nvSpPr>
        <p:spPr>
          <a:xfrm>
            <a:off x="594360" y="1956960"/>
            <a:ext cx="82288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ECONOMIC: Рост цены золота +45% (2024): 3×4=12 ⚠️ Рост COGS. Высокая ставка ЦБ: 2×4=8. Рост ювелирки +17%: 2×4=8 ✅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Shape 11"/>
          <p:cNvSpPr/>
          <p:nvPr/>
        </p:nvSpPr>
        <p:spPr>
          <a:xfrm>
            <a:off x="365760" y="2459880"/>
            <a:ext cx="54000" cy="593640"/>
          </a:xfrm>
          <a:prstGeom prst="rect">
            <a:avLst/>
          </a:prstGeom>
          <a:solidFill>
            <a:srgbClr val="94a3f6"/>
          </a:solidFill>
          <a:ln w="12700">
            <a:solidFill>
              <a:srgbClr val="94a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0" name="Text 12"/>
          <p:cNvSpPr/>
          <p:nvPr/>
        </p:nvSpPr>
        <p:spPr>
          <a:xfrm>
            <a:off x="594360" y="2477880"/>
            <a:ext cx="18280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S — Social (социальные)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 13"/>
          <p:cNvSpPr/>
          <p:nvPr/>
        </p:nvSpPr>
        <p:spPr>
          <a:xfrm>
            <a:off x="594360" y="2752200"/>
            <a:ext cx="82288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SOCIAL: Премиализация, доля украшений с камнями 45–50%: 3×4=12 ✅ спрос растёт. Стигма «синтетика» у 45+: 3×3=9 ⚠️ ограничивает TAM. ESG-тренд: 2×3=6 ✅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Shape 14"/>
          <p:cNvSpPr/>
          <p:nvPr/>
        </p:nvSpPr>
        <p:spPr>
          <a:xfrm>
            <a:off x="365760" y="3255120"/>
            <a:ext cx="54000" cy="593640"/>
          </a:xfrm>
          <a:prstGeom prst="rect">
            <a:avLst/>
          </a:prstGeom>
          <a:solidFill>
            <a:srgbClr val="457e4a"/>
          </a:solidFill>
          <a:ln w="12700">
            <a:solidFill>
              <a:srgbClr val="457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3" name="Text 15"/>
          <p:cNvSpPr/>
          <p:nvPr/>
        </p:nvSpPr>
        <p:spPr>
          <a:xfrm>
            <a:off x="594360" y="3273480"/>
            <a:ext cx="18280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T — Technological (технологические)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 16"/>
          <p:cNvSpPr/>
          <p:nvPr/>
        </p:nvSpPr>
        <p:spPr>
          <a:xfrm>
            <a:off x="594360" y="3547800"/>
            <a:ext cx="82288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TECHNOLOGICAL: CVD дешевеет, рост маржи: 2×5=10 ✅. AR-примерка как UX-барьер: 1×3=3 ✅ дифференциация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Shape 17"/>
          <p:cNvSpPr/>
          <p:nvPr/>
        </p:nvSpPr>
        <p:spPr>
          <a:xfrm>
            <a:off x="365760" y="4050720"/>
            <a:ext cx="54000" cy="593640"/>
          </a:xfrm>
          <a:prstGeom prst="rect">
            <a:avLst/>
          </a:prstGeom>
          <a:solidFill>
            <a:srgbClr val="f5939e"/>
          </a:solidFill>
          <a:ln w="12700">
            <a:solidFill>
              <a:srgbClr val="f593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6" name="Text 18"/>
          <p:cNvSpPr/>
          <p:nvPr/>
        </p:nvSpPr>
        <p:spPr>
          <a:xfrm>
            <a:off x="594360" y="4069080"/>
            <a:ext cx="18280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E/L — Environmental + Legal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 19"/>
          <p:cNvSpPr/>
          <p:nvPr/>
        </p:nvSpPr>
        <p:spPr>
          <a:xfrm>
            <a:off x="594360" y="4343400"/>
            <a:ext cx="82288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LEGAL: 2D-маркировка с сент. 2025: 2×5=10 ⚠️ операционный риск. ГИИС ДМДК compliance: 3×5=15 — критично проверить до первых продаж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Shape 0"/>
          <p:cNvSpPr/>
          <p:nvPr/>
        </p:nvSpPr>
        <p:spPr>
          <a:xfrm>
            <a:off x="0" y="0"/>
            <a:ext cx="319320" cy="514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9" name="Text 1"/>
          <p:cNvSpPr/>
          <p:nvPr/>
        </p:nvSpPr>
        <p:spPr>
          <a:xfrm>
            <a:off x="548640" y="1737360"/>
            <a:ext cx="8046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395" strike="noStrike">
                <a:solidFill>
                  <a:srgbClr val="0d9488"/>
                </a:solidFill>
                <a:latin typeface="Calibri"/>
                <a:ea typeface="Calibri"/>
              </a:rPr>
              <a:t>РАЗДЕЛ 02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Text 2"/>
          <p:cNvSpPr/>
          <p:nvPr/>
        </p:nvSpPr>
        <p:spPr>
          <a:xfrm>
            <a:off x="548640" y="2148840"/>
            <a:ext cx="80460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ffffff"/>
                </a:solidFill>
                <a:latin typeface="Calibri"/>
                <a:ea typeface="Calibri"/>
              </a:rPr>
              <a:t>Исследование потребителей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Shape 0"/>
          <p:cNvSpPr/>
          <p:nvPr/>
        </p:nvSpPr>
        <p:spPr>
          <a:xfrm>
            <a:off x="0" y="0"/>
            <a:ext cx="9143280" cy="68508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2" name="Text 1"/>
          <p:cNvSpPr/>
          <p:nvPr/>
        </p:nvSpPr>
        <p:spPr>
          <a:xfrm>
            <a:off x="365760" y="0"/>
            <a:ext cx="7314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Jobs-to-be-Done: работы потребителей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 2"/>
          <p:cNvSpPr/>
          <p:nvPr/>
        </p:nvSpPr>
        <p:spPr>
          <a:xfrm>
            <a:off x="7132320" y="0"/>
            <a:ext cx="1828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94" strike="noStrike">
                <a:solidFill>
                  <a:srgbClr val="0d9488"/>
                </a:solidFill>
                <a:latin typeface="Calibri"/>
                <a:ea typeface="Calibri"/>
              </a:rPr>
              <a:t>ИССЛЕДОВАНИЕ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Shape 3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5" name="Text 4"/>
          <p:cNvSpPr/>
          <p:nvPr/>
        </p:nvSpPr>
        <p:spPr>
          <a:xfrm>
            <a:off x="365760" y="4937760"/>
            <a:ext cx="64000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Источник: Jobs-to-be-Done (Ulwick/Christensen); PD WD 2026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 5"/>
          <p:cNvSpPr/>
          <p:nvPr/>
        </p:nvSpPr>
        <p:spPr>
          <a:xfrm>
            <a:off x="365760" y="777240"/>
            <a:ext cx="84117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94" strike="noStrike">
                <a:solidFill>
                  <a:srgbClr val="0d9488"/>
                </a:solidFill>
                <a:latin typeface="Calibri"/>
                <a:ea typeface="Calibri"/>
              </a:rPr>
              <a:t>КАКУЮ «РАБОТУ» НАНИМАЮТ ПОТРЕБИТЕЛИ НАШ ПРОДУКТ ВЫПОЛНЯТЬ?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Shape 6"/>
          <p:cNvSpPr/>
          <p:nvPr/>
        </p:nvSpPr>
        <p:spPr>
          <a:xfrm>
            <a:off x="365760" y="1078920"/>
            <a:ext cx="2651040" cy="100512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8" name="Shape 7"/>
          <p:cNvSpPr/>
          <p:nvPr/>
        </p:nvSpPr>
        <p:spPr>
          <a:xfrm>
            <a:off x="365760" y="1078920"/>
            <a:ext cx="2651040" cy="54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9" name="Text 8"/>
          <p:cNvSpPr/>
          <p:nvPr/>
        </p:nvSpPr>
        <p:spPr>
          <a:xfrm>
            <a:off x="502920" y="1170360"/>
            <a:ext cx="23767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Функциональные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 9"/>
          <p:cNvSpPr/>
          <p:nvPr/>
        </p:nvSpPr>
        <p:spPr>
          <a:xfrm>
            <a:off x="475560" y="1536120"/>
            <a:ext cx="24314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Купить ювелирное украшение с крупным бриллиантом; выбрать из ассортимента подходящее; получить доставку на 200K+ ₽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Shape 10"/>
          <p:cNvSpPr/>
          <p:nvPr/>
        </p:nvSpPr>
        <p:spPr>
          <a:xfrm>
            <a:off x="3200400" y="1078920"/>
            <a:ext cx="2651040" cy="100512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2" name="Shape 11"/>
          <p:cNvSpPr/>
          <p:nvPr/>
        </p:nvSpPr>
        <p:spPr>
          <a:xfrm>
            <a:off x="3200400" y="1078920"/>
            <a:ext cx="2651040" cy="54000"/>
          </a:xfrm>
          <a:prstGeom prst="rect">
            <a:avLst/>
          </a:prstGeom>
          <a:solidFill>
            <a:srgbClr val="94a3f6"/>
          </a:solidFill>
          <a:ln w="12700">
            <a:solidFill>
              <a:srgbClr val="94a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3" name="Text 12"/>
          <p:cNvSpPr/>
          <p:nvPr/>
        </p:nvSpPr>
        <p:spPr>
          <a:xfrm>
            <a:off x="3337560" y="1170360"/>
            <a:ext cx="23767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Эмоциональные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 13"/>
          <p:cNvSpPr/>
          <p:nvPr/>
        </p:nvSpPr>
        <p:spPr>
          <a:xfrm>
            <a:off x="3310200" y="1536120"/>
            <a:ext cx="24314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Уверенность в покупке; гордость за качество; ощущение роскоши без финансового напряжения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Shape 14"/>
          <p:cNvSpPr/>
          <p:nvPr/>
        </p:nvSpPr>
        <p:spPr>
          <a:xfrm>
            <a:off x="6035040" y="1078920"/>
            <a:ext cx="2651040" cy="100512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6" name="Shape 15"/>
          <p:cNvSpPr/>
          <p:nvPr/>
        </p:nvSpPr>
        <p:spPr>
          <a:xfrm>
            <a:off x="6035040" y="1078920"/>
            <a:ext cx="2651040" cy="54000"/>
          </a:xfrm>
          <a:prstGeom prst="rect">
            <a:avLst/>
          </a:prstGeom>
          <a:solidFill>
            <a:srgbClr val="457e4a"/>
          </a:solidFill>
          <a:ln w="12700">
            <a:solidFill>
              <a:srgbClr val="457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7" name="Text 16"/>
          <p:cNvSpPr/>
          <p:nvPr/>
        </p:nvSpPr>
        <p:spPr>
          <a:xfrm>
            <a:off x="6172200" y="1170360"/>
            <a:ext cx="23767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Социальные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 17"/>
          <p:cNvSpPr/>
          <p:nvPr/>
        </p:nvSpPr>
        <p:spPr>
          <a:xfrm>
            <a:off x="6144840" y="1536120"/>
            <a:ext cx="24314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Статусной, успешной; человеком со вкусом; «при деньгах» без показного расточительства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 18"/>
          <p:cNvSpPr/>
          <p:nvPr/>
        </p:nvSpPr>
        <p:spPr>
          <a:xfrm>
            <a:off x="365760" y="2212920"/>
            <a:ext cx="84117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94" strike="noStrike">
                <a:solidFill>
                  <a:srgbClr val="64748b"/>
                </a:solidFill>
                <a:latin typeface="Calibri"/>
                <a:ea typeface="Calibri"/>
              </a:rPr>
              <a:t>ТОП JOB STORIES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Shape 19"/>
          <p:cNvSpPr/>
          <p:nvPr/>
        </p:nvSpPr>
        <p:spPr>
          <a:xfrm>
            <a:off x="365760" y="2514600"/>
            <a:ext cx="8411760" cy="59364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1" name="Shape 20"/>
          <p:cNvSpPr/>
          <p:nvPr/>
        </p:nvSpPr>
        <p:spPr>
          <a:xfrm>
            <a:off x="365760" y="2514600"/>
            <a:ext cx="54000" cy="593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2" name="Text 21"/>
          <p:cNvSpPr/>
          <p:nvPr/>
        </p:nvSpPr>
        <p:spPr>
          <a:xfrm>
            <a:off x="594360" y="2514600"/>
            <a:ext cx="804600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Когда я хочу украшение с крупным бриллиантом, я хочу найти доступный вариант 6ct+, чтобы выглядеть статусно без затрат 1–5 млн ₽.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Shape 22"/>
          <p:cNvSpPr/>
          <p:nvPr/>
        </p:nvSpPr>
        <p:spPr>
          <a:xfrm>
            <a:off x="365760" y="3246120"/>
            <a:ext cx="8411760" cy="59364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4" name="Shape 23"/>
          <p:cNvSpPr/>
          <p:nvPr/>
        </p:nvSpPr>
        <p:spPr>
          <a:xfrm>
            <a:off x="365760" y="3246120"/>
            <a:ext cx="54000" cy="593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5" name="Text 24"/>
          <p:cNvSpPr/>
          <p:nvPr/>
        </p:nvSpPr>
        <p:spPr>
          <a:xfrm>
            <a:off x="594360" y="3246120"/>
            <a:ext cx="804600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Когда я выбираю подарок на юбилей, я хочу вложиться в украшение с эффектом, чтобы запомниться без бюджета ювелирного бутика.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Shape 25"/>
          <p:cNvSpPr/>
          <p:nvPr/>
        </p:nvSpPr>
        <p:spPr>
          <a:xfrm>
            <a:off x="365760" y="3977640"/>
            <a:ext cx="8411760" cy="59364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7" name="Shape 26"/>
          <p:cNvSpPr/>
          <p:nvPr/>
        </p:nvSpPr>
        <p:spPr>
          <a:xfrm>
            <a:off x="365760" y="3977640"/>
            <a:ext cx="54000" cy="593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8" name="Text 27"/>
          <p:cNvSpPr/>
          <p:nvPr/>
        </p:nvSpPr>
        <p:spPr>
          <a:xfrm>
            <a:off x="594360" y="3977640"/>
            <a:ext cx="804600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Когда я узнаю про CVD, я хочу убедиться в подлинности через IGI-сертификат, чтобы не выглядеть глупо перед окружением.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0"/>
          <p:cNvSpPr/>
          <p:nvPr/>
        </p:nvSpPr>
        <p:spPr>
          <a:xfrm>
            <a:off x="0" y="0"/>
            <a:ext cx="9143280" cy="68508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0" name="Text 1"/>
          <p:cNvSpPr/>
          <p:nvPr/>
        </p:nvSpPr>
        <p:spPr>
          <a:xfrm>
            <a:off x="365760" y="0"/>
            <a:ext cx="7314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Customer Journey Map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Text 2"/>
          <p:cNvSpPr/>
          <p:nvPr/>
        </p:nvSpPr>
        <p:spPr>
          <a:xfrm>
            <a:off x="7132320" y="0"/>
            <a:ext cx="1828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94" strike="noStrike">
                <a:solidFill>
                  <a:srgbClr val="0d9488"/>
                </a:solidFill>
                <a:latin typeface="Calibri"/>
                <a:ea typeface="Calibri"/>
              </a:rPr>
              <a:t>ИССЛЕДОВАНИЕ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Shape 3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3" name="Text 4"/>
          <p:cNvSpPr/>
          <p:nvPr/>
        </p:nvSpPr>
        <p:spPr>
          <a:xfrm>
            <a:off x="365760" y="4937760"/>
            <a:ext cx="64000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Источник: [указать источник]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 5"/>
          <p:cNvSpPr/>
          <p:nvPr/>
        </p:nvSpPr>
        <p:spPr>
          <a:xfrm>
            <a:off x="365760" y="777240"/>
            <a:ext cx="84117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94" strike="noStrike">
                <a:solidFill>
                  <a:srgbClr val="0d9488"/>
                </a:solidFill>
                <a:latin typeface="Calibri"/>
                <a:ea typeface="Calibri"/>
              </a:rPr>
              <a:t>ПУТЬ ПОТРЕБИТЕЛЯ ОТ ОСОЗНАНИЯ ПРОБЛЕМЫ ДО ЛОЯЛЬНОСТИ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Shape 6"/>
          <p:cNvSpPr/>
          <p:nvPr/>
        </p:nvSpPr>
        <p:spPr>
          <a:xfrm>
            <a:off x="1188720" y="1078920"/>
            <a:ext cx="1051200" cy="34668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6" name="Text 7"/>
          <p:cNvSpPr/>
          <p:nvPr/>
        </p:nvSpPr>
        <p:spPr>
          <a:xfrm>
            <a:off x="1188720" y="1078920"/>
            <a:ext cx="10512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Осознание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Shape 8"/>
          <p:cNvSpPr/>
          <p:nvPr/>
        </p:nvSpPr>
        <p:spPr>
          <a:xfrm>
            <a:off x="2277000" y="1078920"/>
            <a:ext cx="1051200" cy="34668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8" name="Text 9"/>
          <p:cNvSpPr/>
          <p:nvPr/>
        </p:nvSpPr>
        <p:spPr>
          <a:xfrm>
            <a:off x="2277000" y="1078920"/>
            <a:ext cx="10512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Поиск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Shape 10"/>
          <p:cNvSpPr/>
          <p:nvPr/>
        </p:nvSpPr>
        <p:spPr>
          <a:xfrm>
            <a:off x="3355920" y="1078920"/>
            <a:ext cx="1051200" cy="34668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0" name="Text 11"/>
          <p:cNvSpPr/>
          <p:nvPr/>
        </p:nvSpPr>
        <p:spPr>
          <a:xfrm>
            <a:off x="3355920" y="1078920"/>
            <a:ext cx="10512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Оценка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Shape 12"/>
          <p:cNvSpPr/>
          <p:nvPr/>
        </p:nvSpPr>
        <p:spPr>
          <a:xfrm>
            <a:off x="4443840" y="1078920"/>
            <a:ext cx="1051200" cy="34668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2" name="Text 13"/>
          <p:cNvSpPr/>
          <p:nvPr/>
        </p:nvSpPr>
        <p:spPr>
          <a:xfrm>
            <a:off x="4443840" y="1078920"/>
            <a:ext cx="10512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Покупка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Shape 14"/>
          <p:cNvSpPr/>
          <p:nvPr/>
        </p:nvSpPr>
        <p:spPr>
          <a:xfrm>
            <a:off x="5523120" y="1078920"/>
            <a:ext cx="1051200" cy="346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4" name="Text 15"/>
          <p:cNvSpPr/>
          <p:nvPr/>
        </p:nvSpPr>
        <p:spPr>
          <a:xfrm>
            <a:off x="5523120" y="1078920"/>
            <a:ext cx="10512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Онбординг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Shape 16"/>
          <p:cNvSpPr/>
          <p:nvPr/>
        </p:nvSpPr>
        <p:spPr>
          <a:xfrm>
            <a:off x="6611040" y="1078920"/>
            <a:ext cx="1051200" cy="34668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6" name="Text 17"/>
          <p:cNvSpPr/>
          <p:nvPr/>
        </p:nvSpPr>
        <p:spPr>
          <a:xfrm>
            <a:off x="6611040" y="1078920"/>
            <a:ext cx="10512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Использование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Shape 18"/>
          <p:cNvSpPr/>
          <p:nvPr/>
        </p:nvSpPr>
        <p:spPr>
          <a:xfrm>
            <a:off x="7689960" y="1078920"/>
            <a:ext cx="1051200" cy="34668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8" name="Text 19"/>
          <p:cNvSpPr/>
          <p:nvPr/>
        </p:nvSpPr>
        <p:spPr>
          <a:xfrm>
            <a:off x="7689960" y="1078920"/>
            <a:ext cx="10512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Лояльность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Shape 20"/>
          <p:cNvSpPr/>
          <p:nvPr/>
        </p:nvSpPr>
        <p:spPr>
          <a:xfrm>
            <a:off x="365760" y="1481400"/>
            <a:ext cx="822240" cy="74916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0" name="Text 21"/>
          <p:cNvSpPr/>
          <p:nvPr/>
        </p:nvSpPr>
        <p:spPr>
          <a:xfrm>
            <a:off x="365760" y="1481400"/>
            <a:ext cx="82224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Действия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Shape 22"/>
          <p:cNvSpPr/>
          <p:nvPr/>
        </p:nvSpPr>
        <p:spPr>
          <a:xfrm>
            <a:off x="1188720" y="1481400"/>
            <a:ext cx="1046880" cy="749160"/>
          </a:xfrm>
          <a:prstGeom prst="rect">
            <a:avLst/>
          </a:prstGeom>
          <a:solidFill>
            <a:srgbClr val="e8eaf6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2" name="Text 23"/>
          <p:cNvSpPr/>
          <p:nvPr/>
        </p:nvSpPr>
        <p:spPr>
          <a:xfrm>
            <a:off x="1234440" y="1527120"/>
            <a:ext cx="9554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Calibri"/>
                <a:ea typeface="Calibri"/>
              </a:rPr>
              <a:t>[...]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Shape 24"/>
          <p:cNvSpPr/>
          <p:nvPr/>
        </p:nvSpPr>
        <p:spPr>
          <a:xfrm>
            <a:off x="2273040" y="1481400"/>
            <a:ext cx="1046880" cy="749160"/>
          </a:xfrm>
          <a:prstGeom prst="rect">
            <a:avLst/>
          </a:prstGeom>
          <a:solidFill>
            <a:srgbClr val="e8eaf6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4" name="Text 25"/>
          <p:cNvSpPr/>
          <p:nvPr/>
        </p:nvSpPr>
        <p:spPr>
          <a:xfrm>
            <a:off x="2318760" y="1527120"/>
            <a:ext cx="9554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Calibri"/>
                <a:ea typeface="Calibri"/>
              </a:rPr>
              <a:t>[...]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Shape 26"/>
          <p:cNvSpPr/>
          <p:nvPr/>
        </p:nvSpPr>
        <p:spPr>
          <a:xfrm>
            <a:off x="3357000" y="1481400"/>
            <a:ext cx="1046880" cy="749160"/>
          </a:xfrm>
          <a:prstGeom prst="rect">
            <a:avLst/>
          </a:prstGeom>
          <a:solidFill>
            <a:srgbClr val="e8eaf6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6" name="Text 27"/>
          <p:cNvSpPr/>
          <p:nvPr/>
        </p:nvSpPr>
        <p:spPr>
          <a:xfrm>
            <a:off x="3402720" y="1527120"/>
            <a:ext cx="9554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Calibri"/>
                <a:ea typeface="Calibri"/>
              </a:rPr>
              <a:t>[...]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Shape 28"/>
          <p:cNvSpPr/>
          <p:nvPr/>
        </p:nvSpPr>
        <p:spPr>
          <a:xfrm>
            <a:off x="4441320" y="1481400"/>
            <a:ext cx="1046880" cy="749160"/>
          </a:xfrm>
          <a:prstGeom prst="rect">
            <a:avLst/>
          </a:prstGeom>
          <a:solidFill>
            <a:srgbClr val="e8eaf6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8" name="Text 29"/>
          <p:cNvSpPr/>
          <p:nvPr/>
        </p:nvSpPr>
        <p:spPr>
          <a:xfrm>
            <a:off x="4487040" y="1527120"/>
            <a:ext cx="9554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Calibri"/>
                <a:ea typeface="Calibri"/>
              </a:rPr>
              <a:t>[...]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Shape 30"/>
          <p:cNvSpPr/>
          <p:nvPr/>
        </p:nvSpPr>
        <p:spPr>
          <a:xfrm>
            <a:off x="5525640" y="1481400"/>
            <a:ext cx="1046880" cy="749160"/>
          </a:xfrm>
          <a:prstGeom prst="rect">
            <a:avLst/>
          </a:prstGeom>
          <a:solidFill>
            <a:srgbClr val="e8eaf6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0" name="Text 31"/>
          <p:cNvSpPr/>
          <p:nvPr/>
        </p:nvSpPr>
        <p:spPr>
          <a:xfrm>
            <a:off x="5571360" y="1527120"/>
            <a:ext cx="9554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Calibri"/>
                <a:ea typeface="Calibri"/>
              </a:rPr>
              <a:t>[...]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Shape 32"/>
          <p:cNvSpPr/>
          <p:nvPr/>
        </p:nvSpPr>
        <p:spPr>
          <a:xfrm>
            <a:off x="6609960" y="1481400"/>
            <a:ext cx="1046880" cy="749160"/>
          </a:xfrm>
          <a:prstGeom prst="rect">
            <a:avLst/>
          </a:prstGeom>
          <a:solidFill>
            <a:srgbClr val="e8eaf6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2" name="Text 33"/>
          <p:cNvSpPr/>
          <p:nvPr/>
        </p:nvSpPr>
        <p:spPr>
          <a:xfrm>
            <a:off x="6655680" y="1527120"/>
            <a:ext cx="9554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Calibri"/>
                <a:ea typeface="Calibri"/>
              </a:rPr>
              <a:t>[...]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Shape 34"/>
          <p:cNvSpPr/>
          <p:nvPr/>
        </p:nvSpPr>
        <p:spPr>
          <a:xfrm>
            <a:off x="7693920" y="1481400"/>
            <a:ext cx="1046880" cy="749160"/>
          </a:xfrm>
          <a:prstGeom prst="rect">
            <a:avLst/>
          </a:prstGeom>
          <a:solidFill>
            <a:srgbClr val="e8eaf6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4" name="Text 35"/>
          <p:cNvSpPr/>
          <p:nvPr/>
        </p:nvSpPr>
        <p:spPr>
          <a:xfrm>
            <a:off x="7739640" y="1527120"/>
            <a:ext cx="9554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Calibri"/>
                <a:ea typeface="Calibri"/>
              </a:rPr>
              <a:t>[...]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Shape 36"/>
          <p:cNvSpPr/>
          <p:nvPr/>
        </p:nvSpPr>
        <p:spPr>
          <a:xfrm>
            <a:off x="365760" y="2286000"/>
            <a:ext cx="822240" cy="74916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6" name="Text 37"/>
          <p:cNvSpPr/>
          <p:nvPr/>
        </p:nvSpPr>
        <p:spPr>
          <a:xfrm>
            <a:off x="365760" y="2286000"/>
            <a:ext cx="82224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Эмоции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Shape 38"/>
          <p:cNvSpPr/>
          <p:nvPr/>
        </p:nvSpPr>
        <p:spPr>
          <a:xfrm>
            <a:off x="1188720" y="2286000"/>
            <a:ext cx="1046880" cy="749160"/>
          </a:xfrm>
          <a:prstGeom prst="rect">
            <a:avLst/>
          </a:prstGeom>
          <a:solidFill>
            <a:srgbClr val="eef2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8" name="Text 39"/>
          <p:cNvSpPr/>
          <p:nvPr/>
        </p:nvSpPr>
        <p:spPr>
          <a:xfrm>
            <a:off x="1234440" y="2331720"/>
            <a:ext cx="9554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Calibri"/>
                <a:ea typeface="Calibri"/>
              </a:rPr>
              <a:t>[...]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Shape 40"/>
          <p:cNvSpPr/>
          <p:nvPr/>
        </p:nvSpPr>
        <p:spPr>
          <a:xfrm>
            <a:off x="2273040" y="2286000"/>
            <a:ext cx="1046880" cy="749160"/>
          </a:xfrm>
          <a:prstGeom prst="rect">
            <a:avLst/>
          </a:prstGeom>
          <a:solidFill>
            <a:srgbClr val="eef2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0" name="Text 41"/>
          <p:cNvSpPr/>
          <p:nvPr/>
        </p:nvSpPr>
        <p:spPr>
          <a:xfrm>
            <a:off x="2318760" y="2331720"/>
            <a:ext cx="9554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Calibri"/>
                <a:ea typeface="Calibri"/>
              </a:rPr>
              <a:t>[...]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Shape 42"/>
          <p:cNvSpPr/>
          <p:nvPr/>
        </p:nvSpPr>
        <p:spPr>
          <a:xfrm>
            <a:off x="3357000" y="2286000"/>
            <a:ext cx="1046880" cy="749160"/>
          </a:xfrm>
          <a:prstGeom prst="rect">
            <a:avLst/>
          </a:prstGeom>
          <a:solidFill>
            <a:srgbClr val="eef2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2" name="Text 43"/>
          <p:cNvSpPr/>
          <p:nvPr/>
        </p:nvSpPr>
        <p:spPr>
          <a:xfrm>
            <a:off x="3402720" y="2331720"/>
            <a:ext cx="9554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Calibri"/>
                <a:ea typeface="Calibri"/>
              </a:rPr>
              <a:t>[...]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Shape 44"/>
          <p:cNvSpPr/>
          <p:nvPr/>
        </p:nvSpPr>
        <p:spPr>
          <a:xfrm>
            <a:off x="4441320" y="2286000"/>
            <a:ext cx="1046880" cy="749160"/>
          </a:xfrm>
          <a:prstGeom prst="rect">
            <a:avLst/>
          </a:prstGeom>
          <a:solidFill>
            <a:srgbClr val="eef2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4" name="Text 45"/>
          <p:cNvSpPr/>
          <p:nvPr/>
        </p:nvSpPr>
        <p:spPr>
          <a:xfrm>
            <a:off x="4487040" y="2331720"/>
            <a:ext cx="9554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Calibri"/>
                <a:ea typeface="Calibri"/>
              </a:rPr>
              <a:t>[...]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Shape 46"/>
          <p:cNvSpPr/>
          <p:nvPr/>
        </p:nvSpPr>
        <p:spPr>
          <a:xfrm>
            <a:off x="5525640" y="2286000"/>
            <a:ext cx="1046880" cy="749160"/>
          </a:xfrm>
          <a:prstGeom prst="rect">
            <a:avLst/>
          </a:prstGeom>
          <a:solidFill>
            <a:srgbClr val="eef2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6" name="Text 47"/>
          <p:cNvSpPr/>
          <p:nvPr/>
        </p:nvSpPr>
        <p:spPr>
          <a:xfrm>
            <a:off x="5571360" y="2331720"/>
            <a:ext cx="9554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Calibri"/>
                <a:ea typeface="Calibri"/>
              </a:rPr>
              <a:t>[...]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Shape 48"/>
          <p:cNvSpPr/>
          <p:nvPr/>
        </p:nvSpPr>
        <p:spPr>
          <a:xfrm>
            <a:off x="6609960" y="2286000"/>
            <a:ext cx="1046880" cy="749160"/>
          </a:xfrm>
          <a:prstGeom prst="rect">
            <a:avLst/>
          </a:prstGeom>
          <a:solidFill>
            <a:srgbClr val="eef2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8" name="Text 49"/>
          <p:cNvSpPr/>
          <p:nvPr/>
        </p:nvSpPr>
        <p:spPr>
          <a:xfrm>
            <a:off x="6655680" y="2331720"/>
            <a:ext cx="9554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Calibri"/>
                <a:ea typeface="Calibri"/>
              </a:rPr>
              <a:t>[...]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Shape 50"/>
          <p:cNvSpPr/>
          <p:nvPr/>
        </p:nvSpPr>
        <p:spPr>
          <a:xfrm>
            <a:off x="7693920" y="2286000"/>
            <a:ext cx="1046880" cy="749160"/>
          </a:xfrm>
          <a:prstGeom prst="rect">
            <a:avLst/>
          </a:prstGeom>
          <a:solidFill>
            <a:srgbClr val="eef2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0" name="Text 51"/>
          <p:cNvSpPr/>
          <p:nvPr/>
        </p:nvSpPr>
        <p:spPr>
          <a:xfrm>
            <a:off x="7739640" y="2331720"/>
            <a:ext cx="9554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Calibri"/>
                <a:ea typeface="Calibri"/>
              </a:rPr>
              <a:t>[...]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Shape 52"/>
          <p:cNvSpPr/>
          <p:nvPr/>
        </p:nvSpPr>
        <p:spPr>
          <a:xfrm>
            <a:off x="365760" y="3090600"/>
            <a:ext cx="822240" cy="74916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2" name="Text 53"/>
          <p:cNvSpPr/>
          <p:nvPr/>
        </p:nvSpPr>
        <p:spPr>
          <a:xfrm>
            <a:off x="365760" y="3090600"/>
            <a:ext cx="82224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Боли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Shape 54"/>
          <p:cNvSpPr/>
          <p:nvPr/>
        </p:nvSpPr>
        <p:spPr>
          <a:xfrm>
            <a:off x="1188720" y="3090600"/>
            <a:ext cx="1046880" cy="749160"/>
          </a:xfrm>
          <a:prstGeom prst="rect">
            <a:avLst/>
          </a:prstGeom>
          <a:solidFill>
            <a:srgbClr val="fff1f2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4" name="Text 55"/>
          <p:cNvSpPr/>
          <p:nvPr/>
        </p:nvSpPr>
        <p:spPr>
          <a:xfrm>
            <a:off x="1234440" y="3136320"/>
            <a:ext cx="9554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Calibri"/>
                <a:ea typeface="Calibri"/>
              </a:rPr>
              <a:t>[...]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Shape 56"/>
          <p:cNvSpPr/>
          <p:nvPr/>
        </p:nvSpPr>
        <p:spPr>
          <a:xfrm>
            <a:off x="2273040" y="3090600"/>
            <a:ext cx="1046880" cy="749160"/>
          </a:xfrm>
          <a:prstGeom prst="rect">
            <a:avLst/>
          </a:prstGeom>
          <a:solidFill>
            <a:srgbClr val="fff1f2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6" name="Text 57"/>
          <p:cNvSpPr/>
          <p:nvPr/>
        </p:nvSpPr>
        <p:spPr>
          <a:xfrm>
            <a:off x="2318760" y="3136320"/>
            <a:ext cx="9554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Calibri"/>
                <a:ea typeface="Calibri"/>
              </a:rPr>
              <a:t>[...]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Shape 58"/>
          <p:cNvSpPr/>
          <p:nvPr/>
        </p:nvSpPr>
        <p:spPr>
          <a:xfrm>
            <a:off x="3357000" y="3090600"/>
            <a:ext cx="1046880" cy="749160"/>
          </a:xfrm>
          <a:prstGeom prst="rect">
            <a:avLst/>
          </a:prstGeom>
          <a:solidFill>
            <a:srgbClr val="fff1f2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8" name="Text 59"/>
          <p:cNvSpPr/>
          <p:nvPr/>
        </p:nvSpPr>
        <p:spPr>
          <a:xfrm>
            <a:off x="3402720" y="3136320"/>
            <a:ext cx="9554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Calibri"/>
                <a:ea typeface="Calibri"/>
              </a:rPr>
              <a:t>[...]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Shape 60"/>
          <p:cNvSpPr/>
          <p:nvPr/>
        </p:nvSpPr>
        <p:spPr>
          <a:xfrm>
            <a:off x="4441320" y="3090600"/>
            <a:ext cx="1046880" cy="749160"/>
          </a:xfrm>
          <a:prstGeom prst="rect">
            <a:avLst/>
          </a:prstGeom>
          <a:solidFill>
            <a:srgbClr val="fff1f2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0" name="Text 61"/>
          <p:cNvSpPr/>
          <p:nvPr/>
        </p:nvSpPr>
        <p:spPr>
          <a:xfrm>
            <a:off x="4487040" y="3136320"/>
            <a:ext cx="9554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Calibri"/>
                <a:ea typeface="Calibri"/>
              </a:rPr>
              <a:t>[...]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Shape 62"/>
          <p:cNvSpPr/>
          <p:nvPr/>
        </p:nvSpPr>
        <p:spPr>
          <a:xfrm>
            <a:off x="5525640" y="3090600"/>
            <a:ext cx="1046880" cy="749160"/>
          </a:xfrm>
          <a:prstGeom prst="rect">
            <a:avLst/>
          </a:prstGeom>
          <a:solidFill>
            <a:srgbClr val="fff1f2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2" name="Text 63"/>
          <p:cNvSpPr/>
          <p:nvPr/>
        </p:nvSpPr>
        <p:spPr>
          <a:xfrm>
            <a:off x="5571360" y="3136320"/>
            <a:ext cx="9554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Calibri"/>
                <a:ea typeface="Calibri"/>
              </a:rPr>
              <a:t>[...]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Shape 64"/>
          <p:cNvSpPr/>
          <p:nvPr/>
        </p:nvSpPr>
        <p:spPr>
          <a:xfrm>
            <a:off x="6609960" y="3090600"/>
            <a:ext cx="1046880" cy="749160"/>
          </a:xfrm>
          <a:prstGeom prst="rect">
            <a:avLst/>
          </a:prstGeom>
          <a:solidFill>
            <a:srgbClr val="fff1f2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4" name="Text 65"/>
          <p:cNvSpPr/>
          <p:nvPr/>
        </p:nvSpPr>
        <p:spPr>
          <a:xfrm>
            <a:off x="6655680" y="3136320"/>
            <a:ext cx="9554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Calibri"/>
                <a:ea typeface="Calibri"/>
              </a:rPr>
              <a:t>[...]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Shape 66"/>
          <p:cNvSpPr/>
          <p:nvPr/>
        </p:nvSpPr>
        <p:spPr>
          <a:xfrm>
            <a:off x="7693920" y="3090600"/>
            <a:ext cx="1046880" cy="749160"/>
          </a:xfrm>
          <a:prstGeom prst="rect">
            <a:avLst/>
          </a:prstGeom>
          <a:solidFill>
            <a:srgbClr val="fff1f2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6" name="Text 67"/>
          <p:cNvSpPr/>
          <p:nvPr/>
        </p:nvSpPr>
        <p:spPr>
          <a:xfrm>
            <a:off x="7739640" y="3136320"/>
            <a:ext cx="9554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Calibri"/>
                <a:ea typeface="Calibri"/>
              </a:rPr>
              <a:t>[...]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Shape 68"/>
          <p:cNvSpPr/>
          <p:nvPr/>
        </p:nvSpPr>
        <p:spPr>
          <a:xfrm>
            <a:off x="365760" y="3895200"/>
            <a:ext cx="822240" cy="74916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8" name="Text 69"/>
          <p:cNvSpPr/>
          <p:nvPr/>
        </p:nvSpPr>
        <p:spPr>
          <a:xfrm>
            <a:off x="365760" y="3895200"/>
            <a:ext cx="82224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Возможн.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Shape 70"/>
          <p:cNvSpPr/>
          <p:nvPr/>
        </p:nvSpPr>
        <p:spPr>
          <a:xfrm>
            <a:off x="1188720" y="3895200"/>
            <a:ext cx="1046880" cy="749160"/>
          </a:xfrm>
          <a:prstGeom prst="rect">
            <a:avLst/>
          </a:prstGeom>
          <a:solidFill>
            <a:srgbClr val="f0fdf4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0" name="Text 71"/>
          <p:cNvSpPr/>
          <p:nvPr/>
        </p:nvSpPr>
        <p:spPr>
          <a:xfrm>
            <a:off x="1234440" y="3940920"/>
            <a:ext cx="9554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Calibri"/>
                <a:ea typeface="Calibri"/>
              </a:rPr>
              <a:t>[...]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Shape 72"/>
          <p:cNvSpPr/>
          <p:nvPr/>
        </p:nvSpPr>
        <p:spPr>
          <a:xfrm>
            <a:off x="2273040" y="3895200"/>
            <a:ext cx="1046880" cy="749160"/>
          </a:xfrm>
          <a:prstGeom prst="rect">
            <a:avLst/>
          </a:prstGeom>
          <a:solidFill>
            <a:srgbClr val="f0fdf4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2" name="Text 73"/>
          <p:cNvSpPr/>
          <p:nvPr/>
        </p:nvSpPr>
        <p:spPr>
          <a:xfrm>
            <a:off x="2318760" y="3940920"/>
            <a:ext cx="9554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Calibri"/>
                <a:ea typeface="Calibri"/>
              </a:rPr>
              <a:t>[...]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Shape 74"/>
          <p:cNvSpPr/>
          <p:nvPr/>
        </p:nvSpPr>
        <p:spPr>
          <a:xfrm>
            <a:off x="3357000" y="3895200"/>
            <a:ext cx="1046880" cy="749160"/>
          </a:xfrm>
          <a:prstGeom prst="rect">
            <a:avLst/>
          </a:prstGeom>
          <a:solidFill>
            <a:srgbClr val="f0fdf4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4" name="Text 75"/>
          <p:cNvSpPr/>
          <p:nvPr/>
        </p:nvSpPr>
        <p:spPr>
          <a:xfrm>
            <a:off x="3402720" y="3940920"/>
            <a:ext cx="9554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Calibri"/>
                <a:ea typeface="Calibri"/>
              </a:rPr>
              <a:t>[...]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Shape 76"/>
          <p:cNvSpPr/>
          <p:nvPr/>
        </p:nvSpPr>
        <p:spPr>
          <a:xfrm>
            <a:off x="4441320" y="3895200"/>
            <a:ext cx="1046880" cy="749160"/>
          </a:xfrm>
          <a:prstGeom prst="rect">
            <a:avLst/>
          </a:prstGeom>
          <a:solidFill>
            <a:srgbClr val="f0fdf4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6" name="Text 77"/>
          <p:cNvSpPr/>
          <p:nvPr/>
        </p:nvSpPr>
        <p:spPr>
          <a:xfrm>
            <a:off x="4487040" y="3940920"/>
            <a:ext cx="9554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Calibri"/>
                <a:ea typeface="Calibri"/>
              </a:rPr>
              <a:t>[...]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Shape 78"/>
          <p:cNvSpPr/>
          <p:nvPr/>
        </p:nvSpPr>
        <p:spPr>
          <a:xfrm>
            <a:off x="5525640" y="3895200"/>
            <a:ext cx="1046880" cy="749160"/>
          </a:xfrm>
          <a:prstGeom prst="rect">
            <a:avLst/>
          </a:prstGeom>
          <a:solidFill>
            <a:srgbClr val="f0fdf4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8" name="Text 79"/>
          <p:cNvSpPr/>
          <p:nvPr/>
        </p:nvSpPr>
        <p:spPr>
          <a:xfrm>
            <a:off x="5571360" y="3940920"/>
            <a:ext cx="9554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Calibri"/>
                <a:ea typeface="Calibri"/>
              </a:rPr>
              <a:t>[...]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Shape 80"/>
          <p:cNvSpPr/>
          <p:nvPr/>
        </p:nvSpPr>
        <p:spPr>
          <a:xfrm>
            <a:off x="6609960" y="3895200"/>
            <a:ext cx="1046880" cy="749160"/>
          </a:xfrm>
          <a:prstGeom prst="rect">
            <a:avLst/>
          </a:prstGeom>
          <a:solidFill>
            <a:srgbClr val="f0fdf4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0" name="Text 81"/>
          <p:cNvSpPr/>
          <p:nvPr/>
        </p:nvSpPr>
        <p:spPr>
          <a:xfrm>
            <a:off x="6655680" y="3940920"/>
            <a:ext cx="9554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Calibri"/>
                <a:ea typeface="Calibri"/>
              </a:rPr>
              <a:t>[...]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Shape 82"/>
          <p:cNvSpPr/>
          <p:nvPr/>
        </p:nvSpPr>
        <p:spPr>
          <a:xfrm>
            <a:off x="7693920" y="3895200"/>
            <a:ext cx="1046880" cy="749160"/>
          </a:xfrm>
          <a:prstGeom prst="rect">
            <a:avLst/>
          </a:prstGeom>
          <a:solidFill>
            <a:srgbClr val="f0fdf4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2" name="Text 83"/>
          <p:cNvSpPr/>
          <p:nvPr/>
        </p:nvSpPr>
        <p:spPr>
          <a:xfrm>
            <a:off x="7739640" y="3940920"/>
            <a:ext cx="9554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Calibri"/>
                <a:ea typeface="Calibri"/>
              </a:rPr>
              <a:t>[...]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Shape 0"/>
          <p:cNvSpPr/>
          <p:nvPr/>
        </p:nvSpPr>
        <p:spPr>
          <a:xfrm>
            <a:off x="0" y="0"/>
            <a:ext cx="9143280" cy="68508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4" name="Text 1"/>
          <p:cNvSpPr/>
          <p:nvPr/>
        </p:nvSpPr>
        <p:spPr>
          <a:xfrm>
            <a:off x="365760" y="0"/>
            <a:ext cx="7314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Инсайты из интервью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Text 2"/>
          <p:cNvSpPr/>
          <p:nvPr/>
        </p:nvSpPr>
        <p:spPr>
          <a:xfrm>
            <a:off x="7132320" y="0"/>
            <a:ext cx="1828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94" strike="noStrike">
                <a:solidFill>
                  <a:srgbClr val="0d9488"/>
                </a:solidFill>
                <a:latin typeface="Calibri"/>
                <a:ea typeface="Calibri"/>
              </a:rPr>
              <a:t>ИССЛЕДОВАНИЕ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Shape 3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7" name="Text 4"/>
          <p:cNvSpPr/>
          <p:nvPr/>
        </p:nvSpPr>
        <p:spPr>
          <a:xfrm>
            <a:off x="365760" y="4937760"/>
            <a:ext cx="64000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Источник: Суррогатные данные — отзывы IQ Diamonds, Bright Spark, Ozon; форумы VC.ru; PD WD 2026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Text 5"/>
          <p:cNvSpPr/>
          <p:nvPr/>
        </p:nvSpPr>
        <p:spPr>
          <a:xfrm>
            <a:off x="365760" y="777240"/>
            <a:ext cx="84117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94" strike="noStrike">
                <a:solidFill>
                  <a:srgbClr val="0d9488"/>
                </a:solidFill>
                <a:latin typeface="Calibri"/>
                <a:ea typeface="Calibri"/>
              </a:rPr>
              <a:t>ТОП-5 ПАТТЕРНОВ ИЗ STORY-BASED ИНТЕРВЬЮ (N РЕСПОНДЕНТОВ)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Shape 6"/>
          <p:cNvSpPr/>
          <p:nvPr/>
        </p:nvSpPr>
        <p:spPr>
          <a:xfrm>
            <a:off x="365760" y="1097280"/>
            <a:ext cx="776520" cy="621000"/>
          </a:xfrm>
          <a:prstGeom prst="rect">
            <a:avLst/>
          </a:prstGeom>
          <a:solidFill>
            <a:srgbClr val="f5939e"/>
          </a:solidFill>
          <a:ln w="12700">
            <a:solidFill>
              <a:srgbClr val="f593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0" name="Text 7"/>
          <p:cNvSpPr/>
          <p:nvPr/>
        </p:nvSpPr>
        <p:spPr>
          <a:xfrm>
            <a:off x="365760" y="1097280"/>
            <a:ext cx="77652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5/7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Shape 8"/>
          <p:cNvSpPr/>
          <p:nvPr/>
        </p:nvSpPr>
        <p:spPr>
          <a:xfrm>
            <a:off x="1234440" y="1097280"/>
            <a:ext cx="6674400" cy="62100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2" name="Text 9"/>
          <p:cNvSpPr/>
          <p:nvPr/>
        </p:nvSpPr>
        <p:spPr>
          <a:xfrm>
            <a:off x="1234440" y="1152000"/>
            <a:ext cx="9136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pc="94" strike="noStrike">
                <a:solidFill>
                  <a:srgbClr val="f5939e"/>
                </a:solidFill>
                <a:latin typeface="Calibri"/>
                <a:ea typeface="Calibri"/>
              </a:rPr>
              <a:t>БОЛЬ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Text 10"/>
          <p:cNvSpPr/>
          <p:nvPr/>
        </p:nvSpPr>
        <p:spPr>
          <a:xfrm>
            <a:off x="1234440" y="1353240"/>
            <a:ext cx="66286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Ищут крупный камень (5ct+), но в каталогах РФ не находят — уходят или ждут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Shape 11"/>
          <p:cNvSpPr/>
          <p:nvPr/>
        </p:nvSpPr>
        <p:spPr>
          <a:xfrm>
            <a:off x="365760" y="1856160"/>
            <a:ext cx="776520" cy="621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5" name="Text 12"/>
          <p:cNvSpPr/>
          <p:nvPr/>
        </p:nvSpPr>
        <p:spPr>
          <a:xfrm>
            <a:off x="365760" y="1856160"/>
            <a:ext cx="77652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7/7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Shape 13"/>
          <p:cNvSpPr/>
          <p:nvPr/>
        </p:nvSpPr>
        <p:spPr>
          <a:xfrm>
            <a:off x="1234440" y="1856160"/>
            <a:ext cx="6674400" cy="62100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7" name="Text 14"/>
          <p:cNvSpPr/>
          <p:nvPr/>
        </p:nvSpPr>
        <p:spPr>
          <a:xfrm>
            <a:off x="1234440" y="1911240"/>
            <a:ext cx="9136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pc="94" strike="noStrike">
                <a:solidFill>
                  <a:srgbClr val="0d9488"/>
                </a:solidFill>
                <a:latin typeface="Calibri"/>
                <a:ea typeface="Calibri"/>
              </a:rPr>
              <a:t>JOB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Text 15"/>
          <p:cNvSpPr/>
          <p:nvPr/>
        </p:nvSpPr>
        <p:spPr>
          <a:xfrm>
            <a:off x="1234440" y="2112120"/>
            <a:ext cx="66286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Убедиться в подлинности — барьер #1: требуют IGI/GIA, фото сертификата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Shape 16"/>
          <p:cNvSpPr/>
          <p:nvPr/>
        </p:nvSpPr>
        <p:spPr>
          <a:xfrm>
            <a:off x="365760" y="2615040"/>
            <a:ext cx="776520" cy="621000"/>
          </a:xfrm>
          <a:prstGeom prst="rect">
            <a:avLst/>
          </a:prstGeom>
          <a:solidFill>
            <a:srgbClr val="f5939e"/>
          </a:solidFill>
          <a:ln w="12700">
            <a:solidFill>
              <a:srgbClr val="f593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0" name="Text 17"/>
          <p:cNvSpPr/>
          <p:nvPr/>
        </p:nvSpPr>
        <p:spPr>
          <a:xfrm>
            <a:off x="365760" y="2615040"/>
            <a:ext cx="77652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6/7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Shape 18"/>
          <p:cNvSpPr/>
          <p:nvPr/>
        </p:nvSpPr>
        <p:spPr>
          <a:xfrm>
            <a:off x="1234440" y="2615040"/>
            <a:ext cx="6674400" cy="62100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2" name="Text 19"/>
          <p:cNvSpPr/>
          <p:nvPr/>
        </p:nvSpPr>
        <p:spPr>
          <a:xfrm>
            <a:off x="1234440" y="2670120"/>
            <a:ext cx="9136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pc="94" strike="noStrike">
                <a:solidFill>
                  <a:srgbClr val="f5939e"/>
                </a:solidFill>
                <a:latin typeface="Calibri"/>
                <a:ea typeface="Calibri"/>
              </a:rPr>
              <a:t>БОЛЬ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Text 20"/>
          <p:cNvSpPr/>
          <p:nvPr/>
        </p:nvSpPr>
        <p:spPr>
          <a:xfrm>
            <a:off x="1234440" y="2871360"/>
            <a:ext cx="66286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Нет уверенности покупать 200K+ онлайн без физической примерки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Shape 21"/>
          <p:cNvSpPr/>
          <p:nvPr/>
        </p:nvSpPr>
        <p:spPr>
          <a:xfrm>
            <a:off x="365760" y="3374280"/>
            <a:ext cx="776520" cy="621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5" name="Text 22"/>
          <p:cNvSpPr/>
          <p:nvPr/>
        </p:nvSpPr>
        <p:spPr>
          <a:xfrm>
            <a:off x="365760" y="3374280"/>
            <a:ext cx="77652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4/7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Shape 23"/>
          <p:cNvSpPr/>
          <p:nvPr/>
        </p:nvSpPr>
        <p:spPr>
          <a:xfrm>
            <a:off x="1234440" y="3374280"/>
            <a:ext cx="6674400" cy="62100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7" name="Text 24"/>
          <p:cNvSpPr/>
          <p:nvPr/>
        </p:nvSpPr>
        <p:spPr>
          <a:xfrm>
            <a:off x="1234440" y="3429000"/>
            <a:ext cx="9136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pc="94" strike="noStrike">
                <a:solidFill>
                  <a:srgbClr val="0d9488"/>
                </a:solidFill>
                <a:latin typeface="Calibri"/>
                <a:ea typeface="Calibri"/>
              </a:rPr>
              <a:t>JOB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Text 25"/>
          <p:cNvSpPr/>
          <p:nvPr/>
        </p:nvSpPr>
        <p:spPr>
          <a:xfrm>
            <a:off x="1234440" y="3630240"/>
            <a:ext cx="66286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Премиум-покупатели готовы платить за upgrade — «а если камень мне разонравится, можно поменять?»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Shape 26"/>
          <p:cNvSpPr/>
          <p:nvPr/>
        </p:nvSpPr>
        <p:spPr>
          <a:xfrm>
            <a:off x="365760" y="4133160"/>
            <a:ext cx="776520" cy="621000"/>
          </a:xfrm>
          <a:prstGeom prst="rect">
            <a:avLst/>
          </a:prstGeom>
          <a:solidFill>
            <a:srgbClr val="457e4a"/>
          </a:solidFill>
          <a:ln w="12700">
            <a:solidFill>
              <a:srgbClr val="457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0" name="Text 27"/>
          <p:cNvSpPr/>
          <p:nvPr/>
        </p:nvSpPr>
        <p:spPr>
          <a:xfrm>
            <a:off x="365760" y="4133160"/>
            <a:ext cx="77652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3/7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Shape 28"/>
          <p:cNvSpPr/>
          <p:nvPr/>
        </p:nvSpPr>
        <p:spPr>
          <a:xfrm>
            <a:off x="1234440" y="4133160"/>
            <a:ext cx="6674400" cy="62100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2" name="Text 29"/>
          <p:cNvSpPr/>
          <p:nvPr/>
        </p:nvSpPr>
        <p:spPr>
          <a:xfrm>
            <a:off x="1234440" y="4187880"/>
            <a:ext cx="9136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pc="94" strike="noStrike">
                <a:solidFill>
                  <a:srgbClr val="457e4a"/>
                </a:solidFill>
                <a:latin typeface="Calibri"/>
                <a:ea typeface="Calibri"/>
              </a:rPr>
              <a:t>ИНСАЙТ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Text 30"/>
          <p:cNvSpPr/>
          <p:nvPr/>
        </p:nvSpPr>
        <p:spPr>
          <a:xfrm>
            <a:off x="1234440" y="4389120"/>
            <a:ext cx="66286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Социальное давление на сегмент 40+: «а это точно настоящий бриллиант?» от окружения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Shape 0"/>
          <p:cNvSpPr/>
          <p:nvPr/>
        </p:nvSpPr>
        <p:spPr>
          <a:xfrm>
            <a:off x="0" y="0"/>
            <a:ext cx="9143280" cy="68508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5" name="Text 1"/>
          <p:cNvSpPr/>
          <p:nvPr/>
        </p:nvSpPr>
        <p:spPr>
          <a:xfrm>
            <a:off x="365760" y="0"/>
            <a:ext cx="7314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Opportunity Score — незакрытые потребности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Text 2"/>
          <p:cNvSpPr/>
          <p:nvPr/>
        </p:nvSpPr>
        <p:spPr>
          <a:xfrm>
            <a:off x="7132320" y="0"/>
            <a:ext cx="1828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94" strike="noStrike">
                <a:solidFill>
                  <a:srgbClr val="0d9488"/>
                </a:solidFill>
                <a:latin typeface="Calibri"/>
                <a:ea typeface="Calibri"/>
              </a:rPr>
              <a:t>ИССЛЕДОВАНИЕ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Shape 3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8" name="Text 4"/>
          <p:cNvSpPr/>
          <p:nvPr/>
        </p:nvSpPr>
        <p:spPr>
          <a:xfrm>
            <a:off x="365760" y="4937760"/>
            <a:ext cx="64000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Источник: Opportunity Score (Ulwick); PD WD 2026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Text 5"/>
          <p:cNvSpPr/>
          <p:nvPr/>
        </p:nvSpPr>
        <p:spPr>
          <a:xfrm>
            <a:off x="365760" y="777240"/>
            <a:ext cx="84117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94" strike="noStrike">
                <a:solidFill>
                  <a:srgbClr val="0d9488"/>
                </a:solidFill>
                <a:latin typeface="Calibri"/>
                <a:ea typeface="Calibri"/>
              </a:rPr>
              <a:t>OPPORTUNITY SCORE = ВАЖНОСТЬ + max(ВАЖНОСТЬ − УДОВЛЕТВОРЁННОСТЬ, 0)  |  Приоритет: OS ≥ 15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Shape 6"/>
          <p:cNvSpPr/>
          <p:nvPr/>
        </p:nvSpPr>
        <p:spPr>
          <a:xfrm>
            <a:off x="365760" y="1051560"/>
            <a:ext cx="4114080" cy="34668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1" name="Text 7"/>
          <p:cNvSpPr/>
          <p:nvPr/>
        </p:nvSpPr>
        <p:spPr>
          <a:xfrm>
            <a:off x="365760" y="1051560"/>
            <a:ext cx="41140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Outcome (результат из Job Map)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Shape 8"/>
          <p:cNvSpPr/>
          <p:nvPr/>
        </p:nvSpPr>
        <p:spPr>
          <a:xfrm>
            <a:off x="4517280" y="1051560"/>
            <a:ext cx="1188000" cy="34668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3" name="Text 9"/>
          <p:cNvSpPr/>
          <p:nvPr/>
        </p:nvSpPr>
        <p:spPr>
          <a:xfrm>
            <a:off x="4517280" y="1051560"/>
            <a:ext cx="11880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Важность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Shape 10"/>
          <p:cNvSpPr/>
          <p:nvPr/>
        </p:nvSpPr>
        <p:spPr>
          <a:xfrm>
            <a:off x="5742360" y="1051560"/>
            <a:ext cx="1188000" cy="34668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5" name="Text 11"/>
          <p:cNvSpPr/>
          <p:nvPr/>
        </p:nvSpPr>
        <p:spPr>
          <a:xfrm>
            <a:off x="5742360" y="1051560"/>
            <a:ext cx="11880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Удовл.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Shape 12"/>
          <p:cNvSpPr/>
          <p:nvPr/>
        </p:nvSpPr>
        <p:spPr>
          <a:xfrm>
            <a:off x="6967800" y="1051560"/>
            <a:ext cx="913680" cy="34668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7" name="Text 13"/>
          <p:cNvSpPr/>
          <p:nvPr/>
        </p:nvSpPr>
        <p:spPr>
          <a:xfrm>
            <a:off x="6967800" y="1051560"/>
            <a:ext cx="913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OS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Shape 14"/>
          <p:cNvSpPr/>
          <p:nvPr/>
        </p:nvSpPr>
        <p:spPr>
          <a:xfrm>
            <a:off x="7918560" y="1051560"/>
            <a:ext cx="1005120" cy="34668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9" name="Text 15"/>
          <p:cNvSpPr/>
          <p:nvPr/>
        </p:nvSpPr>
        <p:spPr>
          <a:xfrm>
            <a:off x="7918560" y="1051560"/>
            <a:ext cx="10051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Приоритет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Shape 16"/>
          <p:cNvSpPr/>
          <p:nvPr/>
        </p:nvSpPr>
        <p:spPr>
          <a:xfrm>
            <a:off x="365760" y="1444680"/>
            <a:ext cx="4114080" cy="621000"/>
          </a:xfrm>
          <a:prstGeom prst="rect">
            <a:avLst/>
          </a:prstGeom>
          <a:solidFill>
            <a:srgbClr val="f4f5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1" name="Text 17"/>
          <p:cNvSpPr/>
          <p:nvPr/>
        </p:nvSpPr>
        <p:spPr>
          <a:xfrm>
            <a:off x="365760" y="1444680"/>
            <a:ext cx="411408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76320" tIns="76320" bIns="763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f1020"/>
                </a:solidFill>
                <a:latin typeface="Calibri"/>
                <a:ea typeface="Calibri"/>
              </a:rPr>
              <a:t>Доступный крупный CVD-бриллиант (6ct+)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Shape 18"/>
          <p:cNvSpPr/>
          <p:nvPr/>
        </p:nvSpPr>
        <p:spPr>
          <a:xfrm>
            <a:off x="4517280" y="1444680"/>
            <a:ext cx="1188000" cy="621000"/>
          </a:xfrm>
          <a:prstGeom prst="rect">
            <a:avLst/>
          </a:prstGeom>
          <a:solidFill>
            <a:srgbClr val="f4f5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3" name="Text 19"/>
          <p:cNvSpPr/>
          <p:nvPr/>
        </p:nvSpPr>
        <p:spPr>
          <a:xfrm>
            <a:off x="4517280" y="1444680"/>
            <a:ext cx="118800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9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Shape 20"/>
          <p:cNvSpPr/>
          <p:nvPr/>
        </p:nvSpPr>
        <p:spPr>
          <a:xfrm>
            <a:off x="5742360" y="1444680"/>
            <a:ext cx="1188000" cy="621000"/>
          </a:xfrm>
          <a:prstGeom prst="rect">
            <a:avLst/>
          </a:prstGeom>
          <a:solidFill>
            <a:srgbClr val="f4f5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5" name="Text 21"/>
          <p:cNvSpPr/>
          <p:nvPr/>
        </p:nvSpPr>
        <p:spPr>
          <a:xfrm>
            <a:off x="5742360" y="1444680"/>
            <a:ext cx="118800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3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Shape 22"/>
          <p:cNvSpPr/>
          <p:nvPr/>
        </p:nvSpPr>
        <p:spPr>
          <a:xfrm>
            <a:off x="6967800" y="1444680"/>
            <a:ext cx="913680" cy="621000"/>
          </a:xfrm>
          <a:prstGeom prst="rect">
            <a:avLst/>
          </a:prstGeom>
          <a:solidFill>
            <a:srgbClr val="fff1f2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7" name="Text 23"/>
          <p:cNvSpPr/>
          <p:nvPr/>
        </p:nvSpPr>
        <p:spPr>
          <a:xfrm>
            <a:off x="6967800" y="1444680"/>
            <a:ext cx="91368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5939e"/>
                </a:solidFill>
                <a:latin typeface="Calibri"/>
                <a:ea typeface="Calibri"/>
              </a:rPr>
              <a:t>15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Shape 24"/>
          <p:cNvSpPr/>
          <p:nvPr/>
        </p:nvSpPr>
        <p:spPr>
          <a:xfrm>
            <a:off x="7918560" y="1444680"/>
            <a:ext cx="1005120" cy="621000"/>
          </a:xfrm>
          <a:prstGeom prst="rect">
            <a:avLst/>
          </a:prstGeom>
          <a:solidFill>
            <a:srgbClr val="f4f5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9" name="Text 25"/>
          <p:cNvSpPr/>
          <p:nvPr/>
        </p:nvSpPr>
        <p:spPr>
          <a:xfrm>
            <a:off x="7918560" y="1444680"/>
            <a:ext cx="100512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🔴 </a:t>
            </a: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Критич.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Shape 26"/>
          <p:cNvSpPr/>
          <p:nvPr/>
        </p:nvSpPr>
        <p:spPr>
          <a:xfrm>
            <a:off x="365760" y="2121480"/>
            <a:ext cx="4114080" cy="621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1" name="Text 27"/>
          <p:cNvSpPr/>
          <p:nvPr/>
        </p:nvSpPr>
        <p:spPr>
          <a:xfrm>
            <a:off x="365760" y="2121480"/>
            <a:ext cx="411408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76320" tIns="76320" bIns="763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f1020"/>
                </a:solidFill>
                <a:latin typeface="Calibri"/>
                <a:ea typeface="Calibri"/>
              </a:rPr>
              <a:t>Уверенность в подлинности (IGI-сертификат)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Shape 28"/>
          <p:cNvSpPr/>
          <p:nvPr/>
        </p:nvSpPr>
        <p:spPr>
          <a:xfrm>
            <a:off x="4517280" y="2121480"/>
            <a:ext cx="1188000" cy="621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3" name="Text 29"/>
          <p:cNvSpPr/>
          <p:nvPr/>
        </p:nvSpPr>
        <p:spPr>
          <a:xfrm>
            <a:off x="4517280" y="2121480"/>
            <a:ext cx="118800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8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Shape 30"/>
          <p:cNvSpPr/>
          <p:nvPr/>
        </p:nvSpPr>
        <p:spPr>
          <a:xfrm>
            <a:off x="5742360" y="2121480"/>
            <a:ext cx="1188000" cy="621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5" name="Text 31"/>
          <p:cNvSpPr/>
          <p:nvPr/>
        </p:nvSpPr>
        <p:spPr>
          <a:xfrm>
            <a:off x="5742360" y="2121480"/>
            <a:ext cx="118800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4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Shape 32"/>
          <p:cNvSpPr/>
          <p:nvPr/>
        </p:nvSpPr>
        <p:spPr>
          <a:xfrm>
            <a:off x="6967800" y="2121480"/>
            <a:ext cx="913680" cy="621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7" name="Text 33"/>
          <p:cNvSpPr/>
          <p:nvPr/>
        </p:nvSpPr>
        <p:spPr>
          <a:xfrm>
            <a:off x="6967800" y="2121480"/>
            <a:ext cx="91368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d97706"/>
                </a:solidFill>
                <a:latin typeface="Calibri"/>
                <a:ea typeface="Calibri"/>
              </a:rPr>
              <a:t>12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Shape 34"/>
          <p:cNvSpPr/>
          <p:nvPr/>
        </p:nvSpPr>
        <p:spPr>
          <a:xfrm>
            <a:off x="7918560" y="2121480"/>
            <a:ext cx="1005120" cy="621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9" name="Text 35"/>
          <p:cNvSpPr/>
          <p:nvPr/>
        </p:nvSpPr>
        <p:spPr>
          <a:xfrm>
            <a:off x="7918560" y="2121480"/>
            <a:ext cx="100512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🟠 </a:t>
            </a: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Высокий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Shape 36"/>
          <p:cNvSpPr/>
          <p:nvPr/>
        </p:nvSpPr>
        <p:spPr>
          <a:xfrm>
            <a:off x="365760" y="2797920"/>
            <a:ext cx="4114080" cy="621000"/>
          </a:xfrm>
          <a:prstGeom prst="rect">
            <a:avLst/>
          </a:prstGeom>
          <a:solidFill>
            <a:srgbClr val="f4f5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1" name="Text 37"/>
          <p:cNvSpPr/>
          <p:nvPr/>
        </p:nvSpPr>
        <p:spPr>
          <a:xfrm>
            <a:off x="365760" y="2797920"/>
            <a:ext cx="411408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76320" tIns="76320" bIns="763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f1020"/>
                </a:solidFill>
                <a:latin typeface="Calibri"/>
                <a:ea typeface="Calibri"/>
              </a:rPr>
              <a:t>Украшение «смотрится дорого» — социальный сигнал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Shape 38"/>
          <p:cNvSpPr/>
          <p:nvPr/>
        </p:nvSpPr>
        <p:spPr>
          <a:xfrm>
            <a:off x="4517280" y="2797920"/>
            <a:ext cx="1188000" cy="621000"/>
          </a:xfrm>
          <a:prstGeom prst="rect">
            <a:avLst/>
          </a:prstGeom>
          <a:solidFill>
            <a:srgbClr val="f4f5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3" name="Text 39"/>
          <p:cNvSpPr/>
          <p:nvPr/>
        </p:nvSpPr>
        <p:spPr>
          <a:xfrm>
            <a:off x="4517280" y="2797920"/>
            <a:ext cx="118800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7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Shape 40"/>
          <p:cNvSpPr/>
          <p:nvPr/>
        </p:nvSpPr>
        <p:spPr>
          <a:xfrm>
            <a:off x="5742360" y="2797920"/>
            <a:ext cx="1188000" cy="621000"/>
          </a:xfrm>
          <a:prstGeom prst="rect">
            <a:avLst/>
          </a:prstGeom>
          <a:solidFill>
            <a:srgbClr val="f4f5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5" name="Text 41"/>
          <p:cNvSpPr/>
          <p:nvPr/>
        </p:nvSpPr>
        <p:spPr>
          <a:xfrm>
            <a:off x="5742360" y="2797920"/>
            <a:ext cx="118800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5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Shape 42"/>
          <p:cNvSpPr/>
          <p:nvPr/>
        </p:nvSpPr>
        <p:spPr>
          <a:xfrm>
            <a:off x="6967800" y="2797920"/>
            <a:ext cx="913680" cy="621000"/>
          </a:xfrm>
          <a:prstGeom prst="rect">
            <a:avLst/>
          </a:prstGeom>
          <a:solidFill>
            <a:srgbClr val="f4f5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7" name="Text 43"/>
          <p:cNvSpPr/>
          <p:nvPr/>
        </p:nvSpPr>
        <p:spPr>
          <a:xfrm>
            <a:off x="6967800" y="2797920"/>
            <a:ext cx="91368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457e4a"/>
                </a:solidFill>
                <a:latin typeface="Calibri"/>
                <a:ea typeface="Calibri"/>
              </a:rPr>
              <a:t>9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Shape 44"/>
          <p:cNvSpPr/>
          <p:nvPr/>
        </p:nvSpPr>
        <p:spPr>
          <a:xfrm>
            <a:off x="7918560" y="2797920"/>
            <a:ext cx="1005120" cy="621000"/>
          </a:xfrm>
          <a:prstGeom prst="rect">
            <a:avLst/>
          </a:prstGeom>
          <a:solidFill>
            <a:srgbClr val="f4f5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9" name="Text 45"/>
          <p:cNvSpPr/>
          <p:nvPr/>
        </p:nvSpPr>
        <p:spPr>
          <a:xfrm>
            <a:off x="7918560" y="2797920"/>
            <a:ext cx="100512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🟡 </a:t>
            </a: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Средний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Shape 46"/>
          <p:cNvSpPr/>
          <p:nvPr/>
        </p:nvSpPr>
        <p:spPr>
          <a:xfrm>
            <a:off x="365760" y="3474720"/>
            <a:ext cx="4114080" cy="621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1" name="Text 47"/>
          <p:cNvSpPr/>
          <p:nvPr/>
        </p:nvSpPr>
        <p:spPr>
          <a:xfrm>
            <a:off x="365760" y="3474720"/>
            <a:ext cx="411408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76320" tIns="76320" bIns="763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f1020"/>
                </a:solidFill>
                <a:latin typeface="Calibri"/>
                <a:ea typeface="Calibri"/>
              </a:rPr>
              <a:t>Безопасность онлайн-покупки 200K+ ₽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Shape 48"/>
          <p:cNvSpPr/>
          <p:nvPr/>
        </p:nvSpPr>
        <p:spPr>
          <a:xfrm>
            <a:off x="4517280" y="3474720"/>
            <a:ext cx="1188000" cy="621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3" name="Text 49"/>
          <p:cNvSpPr/>
          <p:nvPr/>
        </p:nvSpPr>
        <p:spPr>
          <a:xfrm>
            <a:off x="4517280" y="3474720"/>
            <a:ext cx="118800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9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Shape 50"/>
          <p:cNvSpPr/>
          <p:nvPr/>
        </p:nvSpPr>
        <p:spPr>
          <a:xfrm>
            <a:off x="5742360" y="3474720"/>
            <a:ext cx="1188000" cy="621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5" name="Text 51"/>
          <p:cNvSpPr/>
          <p:nvPr/>
        </p:nvSpPr>
        <p:spPr>
          <a:xfrm>
            <a:off x="5742360" y="3474720"/>
            <a:ext cx="118800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7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Shape 52"/>
          <p:cNvSpPr/>
          <p:nvPr/>
        </p:nvSpPr>
        <p:spPr>
          <a:xfrm>
            <a:off x="6967800" y="3474720"/>
            <a:ext cx="913680" cy="621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7" name="Text 53"/>
          <p:cNvSpPr/>
          <p:nvPr/>
        </p:nvSpPr>
        <p:spPr>
          <a:xfrm>
            <a:off x="6967800" y="3474720"/>
            <a:ext cx="91368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d97706"/>
                </a:solidFill>
                <a:latin typeface="Calibri"/>
                <a:ea typeface="Calibri"/>
              </a:rPr>
              <a:t>11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Shape 54"/>
          <p:cNvSpPr/>
          <p:nvPr/>
        </p:nvSpPr>
        <p:spPr>
          <a:xfrm>
            <a:off x="7918560" y="3474720"/>
            <a:ext cx="1005120" cy="621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9" name="Text 55"/>
          <p:cNvSpPr/>
          <p:nvPr/>
        </p:nvSpPr>
        <p:spPr>
          <a:xfrm>
            <a:off x="7918560" y="3474720"/>
            <a:ext cx="100512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🟠 </a:t>
            </a: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Высокий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Shape 56"/>
          <p:cNvSpPr/>
          <p:nvPr/>
        </p:nvSpPr>
        <p:spPr>
          <a:xfrm>
            <a:off x="365760" y="4151520"/>
            <a:ext cx="4114080" cy="621000"/>
          </a:xfrm>
          <a:prstGeom prst="rect">
            <a:avLst/>
          </a:prstGeom>
          <a:solidFill>
            <a:srgbClr val="f4f5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1" name="Text 57"/>
          <p:cNvSpPr/>
          <p:nvPr/>
        </p:nvSpPr>
        <p:spPr>
          <a:xfrm>
            <a:off x="365760" y="4151520"/>
            <a:ext cx="411408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76320" tIns="76320" bIns="763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f1020"/>
                </a:solidFill>
                <a:latin typeface="Calibri"/>
                <a:ea typeface="Calibri"/>
              </a:rPr>
              <a:t>Понимание разницы CVD / натуральный / фианит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Shape 58"/>
          <p:cNvSpPr/>
          <p:nvPr/>
        </p:nvSpPr>
        <p:spPr>
          <a:xfrm>
            <a:off x="4517280" y="4151520"/>
            <a:ext cx="1188000" cy="621000"/>
          </a:xfrm>
          <a:prstGeom prst="rect">
            <a:avLst/>
          </a:prstGeom>
          <a:solidFill>
            <a:srgbClr val="f4f5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3" name="Text 59"/>
          <p:cNvSpPr/>
          <p:nvPr/>
        </p:nvSpPr>
        <p:spPr>
          <a:xfrm>
            <a:off x="4517280" y="4151520"/>
            <a:ext cx="118800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6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Shape 60"/>
          <p:cNvSpPr/>
          <p:nvPr/>
        </p:nvSpPr>
        <p:spPr>
          <a:xfrm>
            <a:off x="5742360" y="4151520"/>
            <a:ext cx="1188000" cy="621000"/>
          </a:xfrm>
          <a:prstGeom prst="rect">
            <a:avLst/>
          </a:prstGeom>
          <a:solidFill>
            <a:srgbClr val="f4f5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5" name="Text 61"/>
          <p:cNvSpPr/>
          <p:nvPr/>
        </p:nvSpPr>
        <p:spPr>
          <a:xfrm>
            <a:off x="5742360" y="4151520"/>
            <a:ext cx="118800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6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Shape 62"/>
          <p:cNvSpPr/>
          <p:nvPr/>
        </p:nvSpPr>
        <p:spPr>
          <a:xfrm>
            <a:off x="6967800" y="4151520"/>
            <a:ext cx="913680" cy="621000"/>
          </a:xfrm>
          <a:prstGeom prst="rect">
            <a:avLst/>
          </a:prstGeom>
          <a:solidFill>
            <a:srgbClr val="f4f5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7" name="Text 63"/>
          <p:cNvSpPr/>
          <p:nvPr/>
        </p:nvSpPr>
        <p:spPr>
          <a:xfrm>
            <a:off x="6967800" y="4151520"/>
            <a:ext cx="91368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457e4a"/>
                </a:solidFill>
                <a:latin typeface="Calibri"/>
                <a:ea typeface="Calibri"/>
              </a:rPr>
              <a:t>6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Shape 64"/>
          <p:cNvSpPr/>
          <p:nvPr/>
        </p:nvSpPr>
        <p:spPr>
          <a:xfrm>
            <a:off x="7918560" y="4151520"/>
            <a:ext cx="1005120" cy="621000"/>
          </a:xfrm>
          <a:prstGeom prst="rect">
            <a:avLst/>
          </a:prstGeom>
          <a:solidFill>
            <a:srgbClr val="f4f5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9" name="Text 65"/>
          <p:cNvSpPr/>
          <p:nvPr/>
        </p:nvSpPr>
        <p:spPr>
          <a:xfrm>
            <a:off x="7918560" y="4151520"/>
            <a:ext cx="100512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🟢 </a:t>
            </a: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Низкий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Shape 66"/>
          <p:cNvSpPr/>
          <p:nvPr/>
        </p:nvSpPr>
        <p:spPr>
          <a:xfrm>
            <a:off x="365760" y="4590360"/>
            <a:ext cx="8411760" cy="273600"/>
          </a:xfrm>
          <a:prstGeom prst="rect">
            <a:avLst/>
          </a:prstGeom>
          <a:solidFill>
            <a:srgbClr val="fff1f2"/>
          </a:solidFill>
          <a:ln w="6350">
            <a:solidFill>
              <a:srgbClr val="f593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1" name="Text 67"/>
          <p:cNvSpPr/>
          <p:nvPr/>
        </p:nvSpPr>
        <p:spPr>
          <a:xfrm>
            <a:off x="457200" y="459036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5939e"/>
                </a:solidFill>
                <a:latin typeface="Calibri"/>
                <a:ea typeface="Calibri"/>
              </a:rPr>
              <a:t>🔴 </a:t>
            </a:r>
            <a:r>
              <a:rPr b="1" lang="en-US" sz="900" spc="-1" strike="noStrike">
                <a:solidFill>
                  <a:srgbClr val="f5939e"/>
                </a:solidFill>
                <a:latin typeface="Calibri"/>
                <a:ea typeface="Calibri"/>
              </a:rPr>
              <a:t>Outcome 1 — критически незакрытая потребность → приоритетная возможность для OST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Shape 0"/>
          <p:cNvSpPr/>
          <p:nvPr/>
        </p:nvSpPr>
        <p:spPr>
          <a:xfrm>
            <a:off x="0" y="0"/>
            <a:ext cx="9143280" cy="68508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3" name="Text 1"/>
          <p:cNvSpPr/>
          <p:nvPr/>
        </p:nvSpPr>
        <p:spPr>
          <a:xfrm>
            <a:off x="365760" y="0"/>
            <a:ext cx="7314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Сегменты / персоны потребителей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Text 2"/>
          <p:cNvSpPr/>
          <p:nvPr/>
        </p:nvSpPr>
        <p:spPr>
          <a:xfrm>
            <a:off x="7132320" y="0"/>
            <a:ext cx="1828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94" strike="noStrike">
                <a:solidFill>
                  <a:srgbClr val="0d9488"/>
                </a:solidFill>
                <a:latin typeface="Calibri"/>
                <a:ea typeface="Calibri"/>
              </a:rPr>
              <a:t>ИССЛЕДОВАНИЕ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Subtitle"/>
          <p:cNvSpPr/>
          <p:nvPr/>
        </p:nvSpPr>
        <p:spPr>
          <a:xfrm>
            <a:off x="365760" y="868680"/>
            <a:ext cx="8412120" cy="365400"/>
          </a:xfrm>
          <a:prstGeom prst="rect">
            <a:avLst/>
          </a:prstGeom>
          <a:solidFill>
            <a:srgbClr val="0f10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</a:pPr>
            <a:r>
              <a:rPr b="1" lang="ru-RU" sz="1000" spc="-1" strike="noStrike">
                <a:solidFill>
                  <a:srgbClr val="94a3f6"/>
                </a:solidFill>
                <a:latin typeface="Arial"/>
              </a:rPr>
              <a:t>Карточки персон из задачи 7 — главная ЦА и вторичные сегменты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6" name="PersonaHead0"/>
          <p:cNvSpPr/>
          <p:nvPr/>
        </p:nvSpPr>
        <p:spPr>
          <a:xfrm>
            <a:off x="365760" y="1280160"/>
            <a:ext cx="2706120" cy="502560"/>
          </a:xfrm>
          <a:prstGeom prst="rect">
            <a:avLst/>
          </a:prstGeom>
          <a:solidFill>
            <a:srgbClr val="94a3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4520" rIns="164520" tIns="73080" bIns="73080" anchor="t">
            <a:noAutofit/>
          </a:bodyPr>
          <a:p>
            <a:pPr>
              <a:lnSpc>
                <a:spcPct val="100000"/>
              </a:lnSpc>
            </a:pPr>
            <a:r>
              <a:rPr b="1" lang="ru-RU" sz="1200" spc="-1" strike="noStrike">
                <a:solidFill>
                  <a:srgbClr val="ffffff"/>
                </a:solidFill>
                <a:latin typeface="Arial"/>
              </a:rPr>
              <a:t>[ИМЯ ПЕРСОНЫ 1]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e8eaf6"/>
                </a:solidFill>
                <a:latin typeface="Arial"/>
              </a:rPr>
              <a:t>[Возраст]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PersonaBody0"/>
          <p:cNvSpPr/>
          <p:nvPr/>
        </p:nvSpPr>
        <p:spPr>
          <a:xfrm>
            <a:off x="365760" y="1783080"/>
            <a:ext cx="2706120" cy="2559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91440" bIns="91440" anchor="t">
            <a:noAutofit/>
          </a:bodyPr>
          <a:p>
            <a:pPr>
              <a:lnSpc>
                <a:spcPct val="100000"/>
              </a:lnSpc>
            </a:pPr>
            <a:r>
              <a:rPr b="1" lang="ru-RU" sz="800" spc="-1" strike="noStrike">
                <a:solidFill>
                  <a:srgbClr val="94a3f6"/>
                </a:solidFill>
                <a:latin typeface="Arial"/>
              </a:rPr>
              <a:t>КОНТЕКСТ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64748b"/>
                </a:solidFill>
                <a:latin typeface="Arial"/>
              </a:rPr>
              <a:t>Доход: </a:t>
            </a:r>
            <a:r>
              <a:rPr b="1" lang="ru-RU" sz="800" spc="-1" strike="noStrike">
                <a:solidFill>
                  <a:srgbClr val="0f1020"/>
                </a:solidFill>
                <a:latin typeface="Arial"/>
              </a:rPr>
              <a:t>[X ₽/мес]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64748b"/>
                </a:solidFill>
                <a:latin typeface="Arial"/>
              </a:rPr>
              <a:t>Город: </a:t>
            </a:r>
            <a:r>
              <a:rPr b="1" lang="ru-RU" sz="800" spc="-1" strike="noStrike">
                <a:solidFill>
                  <a:srgbClr val="0f1020"/>
                </a:solidFill>
                <a:latin typeface="Arial"/>
              </a:rPr>
              <a:t>[Город]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64748b"/>
                </a:solidFill>
                <a:latin typeface="Arial"/>
              </a:rPr>
              <a:t>Роль: </a:t>
            </a:r>
            <a:r>
              <a:rPr b="1" lang="ru-RU" sz="800" spc="-1" strike="noStrike">
                <a:solidFill>
                  <a:srgbClr val="0f1020"/>
                </a:solidFill>
                <a:latin typeface="Arial"/>
              </a:rPr>
              <a:t>[Должность, ситуация]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800" spc="-1" strike="noStrike">
                <a:solidFill>
                  <a:srgbClr val="94a3f6"/>
                </a:solidFill>
                <a:latin typeface="Arial"/>
              </a:rPr>
              <a:t>JOBS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0f1020"/>
                </a:solidFill>
                <a:latin typeface="Arial"/>
              </a:rPr>
              <a:t>• </a:t>
            </a:r>
            <a:r>
              <a:rPr b="0" lang="ru-RU" sz="800" spc="-1" strike="noStrike">
                <a:solidFill>
                  <a:srgbClr val="0f1020"/>
                </a:solidFill>
                <a:latin typeface="Arial"/>
              </a:rPr>
              <a:t>[Job 1]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0f1020"/>
                </a:solidFill>
                <a:latin typeface="Arial"/>
              </a:rPr>
              <a:t>• </a:t>
            </a:r>
            <a:r>
              <a:rPr b="0" lang="ru-RU" sz="800" spc="-1" strike="noStrike">
                <a:solidFill>
                  <a:srgbClr val="0f1020"/>
                </a:solidFill>
                <a:latin typeface="Arial"/>
              </a:rPr>
              <a:t>[Job 2]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0f1020"/>
                </a:solidFill>
                <a:latin typeface="Arial"/>
              </a:rPr>
              <a:t>• </a:t>
            </a:r>
            <a:r>
              <a:rPr b="0" lang="ru-RU" sz="800" spc="-1" strike="noStrike">
                <a:solidFill>
                  <a:srgbClr val="0f1020"/>
                </a:solidFill>
                <a:latin typeface="Arial"/>
              </a:rPr>
              <a:t>[Job 3]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800" spc="-1" strike="noStrike">
                <a:solidFill>
                  <a:srgbClr val="e57373"/>
                </a:solidFill>
                <a:latin typeface="Arial"/>
              </a:rPr>
              <a:t>БОЛЬ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0f1020"/>
                </a:solidFill>
                <a:latin typeface="Arial"/>
              </a:rPr>
              <a:t>[Топ-1 боль из Job Map]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PersonaFoot0"/>
          <p:cNvSpPr/>
          <p:nvPr/>
        </p:nvSpPr>
        <p:spPr>
          <a:xfrm>
            <a:off x="365760" y="4343400"/>
            <a:ext cx="2706120" cy="456840"/>
          </a:xfrm>
          <a:prstGeom prst="rect">
            <a:avLst/>
          </a:prstGeom>
          <a:solidFill>
            <a:srgbClr val="0f10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54720" bIns="54720" anchor="t">
            <a:noAutofit/>
          </a:bodyPr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ffffff"/>
                </a:solidFill>
                <a:latin typeface="Arial"/>
              </a:rPr>
              <a:t>«[Ключевая цитата из интервью]»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900" spc="-1" strike="noStrike">
                <a:solidFill>
                  <a:srgbClr val="94a3f6"/>
                </a:solidFill>
                <a:latin typeface="Arial"/>
              </a:rPr>
              <a:t>OS=[X]  |  [X руб.]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9" name="PersonaHead1"/>
          <p:cNvSpPr/>
          <p:nvPr/>
        </p:nvSpPr>
        <p:spPr>
          <a:xfrm>
            <a:off x="3127320" y="1280160"/>
            <a:ext cx="2706120" cy="502560"/>
          </a:xfrm>
          <a:prstGeom prst="rect">
            <a:avLst/>
          </a:prstGeom>
          <a:solidFill>
            <a:srgbClr val="6b7f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4520" rIns="164520" tIns="73080" bIns="73080" anchor="t">
            <a:noAutofit/>
          </a:bodyPr>
          <a:p>
            <a:pPr>
              <a:lnSpc>
                <a:spcPct val="100000"/>
              </a:lnSpc>
            </a:pPr>
            <a:r>
              <a:rPr b="1" lang="ru-RU" sz="1200" spc="-1" strike="noStrike">
                <a:solidFill>
                  <a:srgbClr val="ffffff"/>
                </a:solidFill>
                <a:latin typeface="Arial"/>
              </a:rPr>
              <a:t>[ИМЯ ПЕРСОНЫ 2]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e8eaf6"/>
                </a:solidFill>
                <a:latin typeface="Arial"/>
              </a:rPr>
              <a:t>[Возраст]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0" name="PersonaBody1"/>
          <p:cNvSpPr/>
          <p:nvPr/>
        </p:nvSpPr>
        <p:spPr>
          <a:xfrm>
            <a:off x="3127320" y="1783080"/>
            <a:ext cx="2706120" cy="2559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91440" bIns="91440" anchor="t">
            <a:noAutofit/>
          </a:bodyPr>
          <a:p>
            <a:pPr>
              <a:lnSpc>
                <a:spcPct val="100000"/>
              </a:lnSpc>
            </a:pPr>
            <a:r>
              <a:rPr b="1" lang="ru-RU" sz="800" spc="-1" strike="noStrike">
                <a:solidFill>
                  <a:srgbClr val="94a3f6"/>
                </a:solidFill>
                <a:latin typeface="Arial"/>
              </a:rPr>
              <a:t>КОНТЕКСТ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64748b"/>
                </a:solidFill>
                <a:latin typeface="Arial"/>
              </a:rPr>
              <a:t>Доход: </a:t>
            </a:r>
            <a:r>
              <a:rPr b="1" lang="ru-RU" sz="800" spc="-1" strike="noStrike">
                <a:solidFill>
                  <a:srgbClr val="0f1020"/>
                </a:solidFill>
                <a:latin typeface="Arial"/>
              </a:rPr>
              <a:t>[X ₽/мес]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64748b"/>
                </a:solidFill>
                <a:latin typeface="Arial"/>
              </a:rPr>
              <a:t>Город: </a:t>
            </a:r>
            <a:r>
              <a:rPr b="1" lang="ru-RU" sz="800" spc="-1" strike="noStrike">
                <a:solidFill>
                  <a:srgbClr val="0f1020"/>
                </a:solidFill>
                <a:latin typeface="Arial"/>
              </a:rPr>
              <a:t>[Город]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64748b"/>
                </a:solidFill>
                <a:latin typeface="Arial"/>
              </a:rPr>
              <a:t>Роль: </a:t>
            </a:r>
            <a:r>
              <a:rPr b="1" lang="ru-RU" sz="800" spc="-1" strike="noStrike">
                <a:solidFill>
                  <a:srgbClr val="0f1020"/>
                </a:solidFill>
                <a:latin typeface="Arial"/>
              </a:rPr>
              <a:t>[Должность, ситуация]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800" spc="-1" strike="noStrike">
                <a:solidFill>
                  <a:srgbClr val="94a3f6"/>
                </a:solidFill>
                <a:latin typeface="Arial"/>
              </a:rPr>
              <a:t>JOBS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0f1020"/>
                </a:solidFill>
                <a:latin typeface="Arial"/>
              </a:rPr>
              <a:t>• </a:t>
            </a:r>
            <a:r>
              <a:rPr b="0" lang="ru-RU" sz="800" spc="-1" strike="noStrike">
                <a:solidFill>
                  <a:srgbClr val="0f1020"/>
                </a:solidFill>
                <a:latin typeface="Arial"/>
              </a:rPr>
              <a:t>[Job 1]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0f1020"/>
                </a:solidFill>
                <a:latin typeface="Arial"/>
              </a:rPr>
              <a:t>• </a:t>
            </a:r>
            <a:r>
              <a:rPr b="0" lang="ru-RU" sz="800" spc="-1" strike="noStrike">
                <a:solidFill>
                  <a:srgbClr val="0f1020"/>
                </a:solidFill>
                <a:latin typeface="Arial"/>
              </a:rPr>
              <a:t>[Job 2]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0f1020"/>
                </a:solidFill>
                <a:latin typeface="Arial"/>
              </a:rPr>
              <a:t>• </a:t>
            </a:r>
            <a:r>
              <a:rPr b="0" lang="ru-RU" sz="800" spc="-1" strike="noStrike">
                <a:solidFill>
                  <a:srgbClr val="0f1020"/>
                </a:solidFill>
                <a:latin typeface="Arial"/>
              </a:rPr>
              <a:t>[Job 3]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800" spc="-1" strike="noStrike">
                <a:solidFill>
                  <a:srgbClr val="e57373"/>
                </a:solidFill>
                <a:latin typeface="Arial"/>
              </a:rPr>
              <a:t>БОЛЬ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0f1020"/>
                </a:solidFill>
                <a:latin typeface="Arial"/>
              </a:rPr>
              <a:t>[Топ-1 боль из Job Map]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PersonaFoot1"/>
          <p:cNvSpPr/>
          <p:nvPr/>
        </p:nvSpPr>
        <p:spPr>
          <a:xfrm>
            <a:off x="3127320" y="4343400"/>
            <a:ext cx="2706120" cy="456840"/>
          </a:xfrm>
          <a:prstGeom prst="rect">
            <a:avLst/>
          </a:prstGeom>
          <a:solidFill>
            <a:srgbClr val="0f10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54720" bIns="54720" anchor="t">
            <a:noAutofit/>
          </a:bodyPr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ffffff"/>
                </a:solidFill>
                <a:latin typeface="Arial"/>
              </a:rPr>
              <a:t>«[Ключевая цитата из интервью]»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900" spc="-1" strike="noStrike">
                <a:solidFill>
                  <a:srgbClr val="94a3f6"/>
                </a:solidFill>
                <a:latin typeface="Arial"/>
              </a:rPr>
              <a:t>OS=[X]  |  [X руб.]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2" name="PersonaHead2"/>
          <p:cNvSpPr/>
          <p:nvPr/>
        </p:nvSpPr>
        <p:spPr>
          <a:xfrm>
            <a:off x="5888880" y="1280160"/>
            <a:ext cx="2706120" cy="502560"/>
          </a:xfrm>
          <a:prstGeom prst="rect">
            <a:avLst/>
          </a:prstGeom>
          <a:solidFill>
            <a:srgbClr val="b8c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4520" rIns="164520" tIns="73080" bIns="73080" anchor="t">
            <a:noAutofit/>
          </a:bodyPr>
          <a:p>
            <a:pPr>
              <a:lnSpc>
                <a:spcPct val="100000"/>
              </a:lnSpc>
            </a:pPr>
            <a:r>
              <a:rPr b="1" lang="ru-RU" sz="1200" spc="-1" strike="noStrike">
                <a:solidFill>
                  <a:srgbClr val="ffffff"/>
                </a:solidFill>
                <a:latin typeface="Arial"/>
              </a:rPr>
              <a:t>[ИМЯ ПЕРСОНЫ 3]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e8eaf6"/>
                </a:solidFill>
                <a:latin typeface="Arial"/>
              </a:rPr>
              <a:t>[Возраст]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PersonaBody2"/>
          <p:cNvSpPr/>
          <p:nvPr/>
        </p:nvSpPr>
        <p:spPr>
          <a:xfrm>
            <a:off x="5888880" y="1783080"/>
            <a:ext cx="2706120" cy="2559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91440" bIns="91440" anchor="t">
            <a:noAutofit/>
          </a:bodyPr>
          <a:p>
            <a:pPr>
              <a:lnSpc>
                <a:spcPct val="100000"/>
              </a:lnSpc>
            </a:pPr>
            <a:r>
              <a:rPr b="1" lang="ru-RU" sz="800" spc="-1" strike="noStrike">
                <a:solidFill>
                  <a:srgbClr val="94a3f6"/>
                </a:solidFill>
                <a:latin typeface="Arial"/>
              </a:rPr>
              <a:t>КОНТЕКСТ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64748b"/>
                </a:solidFill>
                <a:latin typeface="Arial"/>
              </a:rPr>
              <a:t>Доход: </a:t>
            </a:r>
            <a:r>
              <a:rPr b="1" lang="ru-RU" sz="800" spc="-1" strike="noStrike">
                <a:solidFill>
                  <a:srgbClr val="0f1020"/>
                </a:solidFill>
                <a:latin typeface="Arial"/>
              </a:rPr>
              <a:t>[X ₽/мес]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64748b"/>
                </a:solidFill>
                <a:latin typeface="Arial"/>
              </a:rPr>
              <a:t>Город: </a:t>
            </a:r>
            <a:r>
              <a:rPr b="1" lang="ru-RU" sz="800" spc="-1" strike="noStrike">
                <a:solidFill>
                  <a:srgbClr val="0f1020"/>
                </a:solidFill>
                <a:latin typeface="Arial"/>
              </a:rPr>
              <a:t>[Город]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64748b"/>
                </a:solidFill>
                <a:latin typeface="Arial"/>
              </a:rPr>
              <a:t>Роль: </a:t>
            </a:r>
            <a:r>
              <a:rPr b="1" lang="ru-RU" sz="800" spc="-1" strike="noStrike">
                <a:solidFill>
                  <a:srgbClr val="0f1020"/>
                </a:solidFill>
                <a:latin typeface="Arial"/>
              </a:rPr>
              <a:t>[Должность, ситуация]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800" spc="-1" strike="noStrike">
                <a:solidFill>
                  <a:srgbClr val="94a3f6"/>
                </a:solidFill>
                <a:latin typeface="Arial"/>
              </a:rPr>
              <a:t>JOBS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0f1020"/>
                </a:solidFill>
                <a:latin typeface="Arial"/>
              </a:rPr>
              <a:t>• </a:t>
            </a:r>
            <a:r>
              <a:rPr b="0" lang="ru-RU" sz="800" spc="-1" strike="noStrike">
                <a:solidFill>
                  <a:srgbClr val="0f1020"/>
                </a:solidFill>
                <a:latin typeface="Arial"/>
              </a:rPr>
              <a:t>[Job 1]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0f1020"/>
                </a:solidFill>
                <a:latin typeface="Arial"/>
              </a:rPr>
              <a:t>• </a:t>
            </a:r>
            <a:r>
              <a:rPr b="0" lang="ru-RU" sz="800" spc="-1" strike="noStrike">
                <a:solidFill>
                  <a:srgbClr val="0f1020"/>
                </a:solidFill>
                <a:latin typeface="Arial"/>
              </a:rPr>
              <a:t>[Job 2]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0f1020"/>
                </a:solidFill>
                <a:latin typeface="Arial"/>
              </a:rPr>
              <a:t>• </a:t>
            </a:r>
            <a:r>
              <a:rPr b="0" lang="ru-RU" sz="800" spc="-1" strike="noStrike">
                <a:solidFill>
                  <a:srgbClr val="0f1020"/>
                </a:solidFill>
                <a:latin typeface="Arial"/>
              </a:rPr>
              <a:t>[Job 3]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800" spc="-1" strike="noStrike">
                <a:solidFill>
                  <a:srgbClr val="e57373"/>
                </a:solidFill>
                <a:latin typeface="Arial"/>
              </a:rPr>
              <a:t>БОЛЬ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0f1020"/>
                </a:solidFill>
                <a:latin typeface="Arial"/>
              </a:rPr>
              <a:t>[Топ-1 боль из Job Map]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PersonaFoot2"/>
          <p:cNvSpPr/>
          <p:nvPr/>
        </p:nvSpPr>
        <p:spPr>
          <a:xfrm>
            <a:off x="5888880" y="4343400"/>
            <a:ext cx="2706120" cy="456840"/>
          </a:xfrm>
          <a:prstGeom prst="rect">
            <a:avLst/>
          </a:prstGeom>
          <a:solidFill>
            <a:srgbClr val="0f10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54720" bIns="54720" anchor="t">
            <a:noAutofit/>
          </a:bodyPr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ffffff"/>
                </a:solidFill>
                <a:latin typeface="Arial"/>
              </a:rPr>
              <a:t>«[Ключевая цитата из интервью]»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900" spc="-1" strike="noStrike">
                <a:solidFill>
                  <a:srgbClr val="94a3f6"/>
                </a:solidFill>
                <a:latin typeface="Arial"/>
              </a:rPr>
              <a:t>OS=[X]  |  [X руб.]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5" name="Shape 3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6" name="Text 4"/>
          <p:cNvSpPr/>
          <p:nvPr/>
        </p:nvSpPr>
        <p:spPr>
          <a:xfrm>
            <a:off x="365760" y="4937760"/>
            <a:ext cx="64000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Источник: [указать источник]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Shape 0"/>
          <p:cNvSpPr/>
          <p:nvPr/>
        </p:nvSpPr>
        <p:spPr>
          <a:xfrm>
            <a:off x="0" y="0"/>
            <a:ext cx="319320" cy="5142960"/>
          </a:xfrm>
          <a:prstGeom prst="rect">
            <a:avLst/>
          </a:prstGeom>
          <a:solidFill>
            <a:srgbClr val="457e4a"/>
          </a:solidFill>
          <a:ln w="12700">
            <a:solidFill>
              <a:srgbClr val="457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8" name="Text 1"/>
          <p:cNvSpPr/>
          <p:nvPr/>
        </p:nvSpPr>
        <p:spPr>
          <a:xfrm>
            <a:off x="548640" y="1737360"/>
            <a:ext cx="8046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395" strike="noStrike">
                <a:solidFill>
                  <a:srgbClr val="457e4a"/>
                </a:solidFill>
                <a:latin typeface="Calibri"/>
                <a:ea typeface="Calibri"/>
              </a:rPr>
              <a:t>РАЗДЕЛ 03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9" name="Text 2"/>
          <p:cNvSpPr/>
          <p:nvPr/>
        </p:nvSpPr>
        <p:spPr>
          <a:xfrm>
            <a:off x="548640" y="2148840"/>
            <a:ext cx="80460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ffffff"/>
                </a:solidFill>
                <a:latin typeface="Calibri"/>
                <a:ea typeface="Calibri"/>
              </a:rPr>
              <a:t>Текущий стратегический сценарий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Shape 0"/>
          <p:cNvSpPr/>
          <p:nvPr/>
        </p:nvSpPr>
        <p:spPr>
          <a:xfrm>
            <a:off x="0" y="0"/>
            <a:ext cx="9143280" cy="68508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1" name="Text 1"/>
          <p:cNvSpPr/>
          <p:nvPr/>
        </p:nvSpPr>
        <p:spPr>
          <a:xfrm>
            <a:off x="365760" y="0"/>
            <a:ext cx="7314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Цели компании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Text 2"/>
          <p:cNvSpPr/>
          <p:nvPr/>
        </p:nvSpPr>
        <p:spPr>
          <a:xfrm>
            <a:off x="7132320" y="0"/>
            <a:ext cx="1828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94" strike="noStrike">
                <a:solidFill>
                  <a:srgbClr val="457e4a"/>
                </a:solidFill>
                <a:latin typeface="Calibri"/>
                <a:ea typeface="Calibri"/>
              </a:rPr>
              <a:t>СТРАТЕГИЧЕСКИЙ СЦЕНАРИЙ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Shape 3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4" name="Text 4"/>
          <p:cNvSpPr/>
          <p:nvPr/>
        </p:nvSpPr>
        <p:spPr>
          <a:xfrm>
            <a:off x="365760" y="4937760"/>
            <a:ext cx="64000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Источник: PD WD 2026; финансовая модель (базовый сценарий)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Shape 5"/>
          <p:cNvSpPr/>
          <p:nvPr/>
        </p:nvSpPr>
        <p:spPr>
          <a:xfrm>
            <a:off x="365760" y="868680"/>
            <a:ext cx="2559600" cy="132516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6" name="Shape 6"/>
          <p:cNvSpPr/>
          <p:nvPr/>
        </p:nvSpPr>
        <p:spPr>
          <a:xfrm>
            <a:off x="365760" y="868680"/>
            <a:ext cx="2559600" cy="54000"/>
          </a:xfrm>
          <a:prstGeom prst="rect">
            <a:avLst/>
          </a:prstGeom>
          <a:solidFill>
            <a:srgbClr val="94a3f6"/>
          </a:solidFill>
          <a:ln w="12700">
            <a:solidFill>
              <a:srgbClr val="94a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7" name="Text 7"/>
          <p:cNvSpPr/>
          <p:nvPr/>
        </p:nvSpPr>
        <p:spPr>
          <a:xfrm>
            <a:off x="365760" y="1051560"/>
            <a:ext cx="255960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94a3f6"/>
                </a:solidFill>
                <a:latin typeface="Calibri"/>
                <a:ea typeface="Calibri"/>
              </a:rPr>
              <a:t>0.5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Text 8"/>
          <p:cNvSpPr/>
          <p:nvPr/>
        </p:nvSpPr>
        <p:spPr>
          <a:xfrm>
            <a:off x="365760" y="1645920"/>
            <a:ext cx="255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Лет до окупаемости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Shape 9"/>
          <p:cNvSpPr/>
          <p:nvPr/>
        </p:nvSpPr>
        <p:spPr>
          <a:xfrm>
            <a:off x="3291840" y="868680"/>
            <a:ext cx="2559600" cy="132516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0" name="Shape 10"/>
          <p:cNvSpPr/>
          <p:nvPr/>
        </p:nvSpPr>
        <p:spPr>
          <a:xfrm>
            <a:off x="3291840" y="868680"/>
            <a:ext cx="2559600" cy="54000"/>
          </a:xfrm>
          <a:prstGeom prst="rect">
            <a:avLst/>
          </a:prstGeom>
          <a:solidFill>
            <a:srgbClr val="457e4a"/>
          </a:solidFill>
          <a:ln w="12700">
            <a:solidFill>
              <a:srgbClr val="457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1" name="Text 11"/>
          <p:cNvSpPr/>
          <p:nvPr/>
        </p:nvSpPr>
        <p:spPr>
          <a:xfrm>
            <a:off x="3291840" y="1051560"/>
            <a:ext cx="255960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457e4a"/>
                </a:solidFill>
                <a:latin typeface="Calibri"/>
                <a:ea typeface="Calibri"/>
              </a:rPr>
              <a:t>25 млн ₽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Text 12"/>
          <p:cNvSpPr/>
          <p:nvPr/>
        </p:nvSpPr>
        <p:spPr>
          <a:xfrm>
            <a:off x="3291840" y="1645920"/>
            <a:ext cx="255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Цель выручки (Y1)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Shape 13"/>
          <p:cNvSpPr/>
          <p:nvPr/>
        </p:nvSpPr>
        <p:spPr>
          <a:xfrm>
            <a:off x="6217920" y="868680"/>
            <a:ext cx="2559600" cy="132516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4" name="Shape 14"/>
          <p:cNvSpPr/>
          <p:nvPr/>
        </p:nvSpPr>
        <p:spPr>
          <a:xfrm>
            <a:off x="6217920" y="868680"/>
            <a:ext cx="2559600" cy="54000"/>
          </a:xfrm>
          <a:prstGeom prst="rect">
            <a:avLst/>
          </a:prstGeom>
          <a:solidFill>
            <a:srgbClr val="94a3f6"/>
          </a:solidFill>
          <a:ln w="12700">
            <a:solidFill>
              <a:srgbClr val="94a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5" name="Text 15"/>
          <p:cNvSpPr/>
          <p:nvPr/>
        </p:nvSpPr>
        <p:spPr>
          <a:xfrm>
            <a:off x="6217920" y="1051560"/>
            <a:ext cx="255960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94a3f6"/>
                </a:solidFill>
                <a:latin typeface="Calibri"/>
                <a:ea typeface="Calibri"/>
              </a:rPr>
              <a:t>2.4%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Text 16"/>
          <p:cNvSpPr/>
          <p:nvPr/>
        </p:nvSpPr>
        <p:spPr>
          <a:xfrm>
            <a:off x="6217920" y="1645920"/>
            <a:ext cx="255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Целевая доля рынка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Shape 17"/>
          <p:cNvSpPr/>
          <p:nvPr/>
        </p:nvSpPr>
        <p:spPr>
          <a:xfrm>
            <a:off x="365760" y="2377440"/>
            <a:ext cx="8411760" cy="233100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8" name="Shape 18"/>
          <p:cNvSpPr/>
          <p:nvPr/>
        </p:nvSpPr>
        <p:spPr>
          <a:xfrm>
            <a:off x="365760" y="2377440"/>
            <a:ext cx="8411760" cy="54000"/>
          </a:xfrm>
          <a:prstGeom prst="rect">
            <a:avLst/>
          </a:prstGeom>
          <a:solidFill>
            <a:srgbClr val="457e4a"/>
          </a:solidFill>
          <a:ln w="12700">
            <a:solidFill>
              <a:srgbClr val="457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9" name="Text 19"/>
          <p:cNvSpPr/>
          <p:nvPr/>
        </p:nvSpPr>
        <p:spPr>
          <a:xfrm>
            <a:off x="502920" y="2468880"/>
            <a:ext cx="81374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Стратегические цели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Text 20"/>
          <p:cNvSpPr/>
          <p:nvPr/>
        </p:nvSpPr>
        <p:spPr>
          <a:xfrm>
            <a:off x="475560" y="2834640"/>
            <a:ext cx="8192160" cy="180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Цель 1 (6–12 мес.): 10 платящих клиентов к мес. 3; GMV 25 млн ₽ за год 1; LTV/CAC ≥ 3x к мес. 6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Цель 2 (1–2 года): 200+ клиентов/год; GMV 80–100 млн ₽; pop-up шоурум в Москве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Цель 3 (3–5 лет): лидер ниши «крупные CVD-украшения» РФ; 10% SOM сегмента; экспансия в СНГ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KPI: новые клиенты/мес, GMV, LTV/CAC, Gross Margin, Break-even month, Retention 3 мес.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Shape 0"/>
          <p:cNvSpPr/>
          <p:nvPr/>
        </p:nvSpPr>
        <p:spPr>
          <a:xfrm>
            <a:off x="0" y="0"/>
            <a:ext cx="9143280" cy="68508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42" name="Text 1"/>
          <p:cNvSpPr/>
          <p:nvPr/>
        </p:nvSpPr>
        <p:spPr>
          <a:xfrm>
            <a:off x="365760" y="0"/>
            <a:ext cx="7314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Lean Canvas / BMC — бизнес-модель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Text 2"/>
          <p:cNvSpPr/>
          <p:nvPr/>
        </p:nvSpPr>
        <p:spPr>
          <a:xfrm>
            <a:off x="7132320" y="0"/>
            <a:ext cx="1828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94" strike="noStrike">
                <a:solidFill>
                  <a:srgbClr val="457e4a"/>
                </a:solidFill>
                <a:latin typeface="Calibri"/>
                <a:ea typeface="Calibri"/>
              </a:rPr>
              <a:t>СТРАТЕГИЧЕСКИЙ СЦЕНАРИЙ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Shape 3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45" name="Text 4"/>
          <p:cNvSpPr/>
          <p:nvPr/>
        </p:nvSpPr>
        <p:spPr>
          <a:xfrm>
            <a:off x="365760" y="4937760"/>
            <a:ext cx="64000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Источник: [указать источник]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Text 5"/>
          <p:cNvSpPr/>
          <p:nvPr/>
        </p:nvSpPr>
        <p:spPr>
          <a:xfrm>
            <a:off x="365760" y="777240"/>
            <a:ext cx="84117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94" strike="noStrike">
                <a:solidFill>
                  <a:srgbClr val="64748b"/>
                </a:solidFill>
                <a:latin typeface="Calibri"/>
                <a:ea typeface="Calibri"/>
              </a:rPr>
              <a:t>LEAN CANVAS / BMC — 9 БЛОКОВ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Shape 6"/>
          <p:cNvSpPr/>
          <p:nvPr/>
        </p:nvSpPr>
        <p:spPr>
          <a:xfrm>
            <a:off x="365760" y="960120"/>
            <a:ext cx="1553760" cy="41112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48" name="Text 7"/>
          <p:cNvSpPr/>
          <p:nvPr/>
        </p:nvSpPr>
        <p:spPr>
          <a:xfrm>
            <a:off x="365760" y="960120"/>
            <a:ext cx="1553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1. Проблема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Text 8"/>
          <p:cNvSpPr/>
          <p:nvPr/>
        </p:nvSpPr>
        <p:spPr>
          <a:xfrm>
            <a:off x="365760" y="1389960"/>
            <a:ext cx="1553760" cy="1142640"/>
          </a:xfrm>
          <a:prstGeom prst="rect">
            <a:avLst/>
          </a:prstGeom>
          <a:solidFill>
            <a:srgbClr val="e8ea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750" spc="-1" strike="noStrike">
                <a:solidFill>
                  <a:srgbClr val="0f1020"/>
                </a:solidFill>
                <a:latin typeface="Calibri"/>
                <a:ea typeface="Calibri"/>
              </a:rPr>
              <a:t>[Топ-3 проблемы целевых клиентов]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7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Shape 9"/>
          <p:cNvSpPr/>
          <p:nvPr/>
        </p:nvSpPr>
        <p:spPr>
          <a:xfrm>
            <a:off x="1974960" y="960120"/>
            <a:ext cx="1553760" cy="41112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51" name="Text 10"/>
          <p:cNvSpPr/>
          <p:nvPr/>
        </p:nvSpPr>
        <p:spPr>
          <a:xfrm>
            <a:off x="1974960" y="960120"/>
            <a:ext cx="1553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2. Сегменты (ранние последователи)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Text 11"/>
          <p:cNvSpPr/>
          <p:nvPr/>
        </p:nvSpPr>
        <p:spPr>
          <a:xfrm>
            <a:off x="1974960" y="1389960"/>
            <a:ext cx="1553760" cy="1142640"/>
          </a:xfrm>
          <a:prstGeom prst="rect">
            <a:avLst/>
          </a:prstGeom>
          <a:solidFill>
            <a:srgbClr val="e8ea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0f1020"/>
                </a:solidFill>
                <a:latin typeface="Calibri"/>
                <a:ea typeface="Calibri"/>
              </a:rPr>
              <a:t>[Кто они? Демография, поведение, ситуация]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Shape 12"/>
          <p:cNvSpPr/>
          <p:nvPr/>
        </p:nvSpPr>
        <p:spPr>
          <a:xfrm>
            <a:off x="3584520" y="960120"/>
            <a:ext cx="1553760" cy="41112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54" name="Text 13"/>
          <p:cNvSpPr/>
          <p:nvPr/>
        </p:nvSpPr>
        <p:spPr>
          <a:xfrm>
            <a:off x="3584520" y="960120"/>
            <a:ext cx="1553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3. Уникальное ЦП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Text 14"/>
          <p:cNvSpPr/>
          <p:nvPr/>
        </p:nvSpPr>
        <p:spPr>
          <a:xfrm>
            <a:off x="3584520" y="1389960"/>
            <a:ext cx="1553760" cy="1142640"/>
          </a:xfrm>
          <a:prstGeom prst="rect">
            <a:avLst/>
          </a:prstGeom>
          <a:solidFill>
            <a:srgbClr val="e8ea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0f1020"/>
                </a:solidFill>
                <a:latin typeface="Calibri"/>
                <a:ea typeface="Calibri"/>
              </a:rPr>
              <a:t>[Уникальное ценностное предложение]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Shape 15"/>
          <p:cNvSpPr/>
          <p:nvPr/>
        </p:nvSpPr>
        <p:spPr>
          <a:xfrm>
            <a:off x="5193720" y="960120"/>
            <a:ext cx="1553760" cy="41112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57" name="Text 16"/>
          <p:cNvSpPr/>
          <p:nvPr/>
        </p:nvSpPr>
        <p:spPr>
          <a:xfrm>
            <a:off x="5193720" y="960120"/>
            <a:ext cx="1553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4. Решение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Text 17"/>
          <p:cNvSpPr/>
          <p:nvPr/>
        </p:nvSpPr>
        <p:spPr>
          <a:xfrm>
            <a:off x="5193720" y="1389960"/>
            <a:ext cx="1553760" cy="1142640"/>
          </a:xfrm>
          <a:prstGeom prst="rect">
            <a:avLst/>
          </a:prstGeom>
          <a:solidFill>
            <a:srgbClr val="e8ea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750" spc="-1" strike="noStrike">
                <a:solidFill>
                  <a:srgbClr val="0f1020"/>
                </a:solidFill>
                <a:latin typeface="Calibri"/>
                <a:ea typeface="Calibri"/>
              </a:rPr>
              <a:t>[Как решаем: топ-3 фичи]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7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Shape 18"/>
          <p:cNvSpPr/>
          <p:nvPr/>
        </p:nvSpPr>
        <p:spPr>
          <a:xfrm>
            <a:off x="6803280" y="960120"/>
            <a:ext cx="1553760" cy="411120"/>
          </a:xfrm>
          <a:prstGeom prst="rect">
            <a:avLst/>
          </a:prstGeom>
          <a:solidFill>
            <a:srgbClr val="457e4a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0" name="Text 19"/>
          <p:cNvSpPr/>
          <p:nvPr/>
        </p:nvSpPr>
        <p:spPr>
          <a:xfrm>
            <a:off x="6803280" y="960120"/>
            <a:ext cx="1553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5. Каналы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Text 20"/>
          <p:cNvSpPr/>
          <p:nvPr/>
        </p:nvSpPr>
        <p:spPr>
          <a:xfrm>
            <a:off x="6803280" y="1389960"/>
            <a:ext cx="1553760" cy="1142640"/>
          </a:xfrm>
          <a:prstGeom prst="rect">
            <a:avLst/>
          </a:prstGeom>
          <a:solidFill>
            <a:srgbClr val="e8ea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0f1020"/>
                </a:solidFill>
                <a:latin typeface="Calibri"/>
                <a:ea typeface="Calibri"/>
              </a:rPr>
              <a:t>[Каналы привлечения и удержания]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Shape 21"/>
          <p:cNvSpPr/>
          <p:nvPr/>
        </p:nvSpPr>
        <p:spPr>
          <a:xfrm>
            <a:off x="365760" y="2606040"/>
            <a:ext cx="4205520" cy="98712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3" name="Shape 22"/>
          <p:cNvSpPr/>
          <p:nvPr/>
        </p:nvSpPr>
        <p:spPr>
          <a:xfrm>
            <a:off x="365760" y="2606040"/>
            <a:ext cx="4205520" cy="54000"/>
          </a:xfrm>
          <a:prstGeom prst="rect">
            <a:avLst/>
          </a:prstGeom>
          <a:solidFill>
            <a:srgbClr val="457e4a"/>
          </a:solidFill>
          <a:ln w="12700">
            <a:solidFill>
              <a:srgbClr val="457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4" name="Text 23"/>
          <p:cNvSpPr/>
          <p:nvPr/>
        </p:nvSpPr>
        <p:spPr>
          <a:xfrm>
            <a:off x="502920" y="2697480"/>
            <a:ext cx="3931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6. Потоки дохода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Text 24"/>
          <p:cNvSpPr/>
          <p:nvPr/>
        </p:nvSpPr>
        <p:spPr>
          <a:xfrm>
            <a:off x="475560" y="3063240"/>
            <a:ext cx="398592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[Подписка / разовые / комиссия. Средний чек: X руб.]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Shape 25"/>
          <p:cNvSpPr/>
          <p:nvPr/>
        </p:nvSpPr>
        <p:spPr>
          <a:xfrm>
            <a:off x="4754880" y="2606040"/>
            <a:ext cx="4205520" cy="98712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7" name="Shape 26"/>
          <p:cNvSpPr/>
          <p:nvPr/>
        </p:nvSpPr>
        <p:spPr>
          <a:xfrm>
            <a:off x="4754880" y="2606040"/>
            <a:ext cx="4205520" cy="54000"/>
          </a:xfrm>
          <a:prstGeom prst="rect">
            <a:avLst/>
          </a:prstGeom>
          <a:solidFill>
            <a:srgbClr val="94a3f6"/>
          </a:solidFill>
          <a:ln w="12700">
            <a:solidFill>
              <a:srgbClr val="94a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8" name="Text 27"/>
          <p:cNvSpPr/>
          <p:nvPr/>
        </p:nvSpPr>
        <p:spPr>
          <a:xfrm>
            <a:off x="4892040" y="2697480"/>
            <a:ext cx="3931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7. Структура затрат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Text 28"/>
          <p:cNvSpPr/>
          <p:nvPr/>
        </p:nvSpPr>
        <p:spPr>
          <a:xfrm>
            <a:off x="4864680" y="3063240"/>
            <a:ext cx="398592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[Фиксированные: X руб. | Переменные: Y руб. | CAC: Z руб.]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Shape 29"/>
          <p:cNvSpPr/>
          <p:nvPr/>
        </p:nvSpPr>
        <p:spPr>
          <a:xfrm>
            <a:off x="365760" y="3657600"/>
            <a:ext cx="4205520" cy="98712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1" name="Shape 30"/>
          <p:cNvSpPr/>
          <p:nvPr/>
        </p:nvSpPr>
        <p:spPr>
          <a:xfrm>
            <a:off x="365760" y="3657600"/>
            <a:ext cx="4205520" cy="54000"/>
          </a:xfrm>
          <a:prstGeom prst="rect">
            <a:avLst/>
          </a:prstGeom>
          <a:solidFill>
            <a:srgbClr val="457e4a"/>
          </a:solidFill>
          <a:ln w="12700">
            <a:solidFill>
              <a:srgbClr val="457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2" name="Text 31"/>
          <p:cNvSpPr/>
          <p:nvPr/>
        </p:nvSpPr>
        <p:spPr>
          <a:xfrm>
            <a:off x="502920" y="3749040"/>
            <a:ext cx="3931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8. Ключевые метрики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Text 32"/>
          <p:cNvSpPr/>
          <p:nvPr/>
        </p:nvSpPr>
        <p:spPr>
          <a:xfrm>
            <a:off x="475560" y="4114800"/>
            <a:ext cx="398592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[MRR / GMV / Retention / LTV/CAC]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Shape 33"/>
          <p:cNvSpPr/>
          <p:nvPr/>
        </p:nvSpPr>
        <p:spPr>
          <a:xfrm>
            <a:off x="4754880" y="3657600"/>
            <a:ext cx="4205520" cy="98712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5" name="Shape 34"/>
          <p:cNvSpPr/>
          <p:nvPr/>
        </p:nvSpPr>
        <p:spPr>
          <a:xfrm>
            <a:off x="4754880" y="3657600"/>
            <a:ext cx="4205520" cy="54000"/>
          </a:xfrm>
          <a:prstGeom prst="rect">
            <a:avLst/>
          </a:prstGeom>
          <a:solidFill>
            <a:srgbClr val="94a3f6"/>
          </a:solidFill>
          <a:ln w="12700">
            <a:solidFill>
              <a:srgbClr val="94a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6" name="Text 35"/>
          <p:cNvSpPr/>
          <p:nvPr/>
        </p:nvSpPr>
        <p:spPr>
          <a:xfrm>
            <a:off x="4892040" y="3749040"/>
            <a:ext cx="3931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9. Нечестное преимущество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Text 36"/>
          <p:cNvSpPr/>
          <p:nvPr/>
        </p:nvSpPr>
        <p:spPr>
          <a:xfrm>
            <a:off x="4864680" y="4114800"/>
            <a:ext cx="398592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[Что сложно скопировать: технология, данные, партнёрства, бренд]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Shape 0"/>
          <p:cNvSpPr/>
          <p:nvPr/>
        </p:nvSpPr>
        <p:spPr>
          <a:xfrm>
            <a:off x="0" y="0"/>
            <a:ext cx="9143280" cy="68508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9" name="Text 1"/>
          <p:cNvSpPr/>
          <p:nvPr/>
        </p:nvSpPr>
        <p:spPr>
          <a:xfrm>
            <a:off x="365760" y="0"/>
            <a:ext cx="7314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PAC — Product Attribute Canvas (4 мира)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Text 2"/>
          <p:cNvSpPr/>
          <p:nvPr/>
        </p:nvSpPr>
        <p:spPr>
          <a:xfrm>
            <a:off x="7132320" y="0"/>
            <a:ext cx="1828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94" strike="noStrike">
                <a:solidFill>
                  <a:srgbClr val="457e4a"/>
                </a:solidFill>
                <a:latin typeface="Calibri"/>
                <a:ea typeface="Calibri"/>
              </a:rPr>
              <a:t>СТРАТЕГИЧЕСКИЙ СЦЕНАРИЙ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Shape 3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2" name="Text 4"/>
          <p:cNvSpPr/>
          <p:nvPr/>
        </p:nvSpPr>
        <p:spPr>
          <a:xfrm>
            <a:off x="365760" y="4937760"/>
            <a:ext cx="64000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Источник: PAC (Product Attribute Canvas); PD WD 2026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Shape 5"/>
          <p:cNvSpPr/>
          <p:nvPr/>
        </p:nvSpPr>
        <p:spPr>
          <a:xfrm>
            <a:off x="365760" y="868680"/>
            <a:ext cx="4205520" cy="182808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4" name="Shape 6"/>
          <p:cNvSpPr/>
          <p:nvPr/>
        </p:nvSpPr>
        <p:spPr>
          <a:xfrm>
            <a:off x="365760" y="868680"/>
            <a:ext cx="4205520" cy="54000"/>
          </a:xfrm>
          <a:prstGeom prst="rect">
            <a:avLst/>
          </a:prstGeom>
          <a:solidFill>
            <a:srgbClr val="457e4a"/>
          </a:solidFill>
          <a:ln w="12700">
            <a:solidFill>
              <a:srgbClr val="457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5" name="Text 7"/>
          <p:cNvSpPr/>
          <p:nvPr/>
        </p:nvSpPr>
        <p:spPr>
          <a:xfrm>
            <a:off x="502920" y="960120"/>
            <a:ext cx="3931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🧑 </a:t>
            </a:r>
            <a:r>
              <a:rPr b="1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Customer World — сегменты и Jobs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Text 8"/>
          <p:cNvSpPr/>
          <p:nvPr/>
        </p:nvSpPr>
        <p:spPr>
          <a:xfrm>
            <a:off x="475560" y="1325880"/>
            <a:ext cx="3985920" cy="12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Сегмент: Анна 28–42, доход 200K+ ₽/мес. Ситуация: хочет украшение с крупным бриллиантом, но нат. 5ct = 1–5M ₽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Jobs: 1) Купить украшение с крупным бриллиантом 2) Выглядеть дорого и статусно 3) Убедиться в подлинности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ЦП «CVD 6ct+ от производителя с IGI» закрывает все 3 Jobs: доступная цена × размер × сертификат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Shape 9"/>
          <p:cNvSpPr/>
          <p:nvPr/>
        </p:nvSpPr>
        <p:spPr>
          <a:xfrm>
            <a:off x="4754880" y="868680"/>
            <a:ext cx="4205520" cy="182808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8" name="Shape 10"/>
          <p:cNvSpPr/>
          <p:nvPr/>
        </p:nvSpPr>
        <p:spPr>
          <a:xfrm>
            <a:off x="4754880" y="868680"/>
            <a:ext cx="4205520" cy="54000"/>
          </a:xfrm>
          <a:prstGeom prst="rect">
            <a:avLst/>
          </a:prstGeom>
          <a:solidFill>
            <a:srgbClr val="94a3f6"/>
          </a:solidFill>
          <a:ln w="12700">
            <a:solidFill>
              <a:srgbClr val="94a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9" name="Text 11"/>
          <p:cNvSpPr/>
          <p:nvPr/>
        </p:nvSpPr>
        <p:spPr>
          <a:xfrm>
            <a:off x="4892040" y="960120"/>
            <a:ext cx="3931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⚔️ </a:t>
            </a:r>
            <a:r>
              <a:rPr b="1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Competitor World — дифференциация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Text 12"/>
          <p:cNvSpPr/>
          <p:nvPr/>
        </p:nvSpPr>
        <p:spPr>
          <a:xfrm>
            <a:off x="4864680" y="1325880"/>
            <a:ext cx="3985920" cy="12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IQ Diamonds/EcoDiam: нет камней &gt;3ct. Bright Spark: кастом долго. WD: готовые 6ct+ D2C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Sunlight: мелкие камни (мах 1ct). SOKOLOV: нат. за 1–5M. WD — нишу 6ct+ за 150–350K никто не занял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WD закрывает OS=16 «Доступный крупный CVD 6ct+» — ни один игрок D2C этого не делает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Shape 13"/>
          <p:cNvSpPr/>
          <p:nvPr/>
        </p:nvSpPr>
        <p:spPr>
          <a:xfrm>
            <a:off x="365760" y="2834640"/>
            <a:ext cx="4205520" cy="182808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92" name="Shape 14"/>
          <p:cNvSpPr/>
          <p:nvPr/>
        </p:nvSpPr>
        <p:spPr>
          <a:xfrm>
            <a:off x="365760" y="2834640"/>
            <a:ext cx="4205520" cy="54000"/>
          </a:xfrm>
          <a:prstGeom prst="rect">
            <a:avLst/>
          </a:prstGeom>
          <a:solidFill>
            <a:srgbClr val="457e4a"/>
          </a:solidFill>
          <a:ln w="12700">
            <a:solidFill>
              <a:srgbClr val="457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93" name="Text 15"/>
          <p:cNvSpPr/>
          <p:nvPr/>
        </p:nvSpPr>
        <p:spPr>
          <a:xfrm>
            <a:off x="502920" y="2926080"/>
            <a:ext cx="3931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📦 </a:t>
            </a:r>
            <a:r>
              <a:rPr b="1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Distribution World — активация и рост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Text 16"/>
          <p:cNvSpPr/>
          <p:nvPr/>
        </p:nvSpPr>
        <p:spPr>
          <a:xfrm>
            <a:off x="475560" y="3291840"/>
            <a:ext cx="3985920" cy="12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Aha: «Это IGI-сертифицированный бриллиант 6ct за 295K вместо 3M ₽» — момент сравнения цены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Покупка → распаковка (фирм. упаковка) → контент «моё новое украшение» → реферальный бонус 5%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Shape 17"/>
          <p:cNvSpPr/>
          <p:nvPr/>
        </p:nvSpPr>
        <p:spPr>
          <a:xfrm>
            <a:off x="4754880" y="2834640"/>
            <a:ext cx="4205520" cy="182808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96" name="Shape 18"/>
          <p:cNvSpPr/>
          <p:nvPr/>
        </p:nvSpPr>
        <p:spPr>
          <a:xfrm>
            <a:off x="4754880" y="2834640"/>
            <a:ext cx="4205520" cy="54000"/>
          </a:xfrm>
          <a:prstGeom prst="rect">
            <a:avLst/>
          </a:prstGeom>
          <a:solidFill>
            <a:srgbClr val="94a3f6"/>
          </a:solidFill>
          <a:ln w="12700">
            <a:solidFill>
              <a:srgbClr val="94a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97" name="Text 19"/>
          <p:cNvSpPr/>
          <p:nvPr/>
        </p:nvSpPr>
        <p:spPr>
          <a:xfrm>
            <a:off x="4892040" y="2926080"/>
            <a:ext cx="3931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🔧 </a:t>
            </a:r>
            <a:r>
              <a:rPr b="1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Product World — фичи и уникальные свойства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Text 20"/>
          <p:cNvSpPr/>
          <p:nvPr/>
        </p:nvSpPr>
        <p:spPr>
          <a:xfrm>
            <a:off x="4864680" y="3291840"/>
            <a:ext cx="3985920" cy="12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Фича 1: Линейка Classic 6ct+ → «Когда хочу заметное украшение, беру пусеты 6ct, чтобы не платить 2M ₽»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Фича 2: Price-calculator: «WD vs натуральный аналог» — визуализирует экономию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Фича 3: Программа апгрейда камня через 12 мес. — удержание + рост LTV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Shape 0"/>
          <p:cNvSpPr/>
          <p:nvPr/>
        </p:nvSpPr>
        <p:spPr>
          <a:xfrm>
            <a:off x="0" y="0"/>
            <a:ext cx="9143280" cy="68508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00" name="Text 1"/>
          <p:cNvSpPr/>
          <p:nvPr/>
        </p:nvSpPr>
        <p:spPr>
          <a:xfrm>
            <a:off x="365760" y="0"/>
            <a:ext cx="7314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SWOT-анализ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Text 2"/>
          <p:cNvSpPr/>
          <p:nvPr/>
        </p:nvSpPr>
        <p:spPr>
          <a:xfrm>
            <a:off x="7132320" y="0"/>
            <a:ext cx="1828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94" strike="noStrike">
                <a:solidFill>
                  <a:srgbClr val="457e4a"/>
                </a:solidFill>
                <a:latin typeface="Calibri"/>
                <a:ea typeface="Calibri"/>
              </a:rPr>
              <a:t>СТРАТЕГИЧЕСКИЙ СЦЕНАРИЙ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Shape 3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03" name="Text 4"/>
          <p:cNvSpPr/>
          <p:nvPr/>
        </p:nvSpPr>
        <p:spPr>
          <a:xfrm>
            <a:off x="365760" y="4937760"/>
            <a:ext cx="64000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Источник: PD WD 2026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Shape 5"/>
          <p:cNvSpPr/>
          <p:nvPr/>
        </p:nvSpPr>
        <p:spPr>
          <a:xfrm>
            <a:off x="365760" y="868680"/>
            <a:ext cx="4205520" cy="178236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05" name="Shape 6"/>
          <p:cNvSpPr/>
          <p:nvPr/>
        </p:nvSpPr>
        <p:spPr>
          <a:xfrm>
            <a:off x="365760" y="868680"/>
            <a:ext cx="4205520" cy="54000"/>
          </a:xfrm>
          <a:prstGeom prst="rect">
            <a:avLst/>
          </a:prstGeom>
          <a:solidFill>
            <a:srgbClr val="457e4a"/>
          </a:solidFill>
          <a:ln w="12700">
            <a:solidFill>
              <a:srgbClr val="457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06" name="Text 7"/>
          <p:cNvSpPr/>
          <p:nvPr/>
        </p:nvSpPr>
        <p:spPr>
          <a:xfrm>
            <a:off x="502920" y="960120"/>
            <a:ext cx="3931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Сильные стороны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Text 8"/>
          <p:cNvSpPr/>
          <p:nvPr/>
        </p:nvSpPr>
        <p:spPr>
          <a:xfrm>
            <a:off x="475560" y="1325880"/>
            <a:ext cx="3985920" cy="125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Собственное производство Wonder Technology — контроль COGS, D2C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Специализация на CVD 6ct+ — нет аналогов на рынке РФ (white space)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D2C без посредников → Gross Margin 65% (vs 30–40% у магазинов)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IGI-сертификация — международный стандарт, устраняет барьер доверия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Shape 9"/>
          <p:cNvSpPr/>
          <p:nvPr/>
        </p:nvSpPr>
        <p:spPr>
          <a:xfrm>
            <a:off x="4754880" y="868680"/>
            <a:ext cx="4205520" cy="178236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09" name="Shape 10"/>
          <p:cNvSpPr/>
          <p:nvPr/>
        </p:nvSpPr>
        <p:spPr>
          <a:xfrm>
            <a:off x="4754880" y="868680"/>
            <a:ext cx="4205520" cy="54000"/>
          </a:xfrm>
          <a:prstGeom prst="rect">
            <a:avLst/>
          </a:prstGeom>
          <a:solidFill>
            <a:srgbClr val="f5939e"/>
          </a:solidFill>
          <a:ln w="12700">
            <a:solidFill>
              <a:srgbClr val="f593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10" name="Text 11"/>
          <p:cNvSpPr/>
          <p:nvPr/>
        </p:nvSpPr>
        <p:spPr>
          <a:xfrm>
            <a:off x="4892040" y="960120"/>
            <a:ext cx="3931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Слабые стороны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Text 12"/>
          <p:cNvSpPr/>
          <p:nvPr/>
        </p:nvSpPr>
        <p:spPr>
          <a:xfrm>
            <a:off x="4864680" y="1325880"/>
            <a:ext cx="3985920" cy="125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Нет клиентов и выручки — MVP стадия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Нет физического шоурума — барьер для покупки 200K+ ₽ онлайн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LTV/CAC = 1.84x в базовом — ниже порога 3x для pre-seed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Shape 13"/>
          <p:cNvSpPr/>
          <p:nvPr/>
        </p:nvSpPr>
        <p:spPr>
          <a:xfrm>
            <a:off x="365760" y="2834640"/>
            <a:ext cx="4205520" cy="178236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13" name="Shape 14"/>
          <p:cNvSpPr/>
          <p:nvPr/>
        </p:nvSpPr>
        <p:spPr>
          <a:xfrm>
            <a:off x="365760" y="2834640"/>
            <a:ext cx="4205520" cy="54000"/>
          </a:xfrm>
          <a:prstGeom prst="rect">
            <a:avLst/>
          </a:prstGeom>
          <a:solidFill>
            <a:srgbClr val="94a3f6"/>
          </a:solidFill>
          <a:ln w="12700">
            <a:solidFill>
              <a:srgbClr val="94a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14" name="Text 15"/>
          <p:cNvSpPr/>
          <p:nvPr/>
        </p:nvSpPr>
        <p:spPr>
          <a:xfrm>
            <a:off x="502920" y="2926080"/>
            <a:ext cx="3931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Возможности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Text 16"/>
          <p:cNvSpPr/>
          <p:nvPr/>
        </p:nvSpPr>
        <p:spPr>
          <a:xfrm>
            <a:off x="475560" y="3291840"/>
            <a:ext cx="3985920" cy="125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CVD занял 20% глобального рынка — категория легитимизирована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E-commerce ювелирки → 35% к 2026 — попутный ветер онлайн-модели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Ниша 6ct+ свободна: ни Sunlight, ни SOKOLOV, ни IQ Diamonds не предлагают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Shape 17"/>
          <p:cNvSpPr/>
          <p:nvPr/>
        </p:nvSpPr>
        <p:spPr>
          <a:xfrm>
            <a:off x="4754880" y="2834640"/>
            <a:ext cx="4205520" cy="178236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17" name="Shape 18"/>
          <p:cNvSpPr/>
          <p:nvPr/>
        </p:nvSpPr>
        <p:spPr>
          <a:xfrm>
            <a:off x="4754880" y="2834640"/>
            <a:ext cx="4205520" cy="54000"/>
          </a:xfrm>
          <a:prstGeom prst="rect">
            <a:avLst/>
          </a:prstGeom>
          <a:solidFill>
            <a:srgbClr val="6b7fe3"/>
          </a:solidFill>
          <a:ln w="12700">
            <a:solidFill>
              <a:srgbClr val="6b7f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18" name="Text 19"/>
          <p:cNvSpPr/>
          <p:nvPr/>
        </p:nvSpPr>
        <p:spPr>
          <a:xfrm>
            <a:off x="4892040" y="2926080"/>
            <a:ext cx="3931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Угрозы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Text 20"/>
          <p:cNvSpPr/>
          <p:nvPr/>
        </p:nvSpPr>
        <p:spPr>
          <a:xfrm>
            <a:off x="4864680" y="3291840"/>
            <a:ext cx="3985920" cy="125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Sunlight может запустить крупные CVD в Cold Diamonds — ценовая война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ГИИС ДМДК (334-ФЗ с 01.03.2026) — compliance обязателен, риск стопа продаж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Стигма «синтетика» у аудитории 45+ ограничивает addressable market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Shape 0"/>
          <p:cNvSpPr/>
          <p:nvPr/>
        </p:nvSpPr>
        <p:spPr>
          <a:xfrm>
            <a:off x="0" y="0"/>
            <a:ext cx="9143280" cy="68508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21" name="Text 1"/>
          <p:cNvSpPr/>
          <p:nvPr/>
        </p:nvSpPr>
        <p:spPr>
          <a:xfrm>
            <a:off x="365760" y="0"/>
            <a:ext cx="7314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Консистентность сценария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Text 2"/>
          <p:cNvSpPr/>
          <p:nvPr/>
        </p:nvSpPr>
        <p:spPr>
          <a:xfrm>
            <a:off x="7132320" y="0"/>
            <a:ext cx="1828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94" strike="noStrike">
                <a:solidFill>
                  <a:srgbClr val="457e4a"/>
                </a:solidFill>
                <a:latin typeface="Calibri"/>
                <a:ea typeface="Calibri"/>
              </a:rPr>
              <a:t>СТРАТЕГИЧЕСКИЙ СЦЕНАРИЙ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Subtitle"/>
          <p:cNvSpPr/>
          <p:nvPr/>
        </p:nvSpPr>
        <p:spPr>
          <a:xfrm>
            <a:off x="365760" y="868680"/>
            <a:ext cx="8412120" cy="365400"/>
          </a:xfrm>
          <a:prstGeom prst="rect">
            <a:avLst/>
          </a:prstGeom>
          <a:solidFill>
            <a:srgbClr val="0f10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</a:pPr>
            <a:r>
              <a:rPr b="1" lang="ru-RU" sz="1000" spc="-1" strike="noStrike">
                <a:solidFill>
                  <a:srgbClr val="94a3f6"/>
                </a:solidFill>
                <a:latin typeface="Arial"/>
              </a:rPr>
              <a:t>Проверка сценария по трём критериям (Желательность / Жизнеспособность / Реализуемость)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4" name="CritHead0"/>
          <p:cNvSpPr/>
          <p:nvPr/>
        </p:nvSpPr>
        <p:spPr>
          <a:xfrm>
            <a:off x="365760" y="1280160"/>
            <a:ext cx="2706120" cy="685440"/>
          </a:xfrm>
          <a:prstGeom prst="rect">
            <a:avLst/>
          </a:prstGeom>
          <a:solidFill>
            <a:srgbClr val="4a8a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</a:pPr>
            <a:r>
              <a:rPr b="1" lang="ru-RU" sz="1100" spc="-1" strike="noStrike">
                <a:solidFill>
                  <a:srgbClr val="ffffff"/>
                </a:solidFill>
                <a:latin typeface="Arial"/>
              </a:rPr>
              <a:t>✅ </a:t>
            </a:r>
            <a:r>
              <a:rPr b="1" lang="ru-RU" sz="1100" spc="-1" strike="noStrike">
                <a:solidFill>
                  <a:srgbClr val="ffffff"/>
                </a:solidFill>
                <a:latin typeface="Arial"/>
              </a:rPr>
              <a:t>ЖЕЛАТЕЛЬНОСТЬ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ffffff"/>
                </a:solidFill>
                <a:latin typeface="Arial"/>
              </a:rPr>
              <a:t>ЦП закрывает Jobs-to-be-Done?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5" name="CritBody0"/>
          <p:cNvSpPr/>
          <p:nvPr/>
        </p:nvSpPr>
        <p:spPr>
          <a:xfrm>
            <a:off x="365760" y="1965960"/>
            <a:ext cx="2706120" cy="18741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4520" rIns="164520" tIns="109800" bIns="109800" anchor="t">
            <a:noAutofit/>
          </a:bodyPr>
          <a:p>
            <a:pPr>
              <a:lnSpc>
                <a:spcPct val="100000"/>
              </a:lnSpc>
            </a:pPr>
            <a:r>
              <a:rPr b="1" lang="ru-RU" sz="800" spc="-1" strike="noStrike">
                <a:solidFill>
                  <a:srgbClr val="94a3f6"/>
                </a:solidFill>
                <a:latin typeface="Arial"/>
              </a:rPr>
              <a:t>ОБОСНОВАНИЕ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f1020"/>
                </a:solidFill>
                <a:latin typeface="Arial"/>
              </a:rPr>
              <a:t>[Как ЦП закрывает топ-Jobs из Job Map — кратко]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800" spc="-1" strike="noStrike">
                <a:solidFill>
                  <a:srgbClr val="94a3f6"/>
                </a:solidFill>
                <a:latin typeface="Arial"/>
              </a:rPr>
              <a:t>КЛЮЧЕВЫЕ МЕТРИКИ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f1020"/>
                </a:solidFill>
                <a:latin typeface="Arial"/>
              </a:rPr>
              <a:t>[Топ-3 outcomes закрываемых ЦП]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CritFoot0"/>
          <p:cNvSpPr/>
          <p:nvPr/>
        </p:nvSpPr>
        <p:spPr>
          <a:xfrm>
            <a:off x="365760" y="3840480"/>
            <a:ext cx="2706120" cy="456840"/>
          </a:xfrm>
          <a:prstGeom prst="rect">
            <a:avLst/>
          </a:prstGeom>
          <a:solidFill>
            <a:srgbClr val="4a8a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09800" bIns="109800" anchor="t">
            <a:noAutofit/>
          </a:bodyPr>
          <a:p>
            <a:pPr algn="ctr">
              <a:lnSpc>
                <a:spcPct val="100000"/>
              </a:lnSpc>
            </a:pPr>
            <a:r>
              <a:rPr b="0" lang="ru-RU" sz="900" spc="-1" strike="noStrike">
                <a:solidFill>
                  <a:srgbClr val="e8eaf6"/>
                </a:solidFill>
                <a:latin typeface="Arial"/>
              </a:rPr>
              <a:t>СТАТУС: </a:t>
            </a:r>
            <a:r>
              <a:rPr b="1" lang="ru-RU" sz="900" spc="-1" strike="noStrike">
                <a:solidFill>
                  <a:srgbClr val="ffffff"/>
                </a:solidFill>
                <a:latin typeface="Arial"/>
              </a:rPr>
              <a:t>[✅ / ⚠️ / ❌]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7" name="CritHead1"/>
          <p:cNvSpPr/>
          <p:nvPr/>
        </p:nvSpPr>
        <p:spPr>
          <a:xfrm>
            <a:off x="3127320" y="1280160"/>
            <a:ext cx="2706120" cy="685440"/>
          </a:xfrm>
          <a:prstGeom prst="rect">
            <a:avLst/>
          </a:prstGeom>
          <a:solidFill>
            <a:srgbClr val="d68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</a:pPr>
            <a:r>
              <a:rPr b="1" lang="ru-RU" sz="1100" spc="-1" strike="noStrike">
                <a:solidFill>
                  <a:srgbClr val="ffffff"/>
                </a:solidFill>
                <a:latin typeface="Arial"/>
              </a:rPr>
              <a:t>⚠️ </a:t>
            </a:r>
            <a:r>
              <a:rPr b="1" lang="ru-RU" sz="1100" spc="-1" strike="noStrike">
                <a:solidFill>
                  <a:srgbClr val="ffffff"/>
                </a:solidFill>
                <a:latin typeface="Arial"/>
              </a:rPr>
              <a:t>ЖИЗНЕСПОСОБНОСТЬ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ffffff"/>
                </a:solidFill>
                <a:latin typeface="Arial"/>
              </a:rPr>
              <a:t>Модель масштабируема?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8" name="CritBody1"/>
          <p:cNvSpPr/>
          <p:nvPr/>
        </p:nvSpPr>
        <p:spPr>
          <a:xfrm>
            <a:off x="3127320" y="1965960"/>
            <a:ext cx="2706120" cy="18741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4520" rIns="164520" tIns="109800" bIns="109800" anchor="t">
            <a:noAutofit/>
          </a:bodyPr>
          <a:p>
            <a:pPr>
              <a:lnSpc>
                <a:spcPct val="100000"/>
              </a:lnSpc>
            </a:pPr>
            <a:r>
              <a:rPr b="1" lang="ru-RU" sz="800" spc="-1" strike="noStrike">
                <a:solidFill>
                  <a:srgbClr val="94a3f6"/>
                </a:solidFill>
                <a:latin typeface="Arial"/>
              </a:rPr>
              <a:t>ОБОСНОВАНИЕ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f1020"/>
                </a:solidFill>
                <a:latin typeface="Arial"/>
              </a:rPr>
              <a:t>[Масштабируемость: LTV/CAC, Gross Margin, Break-even — и узкое место]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800" spc="-1" strike="noStrike">
                <a:solidFill>
                  <a:srgbClr val="94a3f6"/>
                </a:solidFill>
                <a:latin typeface="Arial"/>
              </a:rPr>
              <a:t>КЛЮЧЕВЫЕ МЕТРИКИ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f1020"/>
                </a:solidFill>
                <a:latin typeface="Arial"/>
              </a:rPr>
              <a:t>[LTV = X ₽ | CAC = Y ₽ | GM = Z% | BE = мес. N]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CritFoot1"/>
          <p:cNvSpPr/>
          <p:nvPr/>
        </p:nvSpPr>
        <p:spPr>
          <a:xfrm>
            <a:off x="3127320" y="3840480"/>
            <a:ext cx="2706120" cy="456840"/>
          </a:xfrm>
          <a:prstGeom prst="rect">
            <a:avLst/>
          </a:prstGeom>
          <a:solidFill>
            <a:srgbClr val="d68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09800" bIns="109800" anchor="t">
            <a:noAutofit/>
          </a:bodyPr>
          <a:p>
            <a:pPr algn="ctr">
              <a:lnSpc>
                <a:spcPct val="100000"/>
              </a:lnSpc>
            </a:pPr>
            <a:r>
              <a:rPr b="0" lang="ru-RU" sz="900" spc="-1" strike="noStrike">
                <a:solidFill>
                  <a:srgbClr val="e8eaf6"/>
                </a:solidFill>
                <a:latin typeface="Arial"/>
              </a:rPr>
              <a:t>СТАТУС: </a:t>
            </a:r>
            <a:r>
              <a:rPr b="1" lang="ru-RU" sz="900" spc="-1" strike="noStrike">
                <a:solidFill>
                  <a:srgbClr val="ffffff"/>
                </a:solidFill>
                <a:latin typeface="Arial"/>
              </a:rPr>
              <a:t>[✅ / ⚠️ / ❌]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0" name="CritHead2"/>
          <p:cNvSpPr/>
          <p:nvPr/>
        </p:nvSpPr>
        <p:spPr>
          <a:xfrm>
            <a:off x="5888880" y="1280160"/>
            <a:ext cx="2706120" cy="685440"/>
          </a:xfrm>
          <a:prstGeom prst="rect">
            <a:avLst/>
          </a:prstGeom>
          <a:solidFill>
            <a:srgbClr val="4a8a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</a:pPr>
            <a:r>
              <a:rPr b="1" lang="ru-RU" sz="1100" spc="-1" strike="noStrike">
                <a:solidFill>
                  <a:srgbClr val="ffffff"/>
                </a:solidFill>
                <a:latin typeface="Arial"/>
              </a:rPr>
              <a:t>✅ </a:t>
            </a:r>
            <a:r>
              <a:rPr b="1" lang="ru-RU" sz="1100" spc="-1" strike="noStrike">
                <a:solidFill>
                  <a:srgbClr val="ffffff"/>
                </a:solidFill>
                <a:latin typeface="Arial"/>
              </a:rPr>
              <a:t>РЕАЛИЗУЕМОСТЬ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ffffff"/>
                </a:solidFill>
                <a:latin typeface="Arial"/>
              </a:rPr>
              <a:t>Достаточно ресурсов?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1" name="CritBody2"/>
          <p:cNvSpPr/>
          <p:nvPr/>
        </p:nvSpPr>
        <p:spPr>
          <a:xfrm>
            <a:off x="5888880" y="1965960"/>
            <a:ext cx="2706120" cy="18741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4520" rIns="164520" tIns="109800" bIns="109800" anchor="t">
            <a:noAutofit/>
          </a:bodyPr>
          <a:p>
            <a:pPr>
              <a:lnSpc>
                <a:spcPct val="100000"/>
              </a:lnSpc>
            </a:pPr>
            <a:r>
              <a:rPr b="1" lang="ru-RU" sz="800" spc="-1" strike="noStrike">
                <a:solidFill>
                  <a:srgbClr val="94a3f6"/>
                </a:solidFill>
                <a:latin typeface="Arial"/>
              </a:rPr>
              <a:t>ОБОСНОВАНИЕ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f1020"/>
                </a:solidFill>
                <a:latin typeface="Arial"/>
              </a:rPr>
              <a:t>[Ресурсы: команда, бюджет, технологии — что есть и чего не хватает]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800" spc="-1" strike="noStrike">
                <a:solidFill>
                  <a:srgbClr val="94a3f6"/>
                </a:solidFill>
                <a:latin typeface="Arial"/>
              </a:rPr>
              <a:t>КЛЮЧЕВЫЕ МЕТРИКИ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f1020"/>
                </a:solidFill>
                <a:latin typeface="Arial"/>
              </a:rPr>
              <a:t>[Список ресурсов с отметками готовности]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CritFoot2"/>
          <p:cNvSpPr/>
          <p:nvPr/>
        </p:nvSpPr>
        <p:spPr>
          <a:xfrm>
            <a:off x="5888880" y="3840480"/>
            <a:ext cx="2706120" cy="456840"/>
          </a:xfrm>
          <a:prstGeom prst="rect">
            <a:avLst/>
          </a:prstGeom>
          <a:solidFill>
            <a:srgbClr val="4a8a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09800" bIns="109800" anchor="t">
            <a:noAutofit/>
          </a:bodyPr>
          <a:p>
            <a:pPr algn="ctr">
              <a:lnSpc>
                <a:spcPct val="100000"/>
              </a:lnSpc>
            </a:pPr>
            <a:r>
              <a:rPr b="0" lang="ru-RU" sz="900" spc="-1" strike="noStrike">
                <a:solidFill>
                  <a:srgbClr val="e8eaf6"/>
                </a:solidFill>
                <a:latin typeface="Arial"/>
              </a:rPr>
              <a:t>СТАТУС: </a:t>
            </a:r>
            <a:r>
              <a:rPr b="1" lang="ru-RU" sz="900" spc="-1" strike="noStrike">
                <a:solidFill>
                  <a:srgbClr val="ffffff"/>
                </a:solidFill>
                <a:latin typeface="Arial"/>
              </a:rPr>
              <a:t>[✅ / ⚠️ / ❌]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3" name="Summary"/>
          <p:cNvSpPr/>
          <p:nvPr/>
        </p:nvSpPr>
        <p:spPr>
          <a:xfrm>
            <a:off x="365760" y="4389120"/>
            <a:ext cx="8412120" cy="411120"/>
          </a:xfrm>
          <a:prstGeom prst="rect">
            <a:avLst/>
          </a:prstGeom>
          <a:solidFill>
            <a:srgbClr val="1a1f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73080" bIns="73080" anchor="t">
            <a:noAutofit/>
          </a:bodyPr>
          <a:p>
            <a:pPr>
              <a:lnSpc>
                <a:spcPct val="100000"/>
              </a:lnSpc>
            </a:pPr>
            <a:r>
              <a:rPr b="1" lang="ru-RU" sz="1200" spc="-1" strike="noStrike">
                <a:solidFill>
                  <a:srgbClr val="94a3f6"/>
                </a:solidFill>
                <a:latin typeface="Arial"/>
              </a:rPr>
              <a:t>ИТОГ: 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</a:rPr>
              <a:t>[X/3 критериев ✅]. [Приоритет доработки — краткое утверждение]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4" name="Shape 3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35" name="Text 4"/>
          <p:cNvSpPr/>
          <p:nvPr/>
        </p:nvSpPr>
        <p:spPr>
          <a:xfrm>
            <a:off x="365760" y="4937760"/>
            <a:ext cx="64000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Источник: [указать источник]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Shape 0"/>
          <p:cNvSpPr/>
          <p:nvPr/>
        </p:nvSpPr>
        <p:spPr>
          <a:xfrm>
            <a:off x="0" y="0"/>
            <a:ext cx="9143280" cy="68508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37" name="Text 1"/>
          <p:cNvSpPr/>
          <p:nvPr/>
        </p:nvSpPr>
        <p:spPr>
          <a:xfrm>
            <a:off x="365760" y="0"/>
            <a:ext cx="7314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Юнит-экономика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Text 2"/>
          <p:cNvSpPr/>
          <p:nvPr/>
        </p:nvSpPr>
        <p:spPr>
          <a:xfrm>
            <a:off x="7132320" y="0"/>
            <a:ext cx="1828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94" strike="noStrike">
                <a:solidFill>
                  <a:srgbClr val="457e4a"/>
                </a:solidFill>
                <a:latin typeface="Calibri"/>
                <a:ea typeface="Calibri"/>
              </a:rPr>
              <a:t>СТРАТЕГИЧЕСКИЙ СЦЕНАРИЙ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Shape 3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0" name="Text 4"/>
          <p:cNvSpPr/>
          <p:nvPr/>
        </p:nvSpPr>
        <p:spPr>
          <a:xfrm>
            <a:off x="365760" y="4937760"/>
            <a:ext cx="64000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Источник: Финансовая модель Wonder Diamond 2026, базовый сценарий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Shape 5"/>
          <p:cNvSpPr/>
          <p:nvPr/>
        </p:nvSpPr>
        <p:spPr>
          <a:xfrm>
            <a:off x="365760" y="868680"/>
            <a:ext cx="2559600" cy="132516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2" name="Shape 6"/>
          <p:cNvSpPr/>
          <p:nvPr/>
        </p:nvSpPr>
        <p:spPr>
          <a:xfrm>
            <a:off x="365760" y="868680"/>
            <a:ext cx="2559600" cy="54000"/>
          </a:xfrm>
          <a:prstGeom prst="rect">
            <a:avLst/>
          </a:prstGeom>
          <a:solidFill>
            <a:srgbClr val="94a3f6"/>
          </a:solidFill>
          <a:ln w="12700">
            <a:solidFill>
              <a:srgbClr val="94a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3" name="Text 7"/>
          <p:cNvSpPr/>
          <p:nvPr/>
        </p:nvSpPr>
        <p:spPr>
          <a:xfrm>
            <a:off x="365760" y="1051560"/>
            <a:ext cx="255960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94a3f6"/>
                </a:solidFill>
                <a:latin typeface="Calibri"/>
                <a:ea typeface="Calibri"/>
              </a:rPr>
              <a:t>184 000 ₽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Text 8"/>
          <p:cNvSpPr/>
          <p:nvPr/>
        </p:nvSpPr>
        <p:spPr>
          <a:xfrm>
            <a:off x="365760" y="1645920"/>
            <a:ext cx="255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LTV клиента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Shape 9"/>
          <p:cNvSpPr/>
          <p:nvPr/>
        </p:nvSpPr>
        <p:spPr>
          <a:xfrm>
            <a:off x="3291840" y="868680"/>
            <a:ext cx="2559600" cy="132516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6" name="Shape 10"/>
          <p:cNvSpPr/>
          <p:nvPr/>
        </p:nvSpPr>
        <p:spPr>
          <a:xfrm>
            <a:off x="3291840" y="868680"/>
            <a:ext cx="2559600" cy="54000"/>
          </a:xfrm>
          <a:prstGeom prst="rect">
            <a:avLst/>
          </a:prstGeom>
          <a:solidFill>
            <a:srgbClr val="457e4a"/>
          </a:solidFill>
          <a:ln w="12700">
            <a:solidFill>
              <a:srgbClr val="457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7" name="Text 11"/>
          <p:cNvSpPr/>
          <p:nvPr/>
        </p:nvSpPr>
        <p:spPr>
          <a:xfrm>
            <a:off x="3291840" y="1051560"/>
            <a:ext cx="255960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457e4a"/>
                </a:solidFill>
                <a:latin typeface="Calibri"/>
                <a:ea typeface="Calibri"/>
              </a:rPr>
              <a:t>100 000 ₽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8" name="Text 12"/>
          <p:cNvSpPr/>
          <p:nvPr/>
        </p:nvSpPr>
        <p:spPr>
          <a:xfrm>
            <a:off x="3291840" y="1645920"/>
            <a:ext cx="255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CAC (стоимость привлечения)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9" name="Shape 13"/>
          <p:cNvSpPr/>
          <p:nvPr/>
        </p:nvSpPr>
        <p:spPr>
          <a:xfrm>
            <a:off x="6217920" y="868680"/>
            <a:ext cx="2559600" cy="132516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0" name="Shape 14"/>
          <p:cNvSpPr/>
          <p:nvPr/>
        </p:nvSpPr>
        <p:spPr>
          <a:xfrm>
            <a:off x="6217920" y="868680"/>
            <a:ext cx="2559600" cy="54000"/>
          </a:xfrm>
          <a:prstGeom prst="rect">
            <a:avLst/>
          </a:prstGeom>
          <a:solidFill>
            <a:srgbClr val="94a3f6"/>
          </a:solidFill>
          <a:ln w="12700">
            <a:solidFill>
              <a:srgbClr val="94a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1" name="Text 15"/>
          <p:cNvSpPr/>
          <p:nvPr/>
        </p:nvSpPr>
        <p:spPr>
          <a:xfrm>
            <a:off x="6217920" y="1051560"/>
            <a:ext cx="255960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94a3f6"/>
                </a:solidFill>
                <a:latin typeface="Calibri"/>
                <a:ea typeface="Calibri"/>
              </a:rPr>
              <a:t>1.84x ⚠️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Text 16"/>
          <p:cNvSpPr/>
          <p:nvPr/>
        </p:nvSpPr>
        <p:spPr>
          <a:xfrm>
            <a:off x="6217920" y="1645920"/>
            <a:ext cx="255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LTV / CAC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Shape 17"/>
          <p:cNvSpPr/>
          <p:nvPr/>
        </p:nvSpPr>
        <p:spPr>
          <a:xfrm>
            <a:off x="365760" y="2377440"/>
            <a:ext cx="8411760" cy="233100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4" name="Shape 18"/>
          <p:cNvSpPr/>
          <p:nvPr/>
        </p:nvSpPr>
        <p:spPr>
          <a:xfrm>
            <a:off x="365760" y="2377440"/>
            <a:ext cx="8411760" cy="54000"/>
          </a:xfrm>
          <a:prstGeom prst="rect">
            <a:avLst/>
          </a:prstGeom>
          <a:solidFill>
            <a:srgbClr val="457e4a"/>
          </a:solidFill>
          <a:ln w="12700">
            <a:solidFill>
              <a:srgbClr val="457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5" name="Text 19"/>
          <p:cNvSpPr/>
          <p:nvPr/>
        </p:nvSpPr>
        <p:spPr>
          <a:xfrm>
            <a:off x="502920" y="2468880"/>
            <a:ext cx="81374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Юнит-экономика — ключевые показатели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" name="Text 20"/>
          <p:cNvSpPr/>
          <p:nvPr/>
        </p:nvSpPr>
        <p:spPr>
          <a:xfrm>
            <a:off x="475560" y="2834640"/>
            <a:ext cx="8192160" cy="180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Payback period: ~5 мес. базовый | ~2 мес. оптимист (при CAC=50K ₽)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Runway: ~5 мес. при burn rate 400K ₽/мес и капитале 2M ₽ (требуется pre-seed)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Break-even: мес. 4 базовый | мес. 2–3 оптимист — накопленный P&amp;L ≥ 0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Gross Margin: 65% | COGS: 35% (CVD 10% + золото 15% + производство 10%)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Shape 0"/>
          <p:cNvSpPr/>
          <p:nvPr/>
        </p:nvSpPr>
        <p:spPr>
          <a:xfrm>
            <a:off x="0" y="0"/>
            <a:ext cx="319320" cy="5142960"/>
          </a:xfrm>
          <a:prstGeom prst="rect">
            <a:avLst/>
          </a:prstGeom>
          <a:solidFill>
            <a:srgbClr val="94a3f6"/>
          </a:solidFill>
          <a:ln w="12700">
            <a:solidFill>
              <a:srgbClr val="94a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8" name="Text 1"/>
          <p:cNvSpPr/>
          <p:nvPr/>
        </p:nvSpPr>
        <p:spPr>
          <a:xfrm>
            <a:off x="548640" y="1737360"/>
            <a:ext cx="8046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395" strike="noStrike">
                <a:solidFill>
                  <a:srgbClr val="94a3f6"/>
                </a:solidFill>
                <a:latin typeface="Calibri"/>
                <a:ea typeface="Calibri"/>
              </a:rPr>
              <a:t>РАЗДЕЛ 04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9" name="Text 2"/>
          <p:cNvSpPr/>
          <p:nvPr/>
        </p:nvSpPr>
        <p:spPr>
          <a:xfrm>
            <a:off x="548640" y="2148840"/>
            <a:ext cx="80460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ffffff"/>
                </a:solidFill>
                <a:latin typeface="Calibri"/>
                <a:ea typeface="Calibri"/>
              </a:rPr>
              <a:t>Opportunity Solution Tree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Shape 0"/>
          <p:cNvSpPr/>
          <p:nvPr/>
        </p:nvSpPr>
        <p:spPr>
          <a:xfrm>
            <a:off x="0" y="0"/>
            <a:ext cx="9143280" cy="68508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1" name="Text 1"/>
          <p:cNvSpPr/>
          <p:nvPr/>
        </p:nvSpPr>
        <p:spPr>
          <a:xfrm>
            <a:off x="365760" y="0"/>
            <a:ext cx="7314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OST: уровни 1–2 — цель и возможности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2" name="Text 2"/>
          <p:cNvSpPr/>
          <p:nvPr/>
        </p:nvSpPr>
        <p:spPr>
          <a:xfrm>
            <a:off x="7132320" y="0"/>
            <a:ext cx="1828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94" strike="noStrike">
                <a:solidFill>
                  <a:srgbClr val="94a3f6"/>
                </a:solidFill>
                <a:latin typeface="Calibri"/>
                <a:ea typeface="Calibri"/>
              </a:rPr>
              <a:t>OST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Shape 3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4" name="Text 4"/>
          <p:cNvSpPr/>
          <p:nvPr/>
        </p:nvSpPr>
        <p:spPr>
          <a:xfrm>
            <a:off x="365760" y="4937760"/>
            <a:ext cx="64000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Источник: OST (Teresa Torres); PD WD 2026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Text 5"/>
          <p:cNvSpPr/>
          <p:nvPr/>
        </p:nvSpPr>
        <p:spPr>
          <a:xfrm>
            <a:off x="365760" y="777240"/>
            <a:ext cx="84117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94" strike="noStrike">
                <a:solidFill>
                  <a:srgbClr val="94a3f6"/>
                </a:solidFill>
                <a:latin typeface="Calibri"/>
                <a:ea typeface="Calibri"/>
              </a:rPr>
              <a:t>БИЗНЕС-ЦЕЛЬ → ВОЗМОЖНОСТИ → РЕШЕНИЯ → ЭКСПЕРИМЕНТЫ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Shape 6"/>
          <p:cNvSpPr/>
          <p:nvPr/>
        </p:nvSpPr>
        <p:spPr>
          <a:xfrm>
            <a:off x="3017520" y="1005840"/>
            <a:ext cx="3108240" cy="54792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7" name="Text 7"/>
          <p:cNvSpPr/>
          <p:nvPr/>
        </p:nvSpPr>
        <p:spPr>
          <a:xfrm>
            <a:off x="3017520" y="1005840"/>
            <a:ext cx="31082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GMV 25 млн ₽ за 12 мес. | 10 платящих клиентов к мес. 3 | LTV/CAC ≥ 3x к мес. 6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Shape 8"/>
          <p:cNvSpPr/>
          <p:nvPr/>
        </p:nvSpPr>
        <p:spPr>
          <a:xfrm>
            <a:off x="4572000" y="1554480"/>
            <a:ext cx="360" cy="182880"/>
          </a:xfrm>
          <a:prstGeom prst="line">
            <a:avLst/>
          </a:prstGeom>
          <a:ln w="1905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9" name="Shape 9"/>
          <p:cNvSpPr/>
          <p:nvPr/>
        </p:nvSpPr>
        <p:spPr>
          <a:xfrm flipH="1">
            <a:off x="1645920" y="1737360"/>
            <a:ext cx="2926080" cy="360"/>
          </a:xfrm>
          <a:prstGeom prst="line">
            <a:avLst/>
          </a:prstGeom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0" name="Shape 10"/>
          <p:cNvSpPr/>
          <p:nvPr/>
        </p:nvSpPr>
        <p:spPr>
          <a:xfrm>
            <a:off x="1645920" y="1737360"/>
            <a:ext cx="360" cy="274320"/>
          </a:xfrm>
          <a:prstGeom prst="line">
            <a:avLst/>
          </a:prstGeom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1" name="Shape 11"/>
          <p:cNvSpPr/>
          <p:nvPr/>
        </p:nvSpPr>
        <p:spPr>
          <a:xfrm>
            <a:off x="548640" y="2011680"/>
            <a:ext cx="2193840" cy="639360"/>
          </a:xfrm>
          <a:prstGeom prst="rect">
            <a:avLst/>
          </a:prstGeom>
          <a:solidFill>
            <a:srgbClr val="fff1f2"/>
          </a:solidFill>
          <a:ln w="19050">
            <a:solidFill>
              <a:srgbClr val="f593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2" name="Text 12"/>
          <p:cNvSpPr/>
          <p:nvPr/>
        </p:nvSpPr>
        <p:spPr>
          <a:xfrm>
            <a:off x="548640" y="2011680"/>
            <a:ext cx="21938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5939e"/>
                </a:solidFill>
                <a:latin typeface="Calibri"/>
                <a:ea typeface="Calibri"/>
              </a:rPr>
              <a:t>Возможность 1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5939e"/>
                </a:solidFill>
                <a:latin typeface="Calibri"/>
                <a:ea typeface="Calibri"/>
              </a:rPr>
              <a:t>Доступный CVD 6ct+ | OS=16 🔴 Приоритет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3" name="Shape 13"/>
          <p:cNvSpPr/>
          <p:nvPr/>
        </p:nvSpPr>
        <p:spPr>
          <a:xfrm>
            <a:off x="4572000" y="1737360"/>
            <a:ext cx="91440" cy="360"/>
          </a:xfrm>
          <a:prstGeom prst="line">
            <a:avLst/>
          </a:prstGeom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4" name="Shape 14"/>
          <p:cNvSpPr/>
          <p:nvPr/>
        </p:nvSpPr>
        <p:spPr>
          <a:xfrm>
            <a:off x="4663440" y="1737360"/>
            <a:ext cx="360" cy="274320"/>
          </a:xfrm>
          <a:prstGeom prst="line">
            <a:avLst/>
          </a:prstGeom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5" name="Shape 15"/>
          <p:cNvSpPr/>
          <p:nvPr/>
        </p:nvSpPr>
        <p:spPr>
          <a:xfrm>
            <a:off x="3566160" y="2011680"/>
            <a:ext cx="2193840" cy="639360"/>
          </a:xfrm>
          <a:prstGeom prst="rect">
            <a:avLst/>
          </a:prstGeom>
          <a:solidFill>
            <a:srgbClr val="f4f5ff"/>
          </a:solidFill>
          <a:ln w="19050">
            <a:solidFill>
              <a:srgbClr val="94a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6" name="Text 16"/>
          <p:cNvSpPr/>
          <p:nvPr/>
        </p:nvSpPr>
        <p:spPr>
          <a:xfrm>
            <a:off x="3566160" y="2011680"/>
            <a:ext cx="21938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94a3f6"/>
                </a:solidFill>
                <a:latin typeface="Calibri"/>
                <a:ea typeface="Calibri"/>
              </a:rPr>
              <a:t>Возможность 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94a3f6"/>
                </a:solidFill>
                <a:latin typeface="Calibri"/>
                <a:ea typeface="Calibri"/>
              </a:rPr>
              <a:t>Уверенность в подлинности (IGI) | OS=15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7" name="Shape 17"/>
          <p:cNvSpPr/>
          <p:nvPr/>
        </p:nvSpPr>
        <p:spPr>
          <a:xfrm>
            <a:off x="4572000" y="1737360"/>
            <a:ext cx="3108960" cy="360"/>
          </a:xfrm>
          <a:prstGeom prst="line">
            <a:avLst/>
          </a:prstGeom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8" name="Shape 18"/>
          <p:cNvSpPr/>
          <p:nvPr/>
        </p:nvSpPr>
        <p:spPr>
          <a:xfrm>
            <a:off x="7680960" y="1737360"/>
            <a:ext cx="360" cy="274320"/>
          </a:xfrm>
          <a:prstGeom prst="line">
            <a:avLst/>
          </a:prstGeom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9" name="Shape 19"/>
          <p:cNvSpPr/>
          <p:nvPr/>
        </p:nvSpPr>
        <p:spPr>
          <a:xfrm>
            <a:off x="6583680" y="2011680"/>
            <a:ext cx="2193840" cy="639360"/>
          </a:xfrm>
          <a:prstGeom prst="rect">
            <a:avLst/>
          </a:prstGeom>
          <a:solidFill>
            <a:srgbClr val="f4f5ff"/>
          </a:solidFill>
          <a:ln w="1905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0" name="Text 20"/>
          <p:cNvSpPr/>
          <p:nvPr/>
        </p:nvSpPr>
        <p:spPr>
          <a:xfrm>
            <a:off x="6583680" y="2011680"/>
            <a:ext cx="21938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Возможность 3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Социальный сигнал «смотрится дорого» | OS=14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1" name="Shape 21"/>
          <p:cNvSpPr/>
          <p:nvPr/>
        </p:nvSpPr>
        <p:spPr>
          <a:xfrm>
            <a:off x="365760" y="2788920"/>
            <a:ext cx="8411760" cy="200520"/>
          </a:xfrm>
          <a:prstGeom prst="rect">
            <a:avLst/>
          </a:prstGeom>
          <a:solidFill>
            <a:srgbClr val="fff1f2"/>
          </a:solidFill>
          <a:ln w="6350">
            <a:solidFill>
              <a:srgbClr val="f593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2" name="Text 22"/>
          <p:cNvSpPr/>
          <p:nvPr/>
        </p:nvSpPr>
        <p:spPr>
          <a:xfrm>
            <a:off x="457200" y="2788920"/>
            <a:ext cx="8228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5939e"/>
                </a:solidFill>
                <a:latin typeface="Calibri"/>
                <a:ea typeface="Calibri"/>
              </a:rPr>
              <a:t>ЦЕЛЕВАЯ ВОЗМОЖНОСТЬ 1 — генерируем 3+ решения: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Shape 23"/>
          <p:cNvSpPr/>
          <p:nvPr/>
        </p:nvSpPr>
        <p:spPr>
          <a:xfrm>
            <a:off x="457200" y="3035880"/>
            <a:ext cx="2651040" cy="566280"/>
          </a:xfrm>
          <a:prstGeom prst="rect">
            <a:avLst/>
          </a:prstGeom>
          <a:solidFill>
            <a:srgbClr val="f4f5ff"/>
          </a:solidFill>
          <a:ln w="12700">
            <a:solidFill>
              <a:srgbClr val="94a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4" name="Text 24"/>
          <p:cNvSpPr/>
          <p:nvPr/>
        </p:nvSpPr>
        <p:spPr>
          <a:xfrm>
            <a:off x="457200" y="3035880"/>
            <a:ext cx="265104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0f1020"/>
                </a:solidFill>
                <a:latin typeface="Calibri"/>
                <a:ea typeface="Calibri"/>
              </a:rPr>
              <a:t>Решение A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0f1020"/>
                </a:solidFill>
                <a:latin typeface="Calibri"/>
                <a:ea typeface="Calibri"/>
              </a:rPr>
              <a:t>Готовая линейка Classic: пусеты 6ct, кольца 3ct, подвески 3ct с IGI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5" name="Shape 25"/>
          <p:cNvSpPr/>
          <p:nvPr/>
        </p:nvSpPr>
        <p:spPr>
          <a:xfrm>
            <a:off x="1783080" y="3602520"/>
            <a:ext cx="360" cy="201240"/>
          </a:xfrm>
          <a:prstGeom prst="line">
            <a:avLst/>
          </a:prstGeom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6" name="Shape 26"/>
          <p:cNvSpPr/>
          <p:nvPr/>
        </p:nvSpPr>
        <p:spPr>
          <a:xfrm>
            <a:off x="640080" y="3803760"/>
            <a:ext cx="2285280" cy="502200"/>
          </a:xfrm>
          <a:prstGeom prst="rect">
            <a:avLst/>
          </a:prstGeom>
          <a:solidFill>
            <a:srgbClr val="e8eaf6"/>
          </a:solidFill>
          <a:ln w="635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7" name="Text 27"/>
          <p:cNvSpPr/>
          <p:nvPr/>
        </p:nvSpPr>
        <p:spPr>
          <a:xfrm>
            <a:off x="640080" y="3803760"/>
            <a:ext cx="22852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Calibri"/>
                <a:ea typeface="Calibri"/>
              </a:rPr>
              <a:t>Exp A1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Calibri"/>
                <a:ea typeface="Calibri"/>
              </a:rPr>
              <a:t>Smoke Test: Instagram «6ct за 295K», 50K ₽, 7 дней, CTR ≥ 2%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8" name="Shape 28"/>
          <p:cNvSpPr/>
          <p:nvPr/>
        </p:nvSpPr>
        <p:spPr>
          <a:xfrm>
            <a:off x="3383280" y="3035880"/>
            <a:ext cx="2651040" cy="566280"/>
          </a:xfrm>
          <a:prstGeom prst="rect">
            <a:avLst/>
          </a:prstGeom>
          <a:solidFill>
            <a:srgbClr val="f4f5ff"/>
          </a:solidFill>
          <a:ln w="12700">
            <a:solidFill>
              <a:srgbClr val="94a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9" name="Text 29"/>
          <p:cNvSpPr/>
          <p:nvPr/>
        </p:nvSpPr>
        <p:spPr>
          <a:xfrm>
            <a:off x="3383280" y="3035880"/>
            <a:ext cx="265104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0f1020"/>
                </a:solidFill>
                <a:latin typeface="Calibri"/>
                <a:ea typeface="Calibri"/>
              </a:rPr>
              <a:t>Решение B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0f1020"/>
                </a:solidFill>
                <a:latin typeface="Calibri"/>
                <a:ea typeface="Calibri"/>
              </a:rPr>
              <a:t>Price-calculator на сайте: «WD 6ct vs натуральный аналог» — экономия в ₽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0" name="Shape 30"/>
          <p:cNvSpPr/>
          <p:nvPr/>
        </p:nvSpPr>
        <p:spPr>
          <a:xfrm>
            <a:off x="4709160" y="3602520"/>
            <a:ext cx="360" cy="201240"/>
          </a:xfrm>
          <a:prstGeom prst="line">
            <a:avLst/>
          </a:prstGeom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91" name="Shape 31"/>
          <p:cNvSpPr/>
          <p:nvPr/>
        </p:nvSpPr>
        <p:spPr>
          <a:xfrm>
            <a:off x="3566160" y="3803760"/>
            <a:ext cx="2285280" cy="502200"/>
          </a:xfrm>
          <a:prstGeom prst="rect">
            <a:avLst/>
          </a:prstGeom>
          <a:solidFill>
            <a:srgbClr val="e8eaf6"/>
          </a:solidFill>
          <a:ln w="635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92" name="Text 32"/>
          <p:cNvSpPr/>
          <p:nvPr/>
        </p:nvSpPr>
        <p:spPr>
          <a:xfrm>
            <a:off x="3566160" y="3803760"/>
            <a:ext cx="22852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Calibri"/>
                <a:ea typeface="Calibri"/>
              </a:rPr>
              <a:t>Exp B1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Calibri"/>
                <a:ea typeface="Calibri"/>
              </a:rPr>
              <a:t>Pre-sale: 5 заявок через Telegram за 2 нед., 0 ₽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Shape 33"/>
          <p:cNvSpPr/>
          <p:nvPr/>
        </p:nvSpPr>
        <p:spPr>
          <a:xfrm>
            <a:off x="6309360" y="3035880"/>
            <a:ext cx="2651040" cy="566280"/>
          </a:xfrm>
          <a:prstGeom prst="rect">
            <a:avLst/>
          </a:prstGeom>
          <a:solidFill>
            <a:srgbClr val="f4f5ff"/>
          </a:solidFill>
          <a:ln w="12700">
            <a:solidFill>
              <a:srgbClr val="94a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94" name="Text 34"/>
          <p:cNvSpPr/>
          <p:nvPr/>
        </p:nvSpPr>
        <p:spPr>
          <a:xfrm>
            <a:off x="6309360" y="3035880"/>
            <a:ext cx="265104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0f1020"/>
                </a:solidFill>
                <a:latin typeface="Calibri"/>
                <a:ea typeface="Calibri"/>
              </a:rPr>
              <a:t>Решение C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0f1020"/>
                </a:solidFill>
                <a:latin typeface="Calibri"/>
                <a:ea typeface="Calibri"/>
              </a:rPr>
              <a:t>Программа апгрейда камня через 12 мес. — retention + LTV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Shape 35"/>
          <p:cNvSpPr/>
          <p:nvPr/>
        </p:nvSpPr>
        <p:spPr>
          <a:xfrm>
            <a:off x="7635240" y="3602520"/>
            <a:ext cx="360" cy="201240"/>
          </a:xfrm>
          <a:prstGeom prst="line">
            <a:avLst/>
          </a:prstGeom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96" name="Shape 36"/>
          <p:cNvSpPr/>
          <p:nvPr/>
        </p:nvSpPr>
        <p:spPr>
          <a:xfrm>
            <a:off x="6492240" y="3803760"/>
            <a:ext cx="2285280" cy="502200"/>
          </a:xfrm>
          <a:prstGeom prst="rect">
            <a:avLst/>
          </a:prstGeom>
          <a:solidFill>
            <a:srgbClr val="e8eaf6"/>
          </a:solidFill>
          <a:ln w="635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97" name="Text 37"/>
          <p:cNvSpPr/>
          <p:nvPr/>
        </p:nvSpPr>
        <p:spPr>
          <a:xfrm>
            <a:off x="6492240" y="3803760"/>
            <a:ext cx="22852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Calibri"/>
                <a:ea typeface="Calibri"/>
              </a:rPr>
              <a:t>Exp C1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Calibri"/>
                <a:ea typeface="Calibri"/>
              </a:rPr>
              <a:t>Wizard of Oz: ручная «подписка на апгрейд» для первых 20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Shape 0"/>
          <p:cNvSpPr/>
          <p:nvPr/>
        </p:nvSpPr>
        <p:spPr>
          <a:xfrm>
            <a:off x="0" y="0"/>
            <a:ext cx="9143280" cy="68508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99" name="Text 1"/>
          <p:cNvSpPr/>
          <p:nvPr/>
        </p:nvSpPr>
        <p:spPr>
          <a:xfrm>
            <a:off x="365760" y="0"/>
            <a:ext cx="7314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OST: уровни 3–4 — решения и эксперименты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Text 2"/>
          <p:cNvSpPr/>
          <p:nvPr/>
        </p:nvSpPr>
        <p:spPr>
          <a:xfrm>
            <a:off x="7132320" y="0"/>
            <a:ext cx="1828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94" strike="noStrike">
                <a:solidFill>
                  <a:srgbClr val="94a3f6"/>
                </a:solidFill>
                <a:latin typeface="Calibri"/>
                <a:ea typeface="Calibri"/>
              </a:rPr>
              <a:t>OST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Opportunity"/>
          <p:cNvSpPr/>
          <p:nvPr/>
        </p:nvSpPr>
        <p:spPr>
          <a:xfrm>
            <a:off x="365760" y="868680"/>
            <a:ext cx="8412120" cy="411120"/>
          </a:xfrm>
          <a:prstGeom prst="rect">
            <a:avLst/>
          </a:prstGeom>
          <a:solidFill>
            <a:srgbClr val="1a1f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</a:pPr>
            <a:r>
              <a:rPr b="1" lang="ru-RU" sz="1000" spc="-1" strike="noStrike">
                <a:solidFill>
                  <a:srgbClr val="94a3f6"/>
                </a:solidFill>
                <a:latin typeface="Arial"/>
              </a:rPr>
              <a:t>ЦЕЛЕВАЯ ВОЗМОЖНОСТЬ (RICE + OS=16): </a:t>
            </a:r>
            <a:r>
              <a:rPr b="1" lang="ru-RU" sz="1000" spc="-1" strike="noStrike">
                <a:solidFill>
                  <a:srgbClr val="ffffff"/>
                </a:solidFill>
                <a:latin typeface="Arial"/>
              </a:rPr>
              <a:t>«[Возможность из уровня 2 OST]»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2" name="SolHead0"/>
          <p:cNvSpPr/>
          <p:nvPr/>
        </p:nvSpPr>
        <p:spPr>
          <a:xfrm>
            <a:off x="365760" y="1371600"/>
            <a:ext cx="2706120" cy="639720"/>
          </a:xfrm>
          <a:prstGeom prst="rect">
            <a:avLst/>
          </a:prstGeom>
          <a:solidFill>
            <a:srgbClr val="94a3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e8eaf6"/>
                </a:solidFill>
                <a:latin typeface="Arial"/>
              </a:rPr>
              <a:t>РЕШЕНИЕ A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1200" spc="-1" strike="noStrike">
                <a:solidFill>
                  <a:srgbClr val="ffffff"/>
                </a:solidFill>
                <a:latin typeface="Arial"/>
              </a:rPr>
              <a:t>[Название решения A]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" name="SolDesc0"/>
          <p:cNvSpPr/>
          <p:nvPr/>
        </p:nvSpPr>
        <p:spPr>
          <a:xfrm>
            <a:off x="365760" y="2011680"/>
            <a:ext cx="2706120" cy="8683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f1020"/>
                </a:solidFill>
                <a:latin typeface="Arial"/>
              </a:rPr>
              <a:t>[Описание решения A: что именно строим и для кого]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SolExp0"/>
          <p:cNvSpPr/>
          <p:nvPr/>
        </p:nvSpPr>
        <p:spPr>
          <a:xfrm>
            <a:off x="365760" y="2953440"/>
            <a:ext cx="2706120" cy="914040"/>
          </a:xfrm>
          <a:prstGeom prst="rect">
            <a:avLst/>
          </a:prstGeom>
          <a:solidFill>
            <a:srgbClr val="1a1f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</a:pPr>
            <a:r>
              <a:rPr b="1" lang="ru-RU" sz="800" spc="-1" strike="noStrike">
                <a:solidFill>
                  <a:srgbClr val="94a3f6"/>
                </a:solidFill>
                <a:latin typeface="Arial"/>
              </a:rPr>
              <a:t>ЭКСПЕРИМЕНТ:</a:t>
            </a:r>
            <a:r>
              <a:rPr b="0" lang="ru-RU" sz="800" spc="-1" strike="noStrike">
                <a:solidFill>
                  <a:srgbClr val="ffffff"/>
                </a:solidFill>
                <a:latin typeface="Arial"/>
              </a:rPr>
              <a:t>  Smoke Test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ffffff"/>
                </a:solidFill>
                <a:latin typeface="Arial"/>
              </a:rPr>
              <a:t>[Метод: Smoke Test / Pre-sale / Wizard of Oz + краткое описание]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5" name="SolMetrics0"/>
          <p:cNvSpPr/>
          <p:nvPr/>
        </p:nvSpPr>
        <p:spPr>
          <a:xfrm>
            <a:off x="365760" y="3922920"/>
            <a:ext cx="2706120" cy="694440"/>
          </a:xfrm>
          <a:prstGeom prst="rect">
            <a:avLst/>
          </a:prstGeom>
          <a:solidFill>
            <a:srgbClr val="e8ea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</a:pPr>
            <a:r>
              <a:rPr b="1" lang="ru-RU" sz="700" spc="-1" strike="noStrike">
                <a:solidFill>
                  <a:srgbClr val="64748b"/>
                </a:solidFill>
                <a:latin typeface="Arial"/>
              </a:rPr>
              <a:t>КРИТЕРИЙ: </a:t>
            </a:r>
            <a:r>
              <a:rPr b="1" lang="ru-RU" sz="800" spc="-1" strike="noStrike">
                <a:solidFill>
                  <a:srgbClr val="0f1020"/>
                </a:solidFill>
                <a:latin typeface="Arial"/>
              </a:rPr>
              <a:t>[Критерий успеха]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700" spc="-1" strike="noStrike">
                <a:solidFill>
                  <a:srgbClr val="64748b"/>
                </a:solidFill>
                <a:latin typeface="Arial"/>
              </a:rPr>
              <a:t>СРОК: </a:t>
            </a:r>
            <a:r>
              <a:rPr b="0" lang="ru-RU" sz="800" spc="-1" strike="noStrike">
                <a:solidFill>
                  <a:srgbClr val="0f1020"/>
                </a:solidFill>
                <a:latin typeface="Arial"/>
              </a:rPr>
              <a:t>[X дн.]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700" spc="-1" strike="noStrike">
                <a:solidFill>
                  <a:srgbClr val="64748b"/>
                </a:solidFill>
                <a:latin typeface="Arial"/>
              </a:rPr>
              <a:t>БЮДЖЕТ: </a:t>
            </a:r>
            <a:r>
              <a:rPr b="0" lang="ru-RU" sz="800" spc="-1" strike="noStrike">
                <a:solidFill>
                  <a:srgbClr val="0f1020"/>
                </a:solidFill>
                <a:latin typeface="Arial"/>
              </a:rPr>
              <a:t>[X руб.]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SolHead1"/>
          <p:cNvSpPr/>
          <p:nvPr/>
        </p:nvSpPr>
        <p:spPr>
          <a:xfrm>
            <a:off x="3127320" y="1371600"/>
            <a:ext cx="2706120" cy="639720"/>
          </a:xfrm>
          <a:prstGeom prst="rect">
            <a:avLst/>
          </a:prstGeom>
          <a:solidFill>
            <a:srgbClr val="6b7f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e8eaf6"/>
                </a:solidFill>
                <a:latin typeface="Arial"/>
              </a:rPr>
              <a:t>РЕШЕНИЕ B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1200" spc="-1" strike="noStrike">
                <a:solidFill>
                  <a:srgbClr val="ffffff"/>
                </a:solidFill>
                <a:latin typeface="Arial"/>
              </a:rPr>
              <a:t>[Название решения B]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7" name="SolDesc1"/>
          <p:cNvSpPr/>
          <p:nvPr/>
        </p:nvSpPr>
        <p:spPr>
          <a:xfrm>
            <a:off x="3127320" y="2011680"/>
            <a:ext cx="2706120" cy="8683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f1020"/>
                </a:solidFill>
                <a:latin typeface="Arial"/>
              </a:rPr>
              <a:t>[Описание решения B]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" name="SolExp1"/>
          <p:cNvSpPr/>
          <p:nvPr/>
        </p:nvSpPr>
        <p:spPr>
          <a:xfrm>
            <a:off x="3127320" y="2953440"/>
            <a:ext cx="2706120" cy="914040"/>
          </a:xfrm>
          <a:prstGeom prst="rect">
            <a:avLst/>
          </a:prstGeom>
          <a:solidFill>
            <a:srgbClr val="1a1f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</a:pPr>
            <a:r>
              <a:rPr b="1" lang="ru-RU" sz="800" spc="-1" strike="noStrike">
                <a:solidFill>
                  <a:srgbClr val="94a3f6"/>
                </a:solidFill>
                <a:latin typeface="Arial"/>
              </a:rPr>
              <a:t>ЭКСПЕРИМЕНТ:</a:t>
            </a:r>
            <a:r>
              <a:rPr b="0" lang="ru-RU" sz="800" spc="-1" strike="noStrike">
                <a:solidFill>
                  <a:srgbClr val="ffffff"/>
                </a:solidFill>
                <a:latin typeface="Arial"/>
              </a:rPr>
              <a:t>  Pre-sale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ffffff"/>
                </a:solidFill>
                <a:latin typeface="Arial"/>
              </a:rPr>
              <a:t>[Метод + описание]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9" name="SolMetrics1"/>
          <p:cNvSpPr/>
          <p:nvPr/>
        </p:nvSpPr>
        <p:spPr>
          <a:xfrm>
            <a:off x="3127320" y="3922920"/>
            <a:ext cx="2706120" cy="694440"/>
          </a:xfrm>
          <a:prstGeom prst="rect">
            <a:avLst/>
          </a:prstGeom>
          <a:solidFill>
            <a:srgbClr val="e8ea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</a:pPr>
            <a:r>
              <a:rPr b="1" lang="ru-RU" sz="700" spc="-1" strike="noStrike">
                <a:solidFill>
                  <a:srgbClr val="64748b"/>
                </a:solidFill>
                <a:latin typeface="Arial"/>
              </a:rPr>
              <a:t>КРИТЕРИЙ: </a:t>
            </a:r>
            <a:r>
              <a:rPr b="1" lang="ru-RU" sz="800" spc="-1" strike="noStrike">
                <a:solidFill>
                  <a:srgbClr val="0f1020"/>
                </a:solidFill>
                <a:latin typeface="Arial"/>
              </a:rPr>
              <a:t>[Критерий успеха]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700" spc="-1" strike="noStrike">
                <a:solidFill>
                  <a:srgbClr val="64748b"/>
                </a:solidFill>
                <a:latin typeface="Arial"/>
              </a:rPr>
              <a:t>СРОК: </a:t>
            </a:r>
            <a:r>
              <a:rPr b="0" lang="ru-RU" sz="800" spc="-1" strike="noStrike">
                <a:solidFill>
                  <a:srgbClr val="0f1020"/>
                </a:solidFill>
                <a:latin typeface="Arial"/>
              </a:rPr>
              <a:t>[X дн.]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700" spc="-1" strike="noStrike">
                <a:solidFill>
                  <a:srgbClr val="64748b"/>
                </a:solidFill>
                <a:latin typeface="Arial"/>
              </a:rPr>
              <a:t>БЮДЖЕТ: </a:t>
            </a:r>
            <a:r>
              <a:rPr b="0" lang="ru-RU" sz="800" spc="-1" strike="noStrike">
                <a:solidFill>
                  <a:srgbClr val="0f1020"/>
                </a:solidFill>
                <a:latin typeface="Arial"/>
              </a:rPr>
              <a:t>[X руб.]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SolHead2"/>
          <p:cNvSpPr/>
          <p:nvPr/>
        </p:nvSpPr>
        <p:spPr>
          <a:xfrm>
            <a:off x="5888880" y="1371600"/>
            <a:ext cx="2706120" cy="639720"/>
          </a:xfrm>
          <a:prstGeom prst="rect">
            <a:avLst/>
          </a:prstGeom>
          <a:solidFill>
            <a:srgbClr val="4a5e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e8eaf6"/>
                </a:solidFill>
                <a:latin typeface="Arial"/>
              </a:rPr>
              <a:t>РЕШЕНИЕ C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1200" spc="-1" strike="noStrike">
                <a:solidFill>
                  <a:srgbClr val="ffffff"/>
                </a:solidFill>
                <a:latin typeface="Arial"/>
              </a:rPr>
              <a:t>[Название решения C]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1" name="SolDesc2"/>
          <p:cNvSpPr/>
          <p:nvPr/>
        </p:nvSpPr>
        <p:spPr>
          <a:xfrm>
            <a:off x="5888880" y="2011680"/>
            <a:ext cx="2706120" cy="8683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f1020"/>
                </a:solidFill>
                <a:latin typeface="Arial"/>
              </a:rPr>
              <a:t>[Описание решения C]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SolExp2"/>
          <p:cNvSpPr/>
          <p:nvPr/>
        </p:nvSpPr>
        <p:spPr>
          <a:xfrm>
            <a:off x="5888880" y="2953440"/>
            <a:ext cx="2706120" cy="914040"/>
          </a:xfrm>
          <a:prstGeom prst="rect">
            <a:avLst/>
          </a:prstGeom>
          <a:solidFill>
            <a:srgbClr val="1a1f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</a:pPr>
            <a:r>
              <a:rPr b="1" lang="ru-RU" sz="800" spc="-1" strike="noStrike">
                <a:solidFill>
                  <a:srgbClr val="94a3f6"/>
                </a:solidFill>
                <a:latin typeface="Arial"/>
              </a:rPr>
              <a:t>ЭКСПЕРИМЕНТ:</a:t>
            </a:r>
            <a:r>
              <a:rPr b="0" lang="ru-RU" sz="800" spc="-1" strike="noStrike">
                <a:solidFill>
                  <a:srgbClr val="ffffff"/>
                </a:solidFill>
                <a:latin typeface="Arial"/>
              </a:rPr>
              <a:t>  Wizard of Oz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ffffff"/>
                </a:solidFill>
                <a:latin typeface="Arial"/>
              </a:rPr>
              <a:t>[Метод + описание]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3" name="SolMetrics2"/>
          <p:cNvSpPr/>
          <p:nvPr/>
        </p:nvSpPr>
        <p:spPr>
          <a:xfrm>
            <a:off x="5888880" y="3922920"/>
            <a:ext cx="2706120" cy="694440"/>
          </a:xfrm>
          <a:prstGeom prst="rect">
            <a:avLst/>
          </a:prstGeom>
          <a:solidFill>
            <a:srgbClr val="e8ea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</a:pPr>
            <a:r>
              <a:rPr b="1" lang="ru-RU" sz="700" spc="-1" strike="noStrike">
                <a:solidFill>
                  <a:srgbClr val="64748b"/>
                </a:solidFill>
                <a:latin typeface="Arial"/>
              </a:rPr>
              <a:t>КРИТЕРИЙ: </a:t>
            </a:r>
            <a:r>
              <a:rPr b="1" lang="ru-RU" sz="800" spc="-1" strike="noStrike">
                <a:solidFill>
                  <a:srgbClr val="0f1020"/>
                </a:solidFill>
                <a:latin typeface="Arial"/>
              </a:rPr>
              <a:t>[Критерий успеха]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700" spc="-1" strike="noStrike">
                <a:solidFill>
                  <a:srgbClr val="64748b"/>
                </a:solidFill>
                <a:latin typeface="Arial"/>
              </a:rPr>
              <a:t>СРОК: </a:t>
            </a:r>
            <a:r>
              <a:rPr b="0" lang="ru-RU" sz="800" spc="-1" strike="noStrike">
                <a:solidFill>
                  <a:srgbClr val="0f1020"/>
                </a:solidFill>
                <a:latin typeface="Arial"/>
              </a:rPr>
              <a:t>[X дн.]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700" spc="-1" strike="noStrike">
                <a:solidFill>
                  <a:srgbClr val="64748b"/>
                </a:solidFill>
                <a:latin typeface="Arial"/>
              </a:rPr>
              <a:t>БЮДЖЕТ: </a:t>
            </a:r>
            <a:r>
              <a:rPr b="0" lang="ru-RU" sz="800" spc="-1" strike="noStrike">
                <a:solidFill>
                  <a:srgbClr val="0f1020"/>
                </a:solidFill>
                <a:latin typeface="Arial"/>
              </a:rPr>
              <a:t>[X руб.]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4" name="Rule"/>
          <p:cNvSpPr/>
          <p:nvPr/>
        </p:nvSpPr>
        <p:spPr>
          <a:xfrm>
            <a:off x="365760" y="4663440"/>
            <a:ext cx="8412120" cy="228240"/>
          </a:xfrm>
          <a:prstGeom prst="rect">
            <a:avLst/>
          </a:prstGeom>
          <a:solidFill>
            <a:srgbClr val="0f10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27360" bIns="27360" anchor="t">
            <a:noAutofit/>
          </a:bodyPr>
          <a:p>
            <a:pPr>
              <a:lnSpc>
                <a:spcPct val="100000"/>
              </a:lnSpc>
            </a:pPr>
            <a:r>
              <a:rPr b="1" lang="ru-RU" sz="900" spc="-1" strike="noStrike">
                <a:solidFill>
                  <a:srgbClr val="94a3f6"/>
                </a:solidFill>
                <a:latin typeface="Arial"/>
              </a:rPr>
              <a:t>▸ </a:t>
            </a:r>
            <a:r>
              <a:rPr b="1" lang="ru-RU" sz="900" spc="-1" strike="noStrike">
                <a:solidFill>
                  <a:srgbClr val="94a3f6"/>
                </a:solidFill>
                <a:latin typeface="Arial"/>
              </a:rPr>
              <a:t>Правило OST: ≥ 3 решения для целевой возможности (против confirmation bias)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5" name="Shape 3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6" name="Text 4"/>
          <p:cNvSpPr/>
          <p:nvPr/>
        </p:nvSpPr>
        <p:spPr>
          <a:xfrm>
            <a:off x="365760" y="4937760"/>
            <a:ext cx="64000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Источник: [указать источник]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Shape 0"/>
          <p:cNvSpPr/>
          <p:nvPr/>
        </p:nvSpPr>
        <p:spPr>
          <a:xfrm>
            <a:off x="0" y="0"/>
            <a:ext cx="319320" cy="5142960"/>
          </a:xfrm>
          <a:prstGeom prst="rect">
            <a:avLst/>
          </a:prstGeom>
          <a:solidFill>
            <a:srgbClr val="f5939e"/>
          </a:solidFill>
          <a:ln w="12700">
            <a:solidFill>
              <a:srgbClr val="f593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8" name="Text 1"/>
          <p:cNvSpPr/>
          <p:nvPr/>
        </p:nvSpPr>
        <p:spPr>
          <a:xfrm>
            <a:off x="548640" y="1737360"/>
            <a:ext cx="8046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395" strike="noStrike">
                <a:solidFill>
                  <a:srgbClr val="f5939e"/>
                </a:solidFill>
                <a:latin typeface="Calibri"/>
                <a:ea typeface="Calibri"/>
              </a:rPr>
              <a:t>РАЗДЕЛ 05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9" name="Text 2"/>
          <p:cNvSpPr/>
          <p:nvPr/>
        </p:nvSpPr>
        <p:spPr>
          <a:xfrm>
            <a:off x="548640" y="2148840"/>
            <a:ext cx="80460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ffffff"/>
                </a:solidFill>
                <a:latin typeface="Calibri"/>
                <a:ea typeface="Calibri"/>
              </a:rPr>
              <a:t>Альтернативный стратегический сценарий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Shape 0"/>
          <p:cNvSpPr/>
          <p:nvPr/>
        </p:nvSpPr>
        <p:spPr>
          <a:xfrm>
            <a:off x="0" y="0"/>
            <a:ext cx="9143280" cy="68508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1" name="Text 1"/>
          <p:cNvSpPr/>
          <p:nvPr/>
        </p:nvSpPr>
        <p:spPr>
          <a:xfrm>
            <a:off x="365760" y="0"/>
            <a:ext cx="7314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Ключевые изменения сценария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" name="Text 2"/>
          <p:cNvSpPr/>
          <p:nvPr/>
        </p:nvSpPr>
        <p:spPr>
          <a:xfrm>
            <a:off x="7132320" y="0"/>
            <a:ext cx="1828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94" strike="noStrike">
                <a:solidFill>
                  <a:srgbClr val="f5939e"/>
                </a:solidFill>
                <a:latin typeface="Calibri"/>
                <a:ea typeface="Calibri"/>
              </a:rPr>
              <a:t>АЛЬТ. СЦЕНАРИЙ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" name="Shape 3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4" name="Text 4"/>
          <p:cNvSpPr/>
          <p:nvPr/>
        </p:nvSpPr>
        <p:spPr>
          <a:xfrm>
            <a:off x="365760" y="4937760"/>
            <a:ext cx="64000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Источник: Альтернативный сценарий — гибридная модель (D2C online + pop-up showroom)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Shape 5"/>
          <p:cNvSpPr/>
          <p:nvPr/>
        </p:nvSpPr>
        <p:spPr>
          <a:xfrm>
            <a:off x="365760" y="822960"/>
            <a:ext cx="3794040" cy="3466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6" name="Text 6"/>
          <p:cNvSpPr/>
          <p:nvPr/>
        </p:nvSpPr>
        <p:spPr>
          <a:xfrm>
            <a:off x="365760" y="822960"/>
            <a:ext cx="37940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ТЕКУЩИЙ СЦЕНАРИЙ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Shape 7"/>
          <p:cNvSpPr/>
          <p:nvPr/>
        </p:nvSpPr>
        <p:spPr>
          <a:xfrm>
            <a:off x="4983480" y="822960"/>
            <a:ext cx="3794040" cy="346680"/>
          </a:xfrm>
          <a:prstGeom prst="rect">
            <a:avLst/>
          </a:prstGeom>
          <a:solidFill>
            <a:srgbClr val="f5939e"/>
          </a:solidFill>
          <a:ln w="12700">
            <a:solidFill>
              <a:srgbClr val="f593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8" name="Text 8"/>
          <p:cNvSpPr/>
          <p:nvPr/>
        </p:nvSpPr>
        <p:spPr>
          <a:xfrm>
            <a:off x="4983480" y="822960"/>
            <a:ext cx="37940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НОВЫЙ СЦЕНАРИЙ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" name="Shape 9"/>
          <p:cNvSpPr/>
          <p:nvPr/>
        </p:nvSpPr>
        <p:spPr>
          <a:xfrm>
            <a:off x="365760" y="1234440"/>
            <a:ext cx="3794040" cy="74916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0" name="Text 10"/>
          <p:cNvSpPr/>
          <p:nvPr/>
        </p:nvSpPr>
        <p:spPr>
          <a:xfrm>
            <a:off x="457200" y="1234440"/>
            <a:ext cx="109656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64748b"/>
                </a:solidFill>
                <a:latin typeface="Calibri"/>
                <a:ea typeface="Calibri"/>
              </a:rPr>
              <a:t>Сегмент потребителей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" name="Text 11"/>
          <p:cNvSpPr/>
          <p:nvPr/>
        </p:nvSpPr>
        <p:spPr>
          <a:xfrm>
            <a:off x="1554480" y="1234440"/>
            <a:ext cx="255960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f1020"/>
                </a:solidFill>
                <a:latin typeface="Calibri"/>
                <a:ea typeface="Calibri"/>
              </a:rPr>
              <a:t>Анна 28–42, доход 200K+, МСК/СПб, onlineonly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Shape 12"/>
          <p:cNvSpPr/>
          <p:nvPr/>
        </p:nvSpPr>
        <p:spPr>
          <a:xfrm>
            <a:off x="4983480" y="1234440"/>
            <a:ext cx="3794040" cy="749160"/>
          </a:xfrm>
          <a:prstGeom prst="rect">
            <a:avLst/>
          </a:prstGeom>
          <a:solidFill>
            <a:srgbClr val="fff1f2"/>
          </a:solidFill>
          <a:ln w="10160">
            <a:solidFill>
              <a:srgbClr val="f593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3" name="Text 13"/>
          <p:cNvSpPr/>
          <p:nvPr/>
        </p:nvSpPr>
        <p:spPr>
          <a:xfrm>
            <a:off x="5074920" y="1234440"/>
            <a:ext cx="361116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f1020"/>
                </a:solidFill>
                <a:latin typeface="Calibri"/>
                <a:ea typeface="Calibri"/>
              </a:rPr>
              <a:t>+ Анна 28–50 (до 50 лет с расширением); MСК/СПб/Казань/Екб; готова посетить pop-up для покупки 200K+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4" name="Text 14"/>
          <p:cNvSpPr/>
          <p:nvPr/>
        </p:nvSpPr>
        <p:spPr>
          <a:xfrm>
            <a:off x="4206240" y="1435680"/>
            <a:ext cx="7308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f5939e"/>
                </a:solidFill>
                <a:latin typeface="Calibri"/>
                <a:ea typeface="Calibri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Shape 15"/>
          <p:cNvSpPr/>
          <p:nvPr/>
        </p:nvSpPr>
        <p:spPr>
          <a:xfrm>
            <a:off x="365760" y="2130480"/>
            <a:ext cx="3794040" cy="74916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6" name="Text 16"/>
          <p:cNvSpPr/>
          <p:nvPr/>
        </p:nvSpPr>
        <p:spPr>
          <a:xfrm>
            <a:off x="457200" y="2130480"/>
            <a:ext cx="109656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64748b"/>
                </a:solidFill>
                <a:latin typeface="Calibri"/>
                <a:ea typeface="Calibri"/>
              </a:rPr>
              <a:t>Ценностное предложение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" name="Text 17"/>
          <p:cNvSpPr/>
          <p:nvPr/>
        </p:nvSpPr>
        <p:spPr>
          <a:xfrm>
            <a:off x="1554480" y="2130480"/>
            <a:ext cx="255960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f1020"/>
                </a:solidFill>
                <a:latin typeface="Calibri"/>
                <a:ea typeface="Calibri"/>
              </a:rPr>
              <a:t>«CVD 6ct+ онлайн напрямую от производителя — в 10–50× дешевле»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" name="Shape 18"/>
          <p:cNvSpPr/>
          <p:nvPr/>
        </p:nvSpPr>
        <p:spPr>
          <a:xfrm>
            <a:off x="4983480" y="2130480"/>
            <a:ext cx="3794040" cy="749160"/>
          </a:xfrm>
          <a:prstGeom prst="rect">
            <a:avLst/>
          </a:prstGeom>
          <a:solidFill>
            <a:srgbClr val="fff1f2"/>
          </a:solidFill>
          <a:ln w="10160">
            <a:solidFill>
              <a:srgbClr val="f593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9" name="Text 19"/>
          <p:cNvSpPr/>
          <p:nvPr/>
        </p:nvSpPr>
        <p:spPr>
          <a:xfrm>
            <a:off x="5074920" y="2130480"/>
            <a:ext cx="361116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f1020"/>
                </a:solidFill>
                <a:latin typeface="Calibri"/>
                <a:ea typeface="Calibri"/>
              </a:rPr>
              <a:t>«CVD 6ct+ онлайн или в нашем pop-up шоуруме Москвы — примерь до покупки; IGI-сертификат»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0" name="Text 20"/>
          <p:cNvSpPr/>
          <p:nvPr/>
        </p:nvSpPr>
        <p:spPr>
          <a:xfrm>
            <a:off x="4206240" y="2331720"/>
            <a:ext cx="7308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f5939e"/>
                </a:solidFill>
                <a:latin typeface="Calibri"/>
                <a:ea typeface="Calibri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1" name="Shape 21"/>
          <p:cNvSpPr/>
          <p:nvPr/>
        </p:nvSpPr>
        <p:spPr>
          <a:xfrm>
            <a:off x="365760" y="3026520"/>
            <a:ext cx="3794040" cy="74916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2" name="Text 22"/>
          <p:cNvSpPr/>
          <p:nvPr/>
        </p:nvSpPr>
        <p:spPr>
          <a:xfrm>
            <a:off x="457200" y="3026520"/>
            <a:ext cx="109656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64748b"/>
                </a:solidFill>
                <a:latin typeface="Calibri"/>
                <a:ea typeface="Calibri"/>
              </a:rPr>
              <a:t>Job-to-be-Done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3" name="Text 23"/>
          <p:cNvSpPr/>
          <p:nvPr/>
        </p:nvSpPr>
        <p:spPr>
          <a:xfrm>
            <a:off x="1554480" y="3026520"/>
            <a:ext cx="255960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f1020"/>
                </a:solidFill>
                <a:latin typeface="Calibri"/>
                <a:ea typeface="Calibri"/>
              </a:rPr>
              <a:t>Купить украшение с крупным бриллиантом онлайн без физической примерки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4" name="Shape 24"/>
          <p:cNvSpPr/>
          <p:nvPr/>
        </p:nvSpPr>
        <p:spPr>
          <a:xfrm>
            <a:off x="4983480" y="3026520"/>
            <a:ext cx="3794040" cy="749160"/>
          </a:xfrm>
          <a:prstGeom prst="rect">
            <a:avLst/>
          </a:prstGeom>
          <a:solidFill>
            <a:srgbClr val="fff1f2"/>
          </a:solidFill>
          <a:ln w="10160">
            <a:solidFill>
              <a:srgbClr val="f593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5" name="Text 25"/>
          <p:cNvSpPr/>
          <p:nvPr/>
        </p:nvSpPr>
        <p:spPr>
          <a:xfrm>
            <a:off x="5074920" y="3026520"/>
            <a:ext cx="361116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f1020"/>
                </a:solidFill>
                <a:latin typeface="Calibri"/>
                <a:ea typeface="Calibri"/>
              </a:rPr>
              <a:t>Купить или примерить украшение с крупным бриллиантом, снизив риск онлайн-покупки 200K+ через шоурум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6" name="Text 26"/>
          <p:cNvSpPr/>
          <p:nvPr/>
        </p:nvSpPr>
        <p:spPr>
          <a:xfrm>
            <a:off x="4206240" y="3227760"/>
            <a:ext cx="7308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f5939e"/>
                </a:solidFill>
                <a:latin typeface="Calibri"/>
                <a:ea typeface="Calibri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7" name="Shape 27"/>
          <p:cNvSpPr/>
          <p:nvPr/>
        </p:nvSpPr>
        <p:spPr>
          <a:xfrm>
            <a:off x="365760" y="3922920"/>
            <a:ext cx="3794040" cy="74916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8" name="Text 28"/>
          <p:cNvSpPr/>
          <p:nvPr/>
        </p:nvSpPr>
        <p:spPr>
          <a:xfrm>
            <a:off x="457200" y="3922920"/>
            <a:ext cx="109656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64748b"/>
                </a:solidFill>
                <a:latin typeface="Calibri"/>
                <a:ea typeface="Calibri"/>
              </a:rPr>
              <a:t>Бизнес-модель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9" name="Text 29"/>
          <p:cNvSpPr/>
          <p:nvPr/>
        </p:nvSpPr>
        <p:spPr>
          <a:xfrm>
            <a:off x="1554480" y="3922920"/>
            <a:ext cx="255960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f1020"/>
                </a:solidFill>
                <a:latin typeface="Calibri"/>
                <a:ea typeface="Calibri"/>
              </a:rPr>
              <a:t>Разовые продажи онлайн, средний чек 250K ₽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0" name="Shape 30"/>
          <p:cNvSpPr/>
          <p:nvPr/>
        </p:nvSpPr>
        <p:spPr>
          <a:xfrm>
            <a:off x="4983480" y="3922920"/>
            <a:ext cx="3794040" cy="749160"/>
          </a:xfrm>
          <a:prstGeom prst="rect">
            <a:avLst/>
          </a:prstGeom>
          <a:solidFill>
            <a:srgbClr val="fff1f2"/>
          </a:solidFill>
          <a:ln w="10160">
            <a:solidFill>
              <a:srgbClr val="f593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51" name="Text 31"/>
          <p:cNvSpPr/>
          <p:nvPr/>
        </p:nvSpPr>
        <p:spPr>
          <a:xfrm>
            <a:off x="5074920" y="3922920"/>
            <a:ext cx="361116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f1020"/>
                </a:solidFill>
                <a:latin typeface="Calibri"/>
                <a:ea typeface="Calibri"/>
              </a:rPr>
              <a:t>Разовые продажи + pop-up со встречей → средний чек 300K+ (upsell при личной консультации); LTV растёт на 20–30%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2" name="Text 32"/>
          <p:cNvSpPr/>
          <p:nvPr/>
        </p:nvSpPr>
        <p:spPr>
          <a:xfrm>
            <a:off x="4206240" y="4123800"/>
            <a:ext cx="7308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f5939e"/>
                </a:solidFill>
                <a:latin typeface="Calibri"/>
                <a:ea typeface="Calibri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Shape 0"/>
          <p:cNvSpPr/>
          <p:nvPr/>
        </p:nvSpPr>
        <p:spPr>
          <a:xfrm>
            <a:off x="0" y="0"/>
            <a:ext cx="9143280" cy="68508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54" name="Text 1"/>
          <p:cNvSpPr/>
          <p:nvPr/>
        </p:nvSpPr>
        <p:spPr>
          <a:xfrm>
            <a:off x="365760" y="0"/>
            <a:ext cx="7314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RICE-приоритизация возможностей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Text 2"/>
          <p:cNvSpPr/>
          <p:nvPr/>
        </p:nvSpPr>
        <p:spPr>
          <a:xfrm>
            <a:off x="7132320" y="0"/>
            <a:ext cx="1828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94" strike="noStrike">
                <a:solidFill>
                  <a:srgbClr val="f5939e"/>
                </a:solidFill>
                <a:latin typeface="Calibri"/>
                <a:ea typeface="Calibri"/>
              </a:rPr>
              <a:t>АЛЬТ. СЦЕНАРИЙ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6" name="Shape 3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57" name="Text 4"/>
          <p:cNvSpPr/>
          <p:nvPr/>
        </p:nvSpPr>
        <p:spPr>
          <a:xfrm>
            <a:off x="365760" y="4937760"/>
            <a:ext cx="64000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Источник: RICE = (Reach × Impact × Confidence) / Effort; PD WD 2026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8" name="Text 37"/>
          <p:cNvSpPr/>
          <p:nvPr/>
        </p:nvSpPr>
        <p:spPr>
          <a:xfrm>
            <a:off x="365760" y="777240"/>
            <a:ext cx="8411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94" strike="noStrike">
                <a:solidFill>
                  <a:srgbClr val="64748b"/>
                </a:solidFill>
                <a:latin typeface="Calibri"/>
                <a:ea typeface="Calibri"/>
              </a:rPr>
              <a:t>RICE-ПРИОРИТИЗАЦИЯ ВОЗМОЖНОСТЕЙ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9" name="Shape 38"/>
          <p:cNvSpPr/>
          <p:nvPr/>
        </p:nvSpPr>
        <p:spPr>
          <a:xfrm>
            <a:off x="365760" y="1051560"/>
            <a:ext cx="3199680" cy="31932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60" name="Text 39"/>
          <p:cNvSpPr/>
          <p:nvPr/>
        </p:nvSpPr>
        <p:spPr>
          <a:xfrm>
            <a:off x="365760" y="1051560"/>
            <a:ext cx="3199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Возможность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1" name="Shape 40"/>
          <p:cNvSpPr/>
          <p:nvPr/>
        </p:nvSpPr>
        <p:spPr>
          <a:xfrm>
            <a:off x="3602880" y="1051560"/>
            <a:ext cx="1005120" cy="31932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62" name="Text 41"/>
          <p:cNvSpPr/>
          <p:nvPr/>
        </p:nvSpPr>
        <p:spPr>
          <a:xfrm>
            <a:off x="3602880" y="1051560"/>
            <a:ext cx="1005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Reach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3" name="Shape 42"/>
          <p:cNvSpPr/>
          <p:nvPr/>
        </p:nvSpPr>
        <p:spPr>
          <a:xfrm>
            <a:off x="4645080" y="1051560"/>
            <a:ext cx="1005120" cy="31932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64" name="Text 43"/>
          <p:cNvSpPr/>
          <p:nvPr/>
        </p:nvSpPr>
        <p:spPr>
          <a:xfrm>
            <a:off x="4645080" y="1051560"/>
            <a:ext cx="1005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Impact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5" name="Shape 44"/>
          <p:cNvSpPr/>
          <p:nvPr/>
        </p:nvSpPr>
        <p:spPr>
          <a:xfrm>
            <a:off x="5687640" y="1051560"/>
            <a:ext cx="1370880" cy="31932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66" name="Text 45"/>
          <p:cNvSpPr/>
          <p:nvPr/>
        </p:nvSpPr>
        <p:spPr>
          <a:xfrm>
            <a:off x="5687640" y="1051560"/>
            <a:ext cx="1370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Confidence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7" name="Shape 46"/>
          <p:cNvSpPr/>
          <p:nvPr/>
        </p:nvSpPr>
        <p:spPr>
          <a:xfrm>
            <a:off x="7095600" y="1051560"/>
            <a:ext cx="913680" cy="31932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68" name="Text 47"/>
          <p:cNvSpPr/>
          <p:nvPr/>
        </p:nvSpPr>
        <p:spPr>
          <a:xfrm>
            <a:off x="7095600" y="1051560"/>
            <a:ext cx="913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Effort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9" name="Shape 48"/>
          <p:cNvSpPr/>
          <p:nvPr/>
        </p:nvSpPr>
        <p:spPr>
          <a:xfrm>
            <a:off x="8046720" y="1051560"/>
            <a:ext cx="1462320" cy="31932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70" name="Text 49"/>
          <p:cNvSpPr/>
          <p:nvPr/>
        </p:nvSpPr>
        <p:spPr>
          <a:xfrm>
            <a:off x="8046720" y="1051560"/>
            <a:ext cx="1462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RICE Score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1" name="Shape 50"/>
          <p:cNvSpPr/>
          <p:nvPr/>
        </p:nvSpPr>
        <p:spPr>
          <a:xfrm>
            <a:off x="365760" y="1408320"/>
            <a:ext cx="3199680" cy="273600"/>
          </a:xfrm>
          <a:prstGeom prst="rect">
            <a:avLst/>
          </a:prstGeom>
          <a:solidFill>
            <a:srgbClr val="f4f5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72" name="Text 51"/>
          <p:cNvSpPr/>
          <p:nvPr/>
        </p:nvSpPr>
        <p:spPr>
          <a:xfrm>
            <a:off x="365760" y="1408320"/>
            <a:ext cx="3199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0f1020"/>
                </a:solidFill>
                <a:latin typeface="Calibri"/>
                <a:ea typeface="Calibri"/>
              </a:rPr>
              <a:t>Возможность A: Доступный крупный CVD 6ct+ (OS=16) | R=400 (лидов/мес) × I=3 × C=0.7 / E=2 = 420 | 🔴 ТОП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3" name="Shape 52"/>
          <p:cNvSpPr/>
          <p:nvPr/>
        </p:nvSpPr>
        <p:spPr>
          <a:xfrm>
            <a:off x="3602880" y="1408320"/>
            <a:ext cx="1005120" cy="273600"/>
          </a:xfrm>
          <a:prstGeom prst="rect">
            <a:avLst/>
          </a:prstGeom>
          <a:solidFill>
            <a:srgbClr val="f4f5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74" name="Text 53"/>
          <p:cNvSpPr/>
          <p:nvPr/>
        </p:nvSpPr>
        <p:spPr>
          <a:xfrm>
            <a:off x="3602880" y="1408320"/>
            <a:ext cx="1005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64748b"/>
                </a:solidFill>
                <a:latin typeface="Calibri"/>
                <a:ea typeface="Calibri"/>
              </a:rPr>
              <a:t>500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5" name="Shape 54"/>
          <p:cNvSpPr/>
          <p:nvPr/>
        </p:nvSpPr>
        <p:spPr>
          <a:xfrm>
            <a:off x="4645080" y="1408320"/>
            <a:ext cx="1005120" cy="273600"/>
          </a:xfrm>
          <a:prstGeom prst="rect">
            <a:avLst/>
          </a:prstGeom>
          <a:solidFill>
            <a:srgbClr val="f4f5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76" name="Text 55"/>
          <p:cNvSpPr/>
          <p:nvPr/>
        </p:nvSpPr>
        <p:spPr>
          <a:xfrm>
            <a:off x="4645080" y="1408320"/>
            <a:ext cx="1005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64748b"/>
                </a:solidFill>
                <a:latin typeface="Calibri"/>
                <a:ea typeface="Calibri"/>
              </a:rPr>
              <a:t>2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7" name="Shape 56"/>
          <p:cNvSpPr/>
          <p:nvPr/>
        </p:nvSpPr>
        <p:spPr>
          <a:xfrm>
            <a:off x="5687640" y="1408320"/>
            <a:ext cx="1370880" cy="273600"/>
          </a:xfrm>
          <a:prstGeom prst="rect">
            <a:avLst/>
          </a:prstGeom>
          <a:solidFill>
            <a:srgbClr val="f4f5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78" name="Text 57"/>
          <p:cNvSpPr/>
          <p:nvPr/>
        </p:nvSpPr>
        <p:spPr>
          <a:xfrm>
            <a:off x="5687640" y="1408320"/>
            <a:ext cx="1370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64748b"/>
                </a:solidFill>
                <a:latin typeface="Calibri"/>
                <a:ea typeface="Calibri"/>
              </a:rPr>
              <a:t>80%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9" name="Shape 58"/>
          <p:cNvSpPr/>
          <p:nvPr/>
        </p:nvSpPr>
        <p:spPr>
          <a:xfrm>
            <a:off x="7095600" y="1408320"/>
            <a:ext cx="913680" cy="273600"/>
          </a:xfrm>
          <a:prstGeom prst="rect">
            <a:avLst/>
          </a:prstGeom>
          <a:solidFill>
            <a:srgbClr val="f4f5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0" name="Text 59"/>
          <p:cNvSpPr/>
          <p:nvPr/>
        </p:nvSpPr>
        <p:spPr>
          <a:xfrm>
            <a:off x="7095600" y="1408320"/>
            <a:ext cx="913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64748b"/>
                </a:solidFill>
                <a:latin typeface="Calibri"/>
                <a:ea typeface="Calibri"/>
              </a:rPr>
              <a:t>2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1" name="Shape 60"/>
          <p:cNvSpPr/>
          <p:nvPr/>
        </p:nvSpPr>
        <p:spPr>
          <a:xfrm>
            <a:off x="8046720" y="1408320"/>
            <a:ext cx="1462320" cy="273600"/>
          </a:xfrm>
          <a:prstGeom prst="rect">
            <a:avLst/>
          </a:prstGeom>
          <a:solidFill>
            <a:srgbClr val="f4f5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2" name="Text 61"/>
          <p:cNvSpPr/>
          <p:nvPr/>
        </p:nvSpPr>
        <p:spPr>
          <a:xfrm>
            <a:off x="8046720" y="1408320"/>
            <a:ext cx="1462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94a3f6"/>
                </a:solidFill>
                <a:latin typeface="Calibri"/>
                <a:ea typeface="Calibri"/>
              </a:rPr>
              <a:t>400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3" name="Shape 62"/>
          <p:cNvSpPr/>
          <p:nvPr/>
        </p:nvSpPr>
        <p:spPr>
          <a:xfrm>
            <a:off x="365760" y="1719000"/>
            <a:ext cx="3199680" cy="273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4" name="Text 63"/>
          <p:cNvSpPr/>
          <p:nvPr/>
        </p:nvSpPr>
        <p:spPr>
          <a:xfrm>
            <a:off x="365760" y="1719000"/>
            <a:ext cx="3199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0f1020"/>
                </a:solidFill>
                <a:latin typeface="Calibri"/>
                <a:ea typeface="Calibri"/>
              </a:rPr>
              <a:t>Возможность B: Уверенность в подлинности через IGI (OS=15) | R=400 × I=2 × C=0.9 / E=1 = 720 | 🟠 ВЫСОКИЙ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5" name="Shape 64"/>
          <p:cNvSpPr/>
          <p:nvPr/>
        </p:nvSpPr>
        <p:spPr>
          <a:xfrm>
            <a:off x="3602880" y="1719000"/>
            <a:ext cx="1005120" cy="273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6" name="Text 65"/>
          <p:cNvSpPr/>
          <p:nvPr/>
        </p:nvSpPr>
        <p:spPr>
          <a:xfrm>
            <a:off x="3602880" y="1719000"/>
            <a:ext cx="1005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64748b"/>
                </a:solidFill>
                <a:latin typeface="Calibri"/>
                <a:ea typeface="Calibri"/>
              </a:rPr>
              <a:t>200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7" name="Shape 66"/>
          <p:cNvSpPr/>
          <p:nvPr/>
        </p:nvSpPr>
        <p:spPr>
          <a:xfrm>
            <a:off x="4645080" y="1719000"/>
            <a:ext cx="1005120" cy="273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8" name="Text 67"/>
          <p:cNvSpPr/>
          <p:nvPr/>
        </p:nvSpPr>
        <p:spPr>
          <a:xfrm>
            <a:off x="4645080" y="1719000"/>
            <a:ext cx="1005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64748b"/>
                </a:solidFill>
                <a:latin typeface="Calibri"/>
                <a:ea typeface="Calibri"/>
              </a:rPr>
              <a:t>3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9" name="Shape 68"/>
          <p:cNvSpPr/>
          <p:nvPr/>
        </p:nvSpPr>
        <p:spPr>
          <a:xfrm>
            <a:off x="5687640" y="1719000"/>
            <a:ext cx="1370880" cy="273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90" name="Text 69"/>
          <p:cNvSpPr/>
          <p:nvPr/>
        </p:nvSpPr>
        <p:spPr>
          <a:xfrm>
            <a:off x="5687640" y="1719000"/>
            <a:ext cx="1370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64748b"/>
                </a:solidFill>
                <a:latin typeface="Calibri"/>
                <a:ea typeface="Calibri"/>
              </a:rPr>
              <a:t>50%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1" name="Shape 70"/>
          <p:cNvSpPr/>
          <p:nvPr/>
        </p:nvSpPr>
        <p:spPr>
          <a:xfrm>
            <a:off x="7095600" y="1719000"/>
            <a:ext cx="913680" cy="273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92" name="Text 71"/>
          <p:cNvSpPr/>
          <p:nvPr/>
        </p:nvSpPr>
        <p:spPr>
          <a:xfrm>
            <a:off x="7095600" y="1719000"/>
            <a:ext cx="913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64748b"/>
                </a:solidFill>
                <a:latin typeface="Calibri"/>
                <a:ea typeface="Calibri"/>
              </a:rPr>
              <a:t>4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3" name="Shape 72"/>
          <p:cNvSpPr/>
          <p:nvPr/>
        </p:nvSpPr>
        <p:spPr>
          <a:xfrm>
            <a:off x="8046720" y="1719000"/>
            <a:ext cx="1462320" cy="273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94" name="Text 73"/>
          <p:cNvSpPr/>
          <p:nvPr/>
        </p:nvSpPr>
        <p:spPr>
          <a:xfrm>
            <a:off x="8046720" y="1719000"/>
            <a:ext cx="1462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94a3f6"/>
                </a:solidFill>
                <a:latin typeface="Calibri"/>
                <a:ea typeface="Calibri"/>
              </a:rPr>
              <a:t>75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5" name="Shape 74"/>
          <p:cNvSpPr/>
          <p:nvPr/>
        </p:nvSpPr>
        <p:spPr>
          <a:xfrm>
            <a:off x="365760" y="2030040"/>
            <a:ext cx="3199680" cy="273600"/>
          </a:xfrm>
          <a:prstGeom prst="rect">
            <a:avLst/>
          </a:prstGeom>
          <a:solidFill>
            <a:srgbClr val="f4f5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96" name="Text 75"/>
          <p:cNvSpPr/>
          <p:nvPr/>
        </p:nvSpPr>
        <p:spPr>
          <a:xfrm>
            <a:off x="365760" y="2030040"/>
            <a:ext cx="3199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0f1020"/>
                </a:solidFill>
                <a:latin typeface="Calibri"/>
                <a:ea typeface="Calibri"/>
              </a:rPr>
              <a:t>Возможность C: «Смотрится дорого» — соц. сигнал (OS=14) | R=300 × I=2 × C=0.5 / E=3 = 100 | 🟡 СРЕДНИЙ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7" name="Shape 76"/>
          <p:cNvSpPr/>
          <p:nvPr/>
        </p:nvSpPr>
        <p:spPr>
          <a:xfrm>
            <a:off x="3602880" y="2030040"/>
            <a:ext cx="1005120" cy="273600"/>
          </a:xfrm>
          <a:prstGeom prst="rect">
            <a:avLst/>
          </a:prstGeom>
          <a:solidFill>
            <a:srgbClr val="f4f5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98" name="Text 77"/>
          <p:cNvSpPr/>
          <p:nvPr/>
        </p:nvSpPr>
        <p:spPr>
          <a:xfrm>
            <a:off x="3602880" y="2030040"/>
            <a:ext cx="1005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64748b"/>
                </a:solidFill>
                <a:latin typeface="Calibri"/>
                <a:ea typeface="Calibri"/>
              </a:rPr>
              <a:t>800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9" name="Shape 78"/>
          <p:cNvSpPr/>
          <p:nvPr/>
        </p:nvSpPr>
        <p:spPr>
          <a:xfrm>
            <a:off x="4645080" y="2030040"/>
            <a:ext cx="1005120" cy="273600"/>
          </a:xfrm>
          <a:prstGeom prst="rect">
            <a:avLst/>
          </a:prstGeom>
          <a:solidFill>
            <a:srgbClr val="f4f5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00" name="Text 79"/>
          <p:cNvSpPr/>
          <p:nvPr/>
        </p:nvSpPr>
        <p:spPr>
          <a:xfrm>
            <a:off x="4645080" y="2030040"/>
            <a:ext cx="1005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64748b"/>
                </a:solidFill>
                <a:latin typeface="Calibri"/>
                <a:ea typeface="Calibri"/>
              </a:rPr>
              <a:t>1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1" name="Shape 80"/>
          <p:cNvSpPr/>
          <p:nvPr/>
        </p:nvSpPr>
        <p:spPr>
          <a:xfrm>
            <a:off x="5687640" y="2030040"/>
            <a:ext cx="1370880" cy="273600"/>
          </a:xfrm>
          <a:prstGeom prst="rect">
            <a:avLst/>
          </a:prstGeom>
          <a:solidFill>
            <a:srgbClr val="f4f5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02" name="Text 81"/>
          <p:cNvSpPr/>
          <p:nvPr/>
        </p:nvSpPr>
        <p:spPr>
          <a:xfrm>
            <a:off x="5687640" y="2030040"/>
            <a:ext cx="1370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64748b"/>
                </a:solidFill>
                <a:latin typeface="Calibri"/>
                <a:ea typeface="Calibri"/>
              </a:rPr>
              <a:t>100%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3" name="Shape 82"/>
          <p:cNvSpPr/>
          <p:nvPr/>
        </p:nvSpPr>
        <p:spPr>
          <a:xfrm>
            <a:off x="7095600" y="2030040"/>
            <a:ext cx="913680" cy="273600"/>
          </a:xfrm>
          <a:prstGeom prst="rect">
            <a:avLst/>
          </a:prstGeom>
          <a:solidFill>
            <a:srgbClr val="f4f5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04" name="Text 83"/>
          <p:cNvSpPr/>
          <p:nvPr/>
        </p:nvSpPr>
        <p:spPr>
          <a:xfrm>
            <a:off x="7095600" y="2030040"/>
            <a:ext cx="913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64748b"/>
                </a:solidFill>
                <a:latin typeface="Calibri"/>
                <a:ea typeface="Calibri"/>
              </a:rPr>
              <a:t>1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5" name="Shape 84"/>
          <p:cNvSpPr/>
          <p:nvPr/>
        </p:nvSpPr>
        <p:spPr>
          <a:xfrm>
            <a:off x="8046720" y="2030040"/>
            <a:ext cx="1462320" cy="273600"/>
          </a:xfrm>
          <a:prstGeom prst="rect">
            <a:avLst/>
          </a:prstGeom>
          <a:solidFill>
            <a:srgbClr val="f4f5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06" name="Text 85"/>
          <p:cNvSpPr/>
          <p:nvPr/>
        </p:nvSpPr>
        <p:spPr>
          <a:xfrm>
            <a:off x="8046720" y="2030040"/>
            <a:ext cx="1462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94a3f6"/>
                </a:solidFill>
                <a:latin typeface="Calibri"/>
                <a:ea typeface="Calibri"/>
              </a:rPr>
              <a:t>800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7" name="TextBox 87"/>
          <p:cNvSpPr/>
          <p:nvPr/>
        </p:nvSpPr>
        <p:spPr>
          <a:xfrm>
            <a:off x="365760" y="3154680"/>
            <a:ext cx="8411760" cy="1203480"/>
          </a:xfrm>
          <a:prstGeom prst="rect">
            <a:avLst/>
          </a:prstGeom>
          <a:solidFill>
            <a:srgbClr val="1a335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100" spc="-1" strike="noStrike">
                <a:solidFill>
                  <a:srgbClr val="94a3f6"/>
                </a:solidFill>
                <a:latin typeface="Calibri"/>
              </a:rPr>
              <a:t>RICE = (Reach × Impact × Confidence) / Effort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00" spc="-1" strike="noStrike">
                <a:solidFill>
                  <a:srgbClr val="e2e8f0"/>
                </a:solidFill>
                <a:latin typeface="Calibri"/>
              </a:rPr>
              <a:t>▸  </a:t>
            </a:r>
            <a:r>
              <a:rPr b="0" lang="en-US" sz="1000" spc="-1" strike="noStrike">
                <a:solidFill>
                  <a:srgbClr val="e2e8f0"/>
                </a:solidFill>
                <a:latin typeface="Calibri"/>
              </a:rPr>
              <a:t>Reach — охват (чел./мес.) из целевого сегмента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00" spc="-1" strike="noStrike">
                <a:solidFill>
                  <a:srgbClr val="e2e8f0"/>
                </a:solidFill>
                <a:latin typeface="Calibri"/>
              </a:rPr>
              <a:t>▸  </a:t>
            </a:r>
            <a:r>
              <a:rPr b="0" lang="en-US" sz="1000" spc="-1" strike="noStrike">
                <a:solidFill>
                  <a:srgbClr val="e2e8f0"/>
                </a:solidFill>
                <a:latin typeface="Calibri"/>
              </a:rPr>
              <a:t>Impact — используй OS из задачи 7: OS ≥ 15 → 3 | OS 10–14 → 2 | OS 6–9 → 1 | OS &lt; 6 → 0.5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00" spc="-1" strike="noStrike">
                <a:solidFill>
                  <a:srgbClr val="e2e8f0"/>
                </a:solidFill>
                <a:latin typeface="Calibri"/>
              </a:rPr>
              <a:t>▸  </a:t>
            </a:r>
            <a:r>
              <a:rPr b="0" lang="en-US" sz="1000" spc="-1" strike="noStrike">
                <a:solidFill>
                  <a:srgbClr val="e2e8f0"/>
                </a:solidFill>
                <a:latin typeface="Calibri"/>
              </a:rPr>
              <a:t>Confidence — 100% (есть данные) / 80% (интервью) / 50% (гипотеза)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00" spc="-1" strike="noStrike">
                <a:solidFill>
                  <a:srgbClr val="e2e8f0"/>
                </a:solidFill>
                <a:latin typeface="Calibri"/>
              </a:rPr>
              <a:t>▸  </a:t>
            </a:r>
            <a:r>
              <a:rPr b="0" lang="en-US" sz="1000" spc="-1" strike="noStrike">
                <a:solidFill>
                  <a:srgbClr val="e2e8f0"/>
                </a:solidFill>
                <a:latin typeface="Calibri"/>
              </a:rPr>
              <a:t>Effort — человеко-месяцы на реализацию решения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1000" spc="-1" strike="noStrike">
                <a:solidFill>
                  <a:srgbClr val="457e4a"/>
                </a:solidFill>
                <a:latin typeface="Calibri"/>
              </a:rPr>
              <a:t>Возможность с наивысшим RICE Score — целевая для OST уровней 3–4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Shape 0"/>
          <p:cNvSpPr/>
          <p:nvPr/>
        </p:nvSpPr>
        <p:spPr>
          <a:xfrm>
            <a:off x="0" y="0"/>
            <a:ext cx="9143280" cy="68508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09" name="Text 1"/>
          <p:cNvSpPr/>
          <p:nvPr/>
        </p:nvSpPr>
        <p:spPr>
          <a:xfrm>
            <a:off x="365760" y="0"/>
            <a:ext cx="7314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Пул гипотез + план тестирования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0" name="Text 2"/>
          <p:cNvSpPr/>
          <p:nvPr/>
        </p:nvSpPr>
        <p:spPr>
          <a:xfrm>
            <a:off x="7132320" y="0"/>
            <a:ext cx="1828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94" strike="noStrike">
                <a:solidFill>
                  <a:srgbClr val="f5939e"/>
                </a:solidFill>
                <a:latin typeface="Calibri"/>
                <a:ea typeface="Calibri"/>
              </a:rPr>
              <a:t>АЛЬТ. СЦЕНАРИЙ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1" name="Subtitle"/>
          <p:cNvSpPr/>
          <p:nvPr/>
        </p:nvSpPr>
        <p:spPr>
          <a:xfrm>
            <a:off x="365760" y="868680"/>
            <a:ext cx="8412120" cy="365400"/>
          </a:xfrm>
          <a:prstGeom prst="rect">
            <a:avLst/>
          </a:prstGeom>
          <a:solidFill>
            <a:srgbClr val="0f10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</a:pPr>
            <a:r>
              <a:rPr b="1" lang="ru-RU" sz="1000" spc="-1" strike="noStrike">
                <a:solidFill>
                  <a:srgbClr val="94a3f6"/>
                </a:solidFill>
                <a:latin typeface="Arial"/>
              </a:rPr>
              <a:t>ТОП-3 РИСКОВЫЕ ГИПОТЕЗЫ — порядок проверки перед запуском первых продаж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2" name="HypHead0"/>
          <p:cNvSpPr/>
          <p:nvPr/>
        </p:nvSpPr>
        <p:spPr>
          <a:xfrm>
            <a:off x="365760" y="1325880"/>
            <a:ext cx="2706120" cy="594000"/>
          </a:xfrm>
          <a:prstGeom prst="rect">
            <a:avLst/>
          </a:prstGeom>
          <a:solidFill>
            <a:srgbClr val="e5737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e8eaf6"/>
                </a:solidFill>
                <a:latin typeface="Arial"/>
              </a:rPr>
              <a:t>ГИПОТЕЗА 1</a:t>
            </a:r>
            <a:r>
              <a:rPr b="1" lang="ru-RU" sz="900" spc="-1" strike="noStrike">
                <a:solidFill>
                  <a:srgbClr val="ffffff"/>
                </a:solidFill>
                <a:latin typeface="Arial"/>
              </a:rPr>
              <a:t>  ·  Потребности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ffffff"/>
                </a:solidFill>
                <a:latin typeface="Arial"/>
              </a:rPr>
              <a:t>[РИСК]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3" name="HypBody0"/>
          <p:cNvSpPr/>
          <p:nvPr/>
        </p:nvSpPr>
        <p:spPr>
          <a:xfrm>
            <a:off x="365760" y="1920240"/>
            <a:ext cx="2706120" cy="20113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91440" bIns="91440" anchor="t">
            <a:noAutofit/>
          </a:bodyPr>
          <a:p>
            <a:pPr>
              <a:lnSpc>
                <a:spcPct val="100000"/>
              </a:lnSpc>
            </a:pPr>
            <a:r>
              <a:rPr b="1" lang="ru-RU" sz="800" spc="-1" strike="noStrike">
                <a:solidFill>
                  <a:srgbClr val="94a3f6"/>
                </a:solidFill>
                <a:latin typeface="Arial"/>
              </a:rPr>
              <a:t>ФОРМУЛИРОВКА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f1020"/>
                </a:solidFill>
                <a:latin typeface="Arial"/>
              </a:rPr>
              <a:t>[Гипотеза 1 — формулировка в формате «Сегмент готов делать X за Y»]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800" spc="-1" strike="noStrike">
                <a:solidFill>
                  <a:srgbClr val="94a3f6"/>
                </a:solidFill>
                <a:latin typeface="Arial"/>
              </a:rPr>
              <a:t>МЕТОД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f1020"/>
                </a:solidFill>
                <a:latin typeface="Arial"/>
              </a:rPr>
              <a:t>[Метод проверки: интервью / Smoke Test / Wizard of Oz / и т.д.]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800" spc="-1" strike="noStrike">
                <a:solidFill>
                  <a:srgbClr val="4a8a4f"/>
                </a:solidFill>
                <a:latin typeface="Arial"/>
              </a:rPr>
              <a:t>КРИТЕРИЙ ✅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f1020"/>
                </a:solidFill>
                <a:latin typeface="Arial"/>
              </a:rPr>
              <a:t>[Критерий успеха: количественный порог]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4" name="HypFoot0"/>
          <p:cNvSpPr/>
          <p:nvPr/>
        </p:nvSpPr>
        <p:spPr>
          <a:xfrm>
            <a:off x="365760" y="3931920"/>
            <a:ext cx="2706120" cy="411120"/>
          </a:xfrm>
          <a:prstGeom prst="rect">
            <a:avLst/>
          </a:prstGeom>
          <a:solidFill>
            <a:srgbClr val="1a1f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</a:pPr>
            <a:r>
              <a:rPr b="0" lang="ru-RU" sz="800" spc="-1" strike="noStrike">
                <a:solidFill>
                  <a:srgbClr val="e8eaf6"/>
                </a:solidFill>
                <a:latin typeface="Arial"/>
              </a:rPr>
              <a:t>СРОК: </a:t>
            </a:r>
            <a:r>
              <a:rPr b="1" lang="ru-RU" sz="900" spc="-1" strike="noStrike">
                <a:solidFill>
                  <a:srgbClr val="ffffff"/>
                </a:solidFill>
                <a:latin typeface="Arial"/>
              </a:rPr>
              <a:t>[X дн.]</a:t>
            </a:r>
            <a:r>
              <a:rPr b="0" lang="ru-RU" sz="900" spc="-1" strike="noStrike">
                <a:solidFill>
                  <a:srgbClr val="94a3f6"/>
                </a:solidFill>
                <a:latin typeface="Arial"/>
              </a:rPr>
              <a:t>   |   </a:t>
            </a:r>
            <a:r>
              <a:rPr b="0" lang="ru-RU" sz="800" spc="-1" strike="noStrike">
                <a:solidFill>
                  <a:srgbClr val="e8eaf6"/>
                </a:solidFill>
                <a:latin typeface="Arial"/>
              </a:rPr>
              <a:t>БЮДЖЕТ: </a:t>
            </a:r>
            <a:r>
              <a:rPr b="1" lang="ru-RU" sz="900" spc="-1" strike="noStrike">
                <a:solidFill>
                  <a:srgbClr val="ffffff"/>
                </a:solidFill>
                <a:latin typeface="Arial"/>
              </a:rPr>
              <a:t>[X руб.]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5" name="HypHead1"/>
          <p:cNvSpPr/>
          <p:nvPr/>
        </p:nvSpPr>
        <p:spPr>
          <a:xfrm>
            <a:off x="3127320" y="1325880"/>
            <a:ext cx="2706120" cy="594000"/>
          </a:xfrm>
          <a:prstGeom prst="rect">
            <a:avLst/>
          </a:prstGeom>
          <a:solidFill>
            <a:srgbClr val="e5737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e8eaf6"/>
                </a:solidFill>
                <a:latin typeface="Arial"/>
              </a:rPr>
              <a:t>ГИПОТЕЗА 2</a:t>
            </a:r>
            <a:r>
              <a:rPr b="1" lang="ru-RU" sz="900" spc="-1" strike="noStrike">
                <a:solidFill>
                  <a:srgbClr val="ffffff"/>
                </a:solidFill>
                <a:latin typeface="Arial"/>
              </a:rPr>
              <a:t>  ·  Спроса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ffffff"/>
                </a:solidFill>
                <a:latin typeface="Arial"/>
              </a:rPr>
              <a:t>[РИСК]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6" name="HypBody1"/>
          <p:cNvSpPr/>
          <p:nvPr/>
        </p:nvSpPr>
        <p:spPr>
          <a:xfrm>
            <a:off x="3127320" y="1920240"/>
            <a:ext cx="2706120" cy="20113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91440" bIns="91440" anchor="t">
            <a:noAutofit/>
          </a:bodyPr>
          <a:p>
            <a:pPr>
              <a:lnSpc>
                <a:spcPct val="100000"/>
              </a:lnSpc>
            </a:pPr>
            <a:r>
              <a:rPr b="1" lang="ru-RU" sz="800" spc="-1" strike="noStrike">
                <a:solidFill>
                  <a:srgbClr val="94a3f6"/>
                </a:solidFill>
                <a:latin typeface="Arial"/>
              </a:rPr>
              <a:t>ФОРМУЛИРОВКА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f1020"/>
                </a:solidFill>
                <a:latin typeface="Arial"/>
              </a:rPr>
              <a:t>[Гипотеза 2 — формулировка]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800" spc="-1" strike="noStrike">
                <a:solidFill>
                  <a:srgbClr val="94a3f6"/>
                </a:solidFill>
                <a:latin typeface="Arial"/>
              </a:rPr>
              <a:t>МЕТОД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f1020"/>
                </a:solidFill>
                <a:latin typeface="Arial"/>
              </a:rPr>
              <a:t>[Метод проверки]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800" spc="-1" strike="noStrike">
                <a:solidFill>
                  <a:srgbClr val="4a8a4f"/>
                </a:solidFill>
                <a:latin typeface="Arial"/>
              </a:rPr>
              <a:t>КРИТЕРИЙ ✅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f1020"/>
                </a:solidFill>
                <a:latin typeface="Arial"/>
              </a:rPr>
              <a:t>[Критерий успеха]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7" name="HypFoot1"/>
          <p:cNvSpPr/>
          <p:nvPr/>
        </p:nvSpPr>
        <p:spPr>
          <a:xfrm>
            <a:off x="3127320" y="3931920"/>
            <a:ext cx="2706120" cy="411120"/>
          </a:xfrm>
          <a:prstGeom prst="rect">
            <a:avLst/>
          </a:prstGeom>
          <a:solidFill>
            <a:srgbClr val="1a1f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</a:pPr>
            <a:r>
              <a:rPr b="0" lang="ru-RU" sz="800" spc="-1" strike="noStrike">
                <a:solidFill>
                  <a:srgbClr val="e8eaf6"/>
                </a:solidFill>
                <a:latin typeface="Arial"/>
              </a:rPr>
              <a:t>СРОК: </a:t>
            </a:r>
            <a:r>
              <a:rPr b="1" lang="ru-RU" sz="900" spc="-1" strike="noStrike">
                <a:solidFill>
                  <a:srgbClr val="ffffff"/>
                </a:solidFill>
                <a:latin typeface="Arial"/>
              </a:rPr>
              <a:t>[X дн.]</a:t>
            </a:r>
            <a:r>
              <a:rPr b="0" lang="ru-RU" sz="900" spc="-1" strike="noStrike">
                <a:solidFill>
                  <a:srgbClr val="94a3f6"/>
                </a:solidFill>
                <a:latin typeface="Arial"/>
              </a:rPr>
              <a:t>   |   </a:t>
            </a:r>
            <a:r>
              <a:rPr b="0" lang="ru-RU" sz="800" spc="-1" strike="noStrike">
                <a:solidFill>
                  <a:srgbClr val="e8eaf6"/>
                </a:solidFill>
                <a:latin typeface="Arial"/>
              </a:rPr>
              <a:t>БЮДЖЕТ: </a:t>
            </a:r>
            <a:r>
              <a:rPr b="1" lang="ru-RU" sz="900" spc="-1" strike="noStrike">
                <a:solidFill>
                  <a:srgbClr val="ffffff"/>
                </a:solidFill>
                <a:latin typeface="Arial"/>
              </a:rPr>
              <a:t>[X руб.]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8" name="HypHead2"/>
          <p:cNvSpPr/>
          <p:nvPr/>
        </p:nvSpPr>
        <p:spPr>
          <a:xfrm>
            <a:off x="5888880" y="1325880"/>
            <a:ext cx="2706120" cy="594000"/>
          </a:xfrm>
          <a:prstGeom prst="rect">
            <a:avLst/>
          </a:prstGeom>
          <a:solidFill>
            <a:srgbClr val="d68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e8eaf6"/>
                </a:solidFill>
                <a:latin typeface="Arial"/>
              </a:rPr>
              <a:t>ГИПОТЕЗА 3</a:t>
            </a:r>
            <a:r>
              <a:rPr b="1" lang="ru-RU" sz="900" spc="-1" strike="noStrike">
                <a:solidFill>
                  <a:srgbClr val="ffffff"/>
                </a:solidFill>
                <a:latin typeface="Arial"/>
              </a:rPr>
              <a:t>  ·  Ценности / Канала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ffffff"/>
                </a:solidFill>
                <a:latin typeface="Arial"/>
              </a:rPr>
              <a:t>[РИСК]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9" name="HypBody2"/>
          <p:cNvSpPr/>
          <p:nvPr/>
        </p:nvSpPr>
        <p:spPr>
          <a:xfrm>
            <a:off x="5888880" y="1920240"/>
            <a:ext cx="2706120" cy="20113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91440" bIns="91440" anchor="t">
            <a:noAutofit/>
          </a:bodyPr>
          <a:p>
            <a:pPr>
              <a:lnSpc>
                <a:spcPct val="100000"/>
              </a:lnSpc>
            </a:pPr>
            <a:r>
              <a:rPr b="1" lang="ru-RU" sz="800" spc="-1" strike="noStrike">
                <a:solidFill>
                  <a:srgbClr val="94a3f6"/>
                </a:solidFill>
                <a:latin typeface="Arial"/>
              </a:rPr>
              <a:t>ФОРМУЛИРОВКА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f1020"/>
                </a:solidFill>
                <a:latin typeface="Arial"/>
              </a:rPr>
              <a:t>[Гипотеза 3 — формулировка]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800" spc="-1" strike="noStrike">
                <a:solidFill>
                  <a:srgbClr val="94a3f6"/>
                </a:solidFill>
                <a:latin typeface="Arial"/>
              </a:rPr>
              <a:t>МЕТОД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f1020"/>
                </a:solidFill>
                <a:latin typeface="Arial"/>
              </a:rPr>
              <a:t>[Метод проверки]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800" spc="-1" strike="noStrike">
                <a:solidFill>
                  <a:srgbClr val="4a8a4f"/>
                </a:solidFill>
                <a:latin typeface="Arial"/>
              </a:rPr>
              <a:t>КРИТЕРИЙ ✅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f1020"/>
                </a:solidFill>
                <a:latin typeface="Arial"/>
              </a:rPr>
              <a:t>[Критерий успеха]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0" name="HypFoot2"/>
          <p:cNvSpPr/>
          <p:nvPr/>
        </p:nvSpPr>
        <p:spPr>
          <a:xfrm>
            <a:off x="5888880" y="3931920"/>
            <a:ext cx="2706120" cy="411120"/>
          </a:xfrm>
          <a:prstGeom prst="rect">
            <a:avLst/>
          </a:prstGeom>
          <a:solidFill>
            <a:srgbClr val="1a1f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</a:pPr>
            <a:r>
              <a:rPr b="0" lang="ru-RU" sz="800" spc="-1" strike="noStrike">
                <a:solidFill>
                  <a:srgbClr val="e8eaf6"/>
                </a:solidFill>
                <a:latin typeface="Arial"/>
              </a:rPr>
              <a:t>СРОК: </a:t>
            </a:r>
            <a:r>
              <a:rPr b="1" lang="ru-RU" sz="900" spc="-1" strike="noStrike">
                <a:solidFill>
                  <a:srgbClr val="ffffff"/>
                </a:solidFill>
                <a:latin typeface="Arial"/>
              </a:rPr>
              <a:t>[X дн.]</a:t>
            </a:r>
            <a:r>
              <a:rPr b="0" lang="ru-RU" sz="900" spc="-1" strike="noStrike">
                <a:solidFill>
                  <a:srgbClr val="94a3f6"/>
                </a:solidFill>
                <a:latin typeface="Arial"/>
              </a:rPr>
              <a:t>   |   </a:t>
            </a:r>
            <a:r>
              <a:rPr b="0" lang="ru-RU" sz="800" spc="-1" strike="noStrike">
                <a:solidFill>
                  <a:srgbClr val="e8eaf6"/>
                </a:solidFill>
                <a:latin typeface="Arial"/>
              </a:rPr>
              <a:t>БЮДЖЕТ: </a:t>
            </a:r>
            <a:r>
              <a:rPr b="1" lang="ru-RU" sz="900" spc="-1" strike="noStrike">
                <a:solidFill>
                  <a:srgbClr val="ffffff"/>
                </a:solidFill>
                <a:latin typeface="Arial"/>
              </a:rPr>
              <a:t>[X руб.]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1" name="Rule"/>
          <p:cNvSpPr/>
          <p:nvPr/>
        </p:nvSpPr>
        <p:spPr>
          <a:xfrm>
            <a:off x="365760" y="4434840"/>
            <a:ext cx="8412120" cy="365400"/>
          </a:xfrm>
          <a:prstGeom prst="rect">
            <a:avLst/>
          </a:prstGeom>
          <a:solidFill>
            <a:srgbClr val="0f10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</a:pPr>
            <a:r>
              <a:rPr b="1" lang="ru-RU" sz="900" spc="-1" strike="noStrike">
                <a:solidFill>
                  <a:srgbClr val="94a3f6"/>
                </a:solidFill>
                <a:latin typeface="Arial"/>
              </a:rPr>
              <a:t>▸ </a:t>
            </a:r>
            <a:r>
              <a:rPr b="1" lang="ru-RU" sz="900" spc="-1" strike="noStrike">
                <a:solidFill>
                  <a:srgbClr val="94a3f6"/>
                </a:solidFill>
                <a:latin typeface="Arial"/>
              </a:rPr>
              <a:t>ПОРЯДОК ПРОВЕРКИ: </a:t>
            </a:r>
            <a:r>
              <a:rPr b="0" lang="ru-RU" sz="900" spc="-1" strike="noStrike">
                <a:solidFill>
                  <a:srgbClr val="ffffff"/>
                </a:solidFill>
                <a:latin typeface="Arial"/>
              </a:rPr>
              <a:t>[Порядок проверки: H1 → H2 → H3 с указанием зависимостей]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2" name="Shape 3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23" name="Text 4"/>
          <p:cNvSpPr/>
          <p:nvPr/>
        </p:nvSpPr>
        <p:spPr>
          <a:xfrm>
            <a:off x="365760" y="4937760"/>
            <a:ext cx="64000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Источник: [указать источник]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Shape 0"/>
          <p:cNvSpPr/>
          <p:nvPr/>
        </p:nvSpPr>
        <p:spPr>
          <a:xfrm>
            <a:off x="0" y="0"/>
            <a:ext cx="319320" cy="5142960"/>
          </a:xfrm>
          <a:prstGeom prst="rect">
            <a:avLst/>
          </a:prstGeom>
          <a:solidFill>
            <a:srgbClr val="457e4a"/>
          </a:solidFill>
          <a:ln w="12700">
            <a:solidFill>
              <a:srgbClr val="457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25" name="Text 1"/>
          <p:cNvSpPr/>
          <p:nvPr/>
        </p:nvSpPr>
        <p:spPr>
          <a:xfrm>
            <a:off x="548640" y="1737360"/>
            <a:ext cx="8046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395" strike="noStrike">
                <a:solidFill>
                  <a:srgbClr val="457e4a"/>
                </a:solidFill>
                <a:latin typeface="Calibri"/>
                <a:ea typeface="Calibri"/>
              </a:rPr>
              <a:t>РАЗДЕЛ 06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6" name="Text 2"/>
          <p:cNvSpPr/>
          <p:nvPr/>
        </p:nvSpPr>
        <p:spPr>
          <a:xfrm>
            <a:off x="548640" y="2148840"/>
            <a:ext cx="80460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ffffff"/>
                </a:solidFill>
                <a:latin typeface="Calibri"/>
                <a:ea typeface="Calibri"/>
              </a:rPr>
              <a:t>PMF-метрики и следующие шаги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Shape 0"/>
          <p:cNvSpPr/>
          <p:nvPr/>
        </p:nvSpPr>
        <p:spPr>
          <a:xfrm>
            <a:off x="0" y="0"/>
            <a:ext cx="9143280" cy="68508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28" name="Text 1"/>
          <p:cNvSpPr/>
          <p:nvPr/>
        </p:nvSpPr>
        <p:spPr>
          <a:xfrm>
            <a:off x="365760" y="0"/>
            <a:ext cx="7314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PMF-индикаторы по фазам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9" name="Text 2"/>
          <p:cNvSpPr/>
          <p:nvPr/>
        </p:nvSpPr>
        <p:spPr>
          <a:xfrm>
            <a:off x="7132320" y="0"/>
            <a:ext cx="1828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94" strike="noStrike">
                <a:solidFill>
                  <a:srgbClr val="457e4a"/>
                </a:solidFill>
                <a:latin typeface="Calibri"/>
                <a:ea typeface="Calibri"/>
              </a:rPr>
              <a:t>PMF-МЕТРИКИ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0" name="Shape 3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1" name="Text 4"/>
          <p:cNvSpPr/>
          <p:nvPr/>
        </p:nvSpPr>
        <p:spPr>
          <a:xfrm>
            <a:off x="365760" y="4937760"/>
            <a:ext cx="64000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Источник: Sean Ellis Test; PMF-пороги Superhuman; benchmarks (a16z, b2b SaaS); PD WD 2026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2" name="Text 5"/>
          <p:cNvSpPr/>
          <p:nvPr/>
        </p:nvSpPr>
        <p:spPr>
          <a:xfrm>
            <a:off x="365760" y="777240"/>
            <a:ext cx="84117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94" strike="noStrike">
                <a:solidFill>
                  <a:srgbClr val="457e4a"/>
                </a:solidFill>
                <a:latin typeface="Calibri"/>
                <a:ea typeface="Calibri"/>
              </a:rPr>
              <a:t>КРИТЕРИИ ПЕРЕХОДА МЕЖДУ ФАЗАМИ VERIFICATION → VALUE VALIDATION → SCALING VALIDATION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3" name="Shape 6"/>
          <p:cNvSpPr/>
          <p:nvPr/>
        </p:nvSpPr>
        <p:spPr>
          <a:xfrm>
            <a:off x="365760" y="1051560"/>
            <a:ext cx="2742480" cy="346680"/>
          </a:xfrm>
          <a:prstGeom prst="rect">
            <a:avLst/>
          </a:prstGeom>
          <a:solidFill>
            <a:srgbClr val="94a3f6"/>
          </a:solidFill>
          <a:ln w="12700">
            <a:solidFill>
              <a:srgbClr val="94a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4" name="Text 7"/>
          <p:cNvSpPr/>
          <p:nvPr/>
        </p:nvSpPr>
        <p:spPr>
          <a:xfrm>
            <a:off x="365760" y="1051560"/>
            <a:ext cx="27424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94" strike="noStrike">
                <a:solidFill>
                  <a:srgbClr val="ffffff"/>
                </a:solidFill>
                <a:latin typeface="Calibri"/>
                <a:ea typeface="Calibri"/>
              </a:rPr>
              <a:t>VERIFICATION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5" name="Shape 8"/>
          <p:cNvSpPr/>
          <p:nvPr/>
        </p:nvSpPr>
        <p:spPr>
          <a:xfrm>
            <a:off x="365760" y="1444680"/>
            <a:ext cx="2742480" cy="95940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6" name="Shape 9"/>
          <p:cNvSpPr/>
          <p:nvPr/>
        </p:nvSpPr>
        <p:spPr>
          <a:xfrm>
            <a:off x="365760" y="1444680"/>
            <a:ext cx="2742480" cy="45000"/>
          </a:xfrm>
          <a:prstGeom prst="rect">
            <a:avLst/>
          </a:prstGeom>
          <a:solidFill>
            <a:srgbClr val="94a3f6"/>
          </a:solidFill>
          <a:ln w="12700">
            <a:solidFill>
              <a:srgbClr val="94a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7" name="Text 10"/>
          <p:cNvSpPr/>
          <p:nvPr/>
        </p:nvSpPr>
        <p:spPr>
          <a:xfrm>
            <a:off x="457200" y="1536120"/>
            <a:ext cx="2559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f1020"/>
                </a:solidFill>
                <a:latin typeface="Calibri"/>
                <a:ea typeface="Calibri"/>
              </a:rPr>
              <a:t>Подтверждение боли (интервью)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8" name="Text 11"/>
          <p:cNvSpPr/>
          <p:nvPr/>
        </p:nvSpPr>
        <p:spPr>
          <a:xfrm>
            <a:off x="457200" y="1901880"/>
            <a:ext cx="25596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94a3f6"/>
                </a:solidFill>
                <a:latin typeface="Calibri"/>
                <a:ea typeface="Calibri"/>
              </a:rPr>
              <a:t>7 из 10 описывают одну боль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9" name="Shape 12"/>
          <p:cNvSpPr/>
          <p:nvPr/>
        </p:nvSpPr>
        <p:spPr>
          <a:xfrm>
            <a:off x="365760" y="2496240"/>
            <a:ext cx="2742480" cy="95940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40" name="Shape 13"/>
          <p:cNvSpPr/>
          <p:nvPr/>
        </p:nvSpPr>
        <p:spPr>
          <a:xfrm>
            <a:off x="365760" y="2496240"/>
            <a:ext cx="2742480" cy="45000"/>
          </a:xfrm>
          <a:prstGeom prst="rect">
            <a:avLst/>
          </a:prstGeom>
          <a:solidFill>
            <a:srgbClr val="94a3f6"/>
          </a:solidFill>
          <a:ln w="12700">
            <a:solidFill>
              <a:srgbClr val="94a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41" name="Text 14"/>
          <p:cNvSpPr/>
          <p:nvPr/>
        </p:nvSpPr>
        <p:spPr>
          <a:xfrm>
            <a:off x="457200" y="2587680"/>
            <a:ext cx="2559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f1020"/>
                </a:solidFill>
                <a:latin typeface="Calibri"/>
                <a:ea typeface="Calibri"/>
              </a:rPr>
              <a:t>Конверсия smoke test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2" name="Text 15"/>
          <p:cNvSpPr/>
          <p:nvPr/>
        </p:nvSpPr>
        <p:spPr>
          <a:xfrm>
            <a:off x="457200" y="2953440"/>
            <a:ext cx="25596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94a3f6"/>
                </a:solidFill>
                <a:latin typeface="Calibri"/>
                <a:ea typeface="Calibri"/>
              </a:rPr>
              <a:t>≥ </a:t>
            </a:r>
            <a:r>
              <a:rPr b="1" lang="en-US" sz="1000" spc="-1" strike="noStrike">
                <a:solidFill>
                  <a:srgbClr val="94a3f6"/>
                </a:solidFill>
                <a:latin typeface="Calibri"/>
                <a:ea typeface="Calibri"/>
              </a:rPr>
              <a:t>1–5% B2B / ≥ 3–8% B2C — см. задача 16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3" name="Shape 16"/>
          <p:cNvSpPr/>
          <p:nvPr/>
        </p:nvSpPr>
        <p:spPr>
          <a:xfrm>
            <a:off x="365760" y="3547800"/>
            <a:ext cx="2742480" cy="95940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44" name="Shape 17"/>
          <p:cNvSpPr/>
          <p:nvPr/>
        </p:nvSpPr>
        <p:spPr>
          <a:xfrm>
            <a:off x="365760" y="3547800"/>
            <a:ext cx="2742480" cy="45000"/>
          </a:xfrm>
          <a:prstGeom prst="rect">
            <a:avLst/>
          </a:prstGeom>
          <a:solidFill>
            <a:srgbClr val="94a3f6"/>
          </a:solidFill>
          <a:ln w="12700">
            <a:solidFill>
              <a:srgbClr val="94a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45" name="Text 18"/>
          <p:cNvSpPr/>
          <p:nvPr/>
        </p:nvSpPr>
        <p:spPr>
          <a:xfrm>
            <a:off x="457200" y="3639240"/>
            <a:ext cx="2559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f1020"/>
                </a:solidFill>
                <a:latin typeface="Calibri"/>
                <a:ea typeface="Calibri"/>
              </a:rPr>
              <a:t>Opportunity Score топ-1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6" name="Text 19"/>
          <p:cNvSpPr/>
          <p:nvPr/>
        </p:nvSpPr>
        <p:spPr>
          <a:xfrm>
            <a:off x="457200" y="4005000"/>
            <a:ext cx="25596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94a3f6"/>
                </a:solidFill>
                <a:latin typeface="Calibri"/>
                <a:ea typeface="Calibri"/>
              </a:rPr>
              <a:t>OS ≥ 15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7" name="Text 20"/>
          <p:cNvSpPr/>
          <p:nvPr/>
        </p:nvSpPr>
        <p:spPr>
          <a:xfrm>
            <a:off x="3108960" y="1828800"/>
            <a:ext cx="1364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e8eaf6"/>
                </a:solidFill>
                <a:latin typeface="Calibri"/>
                <a:ea typeface="Calibri"/>
              </a:rPr>
              <a:t>→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8" name="Shape 21"/>
          <p:cNvSpPr/>
          <p:nvPr/>
        </p:nvSpPr>
        <p:spPr>
          <a:xfrm>
            <a:off x="3246120" y="1051560"/>
            <a:ext cx="2742480" cy="346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49" name="Text 22"/>
          <p:cNvSpPr/>
          <p:nvPr/>
        </p:nvSpPr>
        <p:spPr>
          <a:xfrm>
            <a:off x="3246120" y="1051560"/>
            <a:ext cx="27424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94" strike="noStrike">
                <a:solidFill>
                  <a:srgbClr val="ffffff"/>
                </a:solidFill>
                <a:latin typeface="Calibri"/>
                <a:ea typeface="Calibri"/>
              </a:rPr>
              <a:t>VALUE VALIDATION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0" name="Shape 23"/>
          <p:cNvSpPr/>
          <p:nvPr/>
        </p:nvSpPr>
        <p:spPr>
          <a:xfrm>
            <a:off x="3246120" y="1444680"/>
            <a:ext cx="2742480" cy="95940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51" name="Shape 24"/>
          <p:cNvSpPr/>
          <p:nvPr/>
        </p:nvSpPr>
        <p:spPr>
          <a:xfrm>
            <a:off x="3246120" y="1444680"/>
            <a:ext cx="2742480" cy="45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52" name="Text 25"/>
          <p:cNvSpPr/>
          <p:nvPr/>
        </p:nvSpPr>
        <p:spPr>
          <a:xfrm>
            <a:off x="3337560" y="1536120"/>
            <a:ext cx="2559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f1020"/>
                </a:solidFill>
                <a:latin typeface="Calibri"/>
                <a:ea typeface="Calibri"/>
              </a:rPr>
              <a:t>Sean Ellis Test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3" name="Text 26"/>
          <p:cNvSpPr/>
          <p:nvPr/>
        </p:nvSpPr>
        <p:spPr>
          <a:xfrm>
            <a:off x="3337560" y="1901880"/>
            <a:ext cx="25596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d9488"/>
                </a:solidFill>
                <a:latin typeface="Calibri"/>
                <a:ea typeface="Calibri"/>
              </a:rPr>
              <a:t>≥ </a:t>
            </a:r>
            <a:r>
              <a:rPr b="1" lang="en-US" sz="1000" spc="-1" strike="noStrike">
                <a:solidFill>
                  <a:srgbClr val="0d9488"/>
                </a:solidFill>
                <a:latin typeface="Calibri"/>
                <a:ea typeface="Calibri"/>
              </a:rPr>
              <a:t>40% «очень разочарованы» без продукта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4" name="Shape 27"/>
          <p:cNvSpPr/>
          <p:nvPr/>
        </p:nvSpPr>
        <p:spPr>
          <a:xfrm>
            <a:off x="3246120" y="2496240"/>
            <a:ext cx="2742480" cy="95940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55" name="Shape 28"/>
          <p:cNvSpPr/>
          <p:nvPr/>
        </p:nvSpPr>
        <p:spPr>
          <a:xfrm>
            <a:off x="3246120" y="2496240"/>
            <a:ext cx="2742480" cy="45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56" name="Text 29"/>
          <p:cNvSpPr/>
          <p:nvPr/>
        </p:nvSpPr>
        <p:spPr>
          <a:xfrm>
            <a:off x="3337560" y="2587680"/>
            <a:ext cx="2559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f1020"/>
                </a:solidFill>
                <a:latin typeface="Calibri"/>
                <a:ea typeface="Calibri"/>
              </a:rPr>
              <a:t>NPS первых пользователей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7" name="Text 30"/>
          <p:cNvSpPr/>
          <p:nvPr/>
        </p:nvSpPr>
        <p:spPr>
          <a:xfrm>
            <a:off x="3337560" y="2953440"/>
            <a:ext cx="25596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d9488"/>
                </a:solidFill>
                <a:latin typeface="Calibri"/>
                <a:ea typeface="Calibri"/>
              </a:rPr>
              <a:t>≥ </a:t>
            </a:r>
            <a:r>
              <a:rPr b="1" lang="en-US" sz="1000" spc="-1" strike="noStrike">
                <a:solidFill>
                  <a:srgbClr val="0d9488"/>
                </a:solidFill>
                <a:latin typeface="Calibri"/>
                <a:ea typeface="Calibri"/>
              </a:rPr>
              <a:t>40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8" name="Shape 31"/>
          <p:cNvSpPr/>
          <p:nvPr/>
        </p:nvSpPr>
        <p:spPr>
          <a:xfrm>
            <a:off x="3246120" y="3547800"/>
            <a:ext cx="2742480" cy="95940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59" name="Shape 32"/>
          <p:cNvSpPr/>
          <p:nvPr/>
        </p:nvSpPr>
        <p:spPr>
          <a:xfrm>
            <a:off x="3246120" y="3547800"/>
            <a:ext cx="2742480" cy="45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60" name="Text 33"/>
          <p:cNvSpPr/>
          <p:nvPr/>
        </p:nvSpPr>
        <p:spPr>
          <a:xfrm>
            <a:off x="3337560" y="3639240"/>
            <a:ext cx="2559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f1020"/>
                </a:solidFill>
                <a:latin typeface="Calibri"/>
                <a:ea typeface="Calibri"/>
              </a:rPr>
              <a:t>Retention (мес. 1)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1" name="Text 34"/>
          <p:cNvSpPr/>
          <p:nvPr/>
        </p:nvSpPr>
        <p:spPr>
          <a:xfrm>
            <a:off x="3337560" y="4005000"/>
            <a:ext cx="25596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d9488"/>
                </a:solidFill>
                <a:latin typeface="Calibri"/>
                <a:ea typeface="Calibri"/>
              </a:rPr>
              <a:t>≥ </a:t>
            </a:r>
            <a:r>
              <a:rPr b="1" lang="en-US" sz="1000" spc="-1" strike="noStrike">
                <a:solidFill>
                  <a:srgbClr val="0d9488"/>
                </a:solidFill>
                <a:latin typeface="Calibri"/>
                <a:ea typeface="Calibri"/>
              </a:rPr>
              <a:t>25% consumer / ≥ 40% B2B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2" name="Text 35"/>
          <p:cNvSpPr/>
          <p:nvPr/>
        </p:nvSpPr>
        <p:spPr>
          <a:xfrm>
            <a:off x="5989320" y="1828800"/>
            <a:ext cx="1364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e8eaf6"/>
                </a:solidFill>
                <a:latin typeface="Calibri"/>
                <a:ea typeface="Calibri"/>
              </a:rPr>
              <a:t>→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3" name="Shape 36"/>
          <p:cNvSpPr/>
          <p:nvPr/>
        </p:nvSpPr>
        <p:spPr>
          <a:xfrm>
            <a:off x="6126480" y="1051560"/>
            <a:ext cx="2742480" cy="346680"/>
          </a:xfrm>
          <a:prstGeom prst="rect">
            <a:avLst/>
          </a:prstGeom>
          <a:solidFill>
            <a:srgbClr val="457e4a"/>
          </a:solidFill>
          <a:ln w="12700">
            <a:solidFill>
              <a:srgbClr val="457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64" name="Text 37"/>
          <p:cNvSpPr/>
          <p:nvPr/>
        </p:nvSpPr>
        <p:spPr>
          <a:xfrm>
            <a:off x="6126480" y="1051560"/>
            <a:ext cx="27424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94" strike="noStrike">
                <a:solidFill>
                  <a:srgbClr val="ffffff"/>
                </a:solidFill>
                <a:latin typeface="Calibri"/>
                <a:ea typeface="Calibri"/>
              </a:rPr>
              <a:t>SCALING VALIDATION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5" name="Shape 38"/>
          <p:cNvSpPr/>
          <p:nvPr/>
        </p:nvSpPr>
        <p:spPr>
          <a:xfrm>
            <a:off x="6126480" y="1444680"/>
            <a:ext cx="2742480" cy="95940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66" name="Shape 39"/>
          <p:cNvSpPr/>
          <p:nvPr/>
        </p:nvSpPr>
        <p:spPr>
          <a:xfrm>
            <a:off x="6126480" y="1444680"/>
            <a:ext cx="2742480" cy="45000"/>
          </a:xfrm>
          <a:prstGeom prst="rect">
            <a:avLst/>
          </a:prstGeom>
          <a:solidFill>
            <a:srgbClr val="457e4a"/>
          </a:solidFill>
          <a:ln w="12700">
            <a:solidFill>
              <a:srgbClr val="457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67" name="Text 40"/>
          <p:cNvSpPr/>
          <p:nvPr/>
        </p:nvSpPr>
        <p:spPr>
          <a:xfrm>
            <a:off x="6217920" y="1536120"/>
            <a:ext cx="2559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f1020"/>
                </a:solidFill>
                <a:latin typeface="Calibri"/>
                <a:ea typeface="Calibri"/>
              </a:rPr>
              <a:t>Retention (мес. 3)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8" name="Text 41"/>
          <p:cNvSpPr/>
          <p:nvPr/>
        </p:nvSpPr>
        <p:spPr>
          <a:xfrm>
            <a:off x="6217920" y="1901880"/>
            <a:ext cx="25596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457e4a"/>
                </a:solidFill>
                <a:latin typeface="Calibri"/>
                <a:ea typeface="Calibri"/>
              </a:rPr>
              <a:t>≥ </a:t>
            </a:r>
            <a:r>
              <a:rPr b="1" lang="en-US" sz="1000" spc="-1" strike="noStrike">
                <a:solidFill>
                  <a:srgbClr val="457e4a"/>
                </a:solidFill>
                <a:latin typeface="Calibri"/>
                <a:ea typeface="Calibri"/>
              </a:rPr>
              <a:t>30% consumer / ≥ 50% B2B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9" name="Shape 42"/>
          <p:cNvSpPr/>
          <p:nvPr/>
        </p:nvSpPr>
        <p:spPr>
          <a:xfrm>
            <a:off x="6126480" y="2496240"/>
            <a:ext cx="2742480" cy="95940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70" name="Shape 43"/>
          <p:cNvSpPr/>
          <p:nvPr/>
        </p:nvSpPr>
        <p:spPr>
          <a:xfrm>
            <a:off x="6126480" y="2496240"/>
            <a:ext cx="2742480" cy="45000"/>
          </a:xfrm>
          <a:prstGeom prst="rect">
            <a:avLst/>
          </a:prstGeom>
          <a:solidFill>
            <a:srgbClr val="457e4a"/>
          </a:solidFill>
          <a:ln w="12700">
            <a:solidFill>
              <a:srgbClr val="457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71" name="Text 44"/>
          <p:cNvSpPr/>
          <p:nvPr/>
        </p:nvSpPr>
        <p:spPr>
          <a:xfrm>
            <a:off x="6217920" y="2587680"/>
            <a:ext cx="2559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f1020"/>
                </a:solidFill>
                <a:latin typeface="Calibri"/>
                <a:ea typeface="Calibri"/>
              </a:rPr>
              <a:t>LTV / CAC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2" name="Text 45"/>
          <p:cNvSpPr/>
          <p:nvPr/>
        </p:nvSpPr>
        <p:spPr>
          <a:xfrm>
            <a:off x="6217920" y="2953440"/>
            <a:ext cx="25596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457e4a"/>
                </a:solidFill>
                <a:latin typeface="Calibri"/>
                <a:ea typeface="Calibri"/>
              </a:rPr>
              <a:t>≥ </a:t>
            </a:r>
            <a:r>
              <a:rPr b="1" lang="en-US" sz="1000" spc="-1" strike="noStrike">
                <a:solidFill>
                  <a:srgbClr val="457e4a"/>
                </a:solidFill>
                <a:latin typeface="Calibri"/>
                <a:ea typeface="Calibri"/>
              </a:rPr>
              <a:t>3x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3" name="Shape 46"/>
          <p:cNvSpPr/>
          <p:nvPr/>
        </p:nvSpPr>
        <p:spPr>
          <a:xfrm>
            <a:off x="6126480" y="3547800"/>
            <a:ext cx="2742480" cy="95940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74" name="Shape 47"/>
          <p:cNvSpPr/>
          <p:nvPr/>
        </p:nvSpPr>
        <p:spPr>
          <a:xfrm>
            <a:off x="6126480" y="3547800"/>
            <a:ext cx="2742480" cy="45000"/>
          </a:xfrm>
          <a:prstGeom prst="rect">
            <a:avLst/>
          </a:prstGeom>
          <a:solidFill>
            <a:srgbClr val="457e4a"/>
          </a:solidFill>
          <a:ln w="12700">
            <a:solidFill>
              <a:srgbClr val="457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75" name="Text 48"/>
          <p:cNvSpPr/>
          <p:nvPr/>
        </p:nvSpPr>
        <p:spPr>
          <a:xfrm>
            <a:off x="6217920" y="3639240"/>
            <a:ext cx="2559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f1020"/>
                </a:solidFill>
                <a:latin typeface="Calibri"/>
                <a:ea typeface="Calibri"/>
              </a:rPr>
              <a:t>Органический рост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6" name="Text 49"/>
          <p:cNvSpPr/>
          <p:nvPr/>
        </p:nvSpPr>
        <p:spPr>
          <a:xfrm>
            <a:off x="6217920" y="4005000"/>
            <a:ext cx="25596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457e4a"/>
                </a:solidFill>
                <a:latin typeface="Calibri"/>
                <a:ea typeface="Calibri"/>
              </a:rPr>
              <a:t>≥ </a:t>
            </a:r>
            <a:r>
              <a:rPr b="1" lang="en-US" sz="1000" spc="-1" strike="noStrike">
                <a:solidFill>
                  <a:srgbClr val="457e4a"/>
                </a:solidFill>
                <a:latin typeface="Calibri"/>
                <a:ea typeface="Calibri"/>
              </a:rPr>
              <a:t>20% новых по рекомендации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7" name="Shape 50"/>
          <p:cNvSpPr/>
          <p:nvPr/>
        </p:nvSpPr>
        <p:spPr>
          <a:xfrm>
            <a:off x="365760" y="4544640"/>
            <a:ext cx="8411760" cy="319320"/>
          </a:xfrm>
          <a:prstGeom prst="rect">
            <a:avLst/>
          </a:prstGeom>
          <a:solidFill>
            <a:srgbClr val="ccfbf1"/>
          </a:solidFill>
          <a:ln w="635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78" name="Text 51"/>
          <p:cNvSpPr/>
          <p:nvPr/>
        </p:nvSpPr>
        <p:spPr>
          <a:xfrm>
            <a:off x="457200" y="45446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0d9488"/>
                </a:solidFill>
                <a:latin typeface="Calibri"/>
                <a:ea typeface="Calibri"/>
              </a:rPr>
              <a:t>Sean Ellis Test (для WD): «Как вы себя почувствуете, если Wonder Diamond больше не сможете заказывать?» → цель ≥ 40% «очень разочарован(а)» после 10-20 первых продаж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Shape 0"/>
          <p:cNvSpPr/>
          <p:nvPr/>
        </p:nvSpPr>
        <p:spPr>
          <a:xfrm>
            <a:off x="0" y="0"/>
            <a:ext cx="9143280" cy="68508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80" name="Text 1"/>
          <p:cNvSpPr/>
          <p:nvPr/>
        </p:nvSpPr>
        <p:spPr>
          <a:xfrm>
            <a:off x="365760" y="0"/>
            <a:ext cx="7314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OS финальный — топ-10 outcomes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1" name="Text 2"/>
          <p:cNvSpPr/>
          <p:nvPr/>
        </p:nvSpPr>
        <p:spPr>
          <a:xfrm>
            <a:off x="7132320" y="0"/>
            <a:ext cx="1828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94" strike="noStrike">
                <a:solidFill>
                  <a:srgbClr val="0d9488"/>
                </a:solidFill>
                <a:latin typeface="Calibri"/>
                <a:ea typeface="Calibri"/>
              </a:rPr>
              <a:t>PMF-МЕТРИКИ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2" name="Formula"/>
          <p:cNvSpPr/>
          <p:nvPr/>
        </p:nvSpPr>
        <p:spPr>
          <a:xfrm>
            <a:off x="365760" y="868680"/>
            <a:ext cx="8412120" cy="548280"/>
          </a:xfrm>
          <a:prstGeom prst="rect">
            <a:avLst/>
          </a:prstGeom>
          <a:solidFill>
            <a:srgbClr val="1a1f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anchor="t">
            <a:noAutofit/>
          </a:bodyPr>
          <a:p>
            <a:pPr>
              <a:lnSpc>
                <a:spcPct val="100000"/>
              </a:lnSpc>
            </a:pPr>
            <a:r>
              <a:rPr b="1" lang="ru-RU" sz="900" spc="-1" strike="noStrike">
                <a:solidFill>
                  <a:srgbClr val="94a3f6"/>
                </a:solidFill>
                <a:latin typeface="Arial"/>
              </a:rPr>
              <a:t>OPPORTUNITY SCORE = </a:t>
            </a:r>
            <a:r>
              <a:rPr b="0" lang="ru-RU" sz="900" spc="-1" strike="noStrike">
                <a:solidFill>
                  <a:srgbClr val="ffffff"/>
                </a:solidFill>
                <a:latin typeface="Arial"/>
              </a:rPr>
              <a:t>Важность + max(Важность − Удовлетворённость, 0)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e8eaf6"/>
                </a:solidFill>
                <a:latin typeface="Arial"/>
              </a:rPr>
              <a:t>Приоритет: OS ≥ 15 — 🔴 критический | 12–14 — 🟠 высокий | 9–11 — 🟡 средний | &lt; 9 — 🟢 низкий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3" name="TblHead0"/>
          <p:cNvSpPr/>
          <p:nvPr/>
        </p:nvSpPr>
        <p:spPr>
          <a:xfrm>
            <a:off x="365760" y="1508760"/>
            <a:ext cx="319680" cy="319680"/>
          </a:xfrm>
          <a:prstGeom prst="rect">
            <a:avLst/>
          </a:prstGeom>
          <a:solidFill>
            <a:srgbClr val="0f10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900" spc="-1" strike="noStrike">
                <a:solidFill>
                  <a:srgbClr val="94a3f6"/>
                </a:solidFill>
                <a:latin typeface="Arial"/>
              </a:rPr>
              <a:t>#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4" name="TblHead1"/>
          <p:cNvSpPr/>
          <p:nvPr/>
        </p:nvSpPr>
        <p:spPr>
          <a:xfrm>
            <a:off x="685800" y="1508760"/>
            <a:ext cx="4388760" cy="319680"/>
          </a:xfrm>
          <a:prstGeom prst="rect">
            <a:avLst/>
          </a:prstGeom>
          <a:solidFill>
            <a:srgbClr val="0f10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anchor="t">
            <a:noAutofit/>
          </a:bodyPr>
          <a:p>
            <a:pPr>
              <a:lnSpc>
                <a:spcPct val="100000"/>
              </a:lnSpc>
            </a:pPr>
            <a:r>
              <a:rPr b="1" lang="ru-RU" sz="900" spc="-1" strike="noStrike">
                <a:solidFill>
                  <a:srgbClr val="94a3f6"/>
                </a:solidFill>
                <a:latin typeface="Arial"/>
              </a:rPr>
              <a:t>Outcome (результат из Job Map)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5" name="TblHead2"/>
          <p:cNvSpPr/>
          <p:nvPr/>
        </p:nvSpPr>
        <p:spPr>
          <a:xfrm>
            <a:off x="5074920" y="1508760"/>
            <a:ext cx="685440" cy="319680"/>
          </a:xfrm>
          <a:prstGeom prst="rect">
            <a:avLst/>
          </a:prstGeom>
          <a:solidFill>
            <a:srgbClr val="0f10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900" spc="-1" strike="noStrike">
                <a:solidFill>
                  <a:srgbClr val="94a3f6"/>
                </a:solidFill>
                <a:latin typeface="Arial"/>
              </a:rPr>
              <a:t>Важн.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6" name="TblHead3"/>
          <p:cNvSpPr/>
          <p:nvPr/>
        </p:nvSpPr>
        <p:spPr>
          <a:xfrm>
            <a:off x="5760720" y="1508760"/>
            <a:ext cx="685440" cy="319680"/>
          </a:xfrm>
          <a:prstGeom prst="rect">
            <a:avLst/>
          </a:prstGeom>
          <a:solidFill>
            <a:srgbClr val="0f10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900" spc="-1" strike="noStrike">
                <a:solidFill>
                  <a:srgbClr val="94a3f6"/>
                </a:solidFill>
                <a:latin typeface="Arial"/>
              </a:rPr>
              <a:t>Удовл.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7" name="TblHead4"/>
          <p:cNvSpPr/>
          <p:nvPr/>
        </p:nvSpPr>
        <p:spPr>
          <a:xfrm>
            <a:off x="6446520" y="1508760"/>
            <a:ext cx="685440" cy="319680"/>
          </a:xfrm>
          <a:prstGeom prst="rect">
            <a:avLst/>
          </a:prstGeom>
          <a:solidFill>
            <a:srgbClr val="0f10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900" spc="-1" strike="noStrike">
                <a:solidFill>
                  <a:srgbClr val="94a3f6"/>
                </a:solidFill>
                <a:latin typeface="Arial"/>
              </a:rPr>
              <a:t>OS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8" name="TblHead5"/>
          <p:cNvSpPr/>
          <p:nvPr/>
        </p:nvSpPr>
        <p:spPr>
          <a:xfrm>
            <a:off x="7132320" y="1508760"/>
            <a:ext cx="1645560" cy="319680"/>
          </a:xfrm>
          <a:prstGeom prst="rect">
            <a:avLst/>
          </a:prstGeom>
          <a:solidFill>
            <a:srgbClr val="0f10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900" spc="-1" strike="noStrike">
                <a:solidFill>
                  <a:srgbClr val="94a3f6"/>
                </a:solidFill>
                <a:latin typeface="Arial"/>
              </a:rPr>
              <a:t>Приоритет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9" name="TblR0C0"/>
          <p:cNvSpPr/>
          <p:nvPr/>
        </p:nvSpPr>
        <p:spPr>
          <a:xfrm>
            <a:off x="365760" y="1828800"/>
            <a:ext cx="319680" cy="273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6720" bIns="3672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800" spc="-1" strike="noStrike">
                <a:solidFill>
                  <a:srgbClr val="64748b"/>
                </a:solidFill>
                <a:latin typeface="Arial"/>
              </a:rPr>
              <a:t>1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0" name="TblR0C1"/>
          <p:cNvSpPr/>
          <p:nvPr/>
        </p:nvSpPr>
        <p:spPr>
          <a:xfrm>
            <a:off x="685800" y="1828800"/>
            <a:ext cx="4388760" cy="273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rIns="109800" tIns="36720" bIns="36720" anchor="t">
            <a:noAutofit/>
          </a:bodyPr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f1020"/>
                </a:solidFill>
                <a:latin typeface="Arial"/>
              </a:rPr>
              <a:t>[Outcome 1 — описание]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1" name="TblR0C2"/>
          <p:cNvSpPr/>
          <p:nvPr/>
        </p:nvSpPr>
        <p:spPr>
          <a:xfrm>
            <a:off x="5074920" y="1828800"/>
            <a:ext cx="685440" cy="273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6720" bIns="3672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900" spc="-1" strike="noStrike">
                <a:solidFill>
                  <a:srgbClr val="0f1020"/>
                </a:solidFill>
                <a:latin typeface="Arial"/>
              </a:rPr>
              <a:t>9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2" name="TblR0C3"/>
          <p:cNvSpPr/>
          <p:nvPr/>
        </p:nvSpPr>
        <p:spPr>
          <a:xfrm>
            <a:off x="5760720" y="1828800"/>
            <a:ext cx="685440" cy="273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6720" bIns="3672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900" spc="-1" strike="noStrike">
                <a:solidFill>
                  <a:srgbClr val="0f1020"/>
                </a:solidFill>
                <a:latin typeface="Arial"/>
              </a:rPr>
              <a:t>2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3" name="TblR0C4"/>
          <p:cNvSpPr/>
          <p:nvPr/>
        </p:nvSpPr>
        <p:spPr>
          <a:xfrm>
            <a:off x="6446520" y="1828800"/>
            <a:ext cx="685440" cy="273960"/>
          </a:xfrm>
          <a:prstGeom prst="rect">
            <a:avLst/>
          </a:prstGeom>
          <a:solidFill>
            <a:srgbClr val="e5737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1000" spc="-1" strike="noStrike">
                <a:solidFill>
                  <a:srgbClr val="ffffff"/>
                </a:solidFill>
                <a:latin typeface="Arial"/>
              </a:rPr>
              <a:t>16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4" name="TblR0C5"/>
          <p:cNvSpPr/>
          <p:nvPr/>
        </p:nvSpPr>
        <p:spPr>
          <a:xfrm>
            <a:off x="7132320" y="1828800"/>
            <a:ext cx="1645560" cy="273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36720" bIns="36720" anchor="t">
            <a:noAutofit/>
          </a:bodyPr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ffffff"/>
                </a:solidFill>
                <a:latin typeface="Arial"/>
              </a:rPr>
              <a:t>🔴 </a:t>
            </a:r>
            <a:r>
              <a:rPr b="1" lang="ru-RU" sz="900" spc="-1" strike="noStrike">
                <a:solidFill>
                  <a:srgbClr val="e57373"/>
                </a:solidFill>
                <a:latin typeface="Arial"/>
              </a:rPr>
              <a:t>Критический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5" name="TblR1C0"/>
          <p:cNvSpPr/>
          <p:nvPr/>
        </p:nvSpPr>
        <p:spPr>
          <a:xfrm>
            <a:off x="365760" y="2103120"/>
            <a:ext cx="319680" cy="273960"/>
          </a:xfrm>
          <a:prstGeom prst="rect">
            <a:avLst/>
          </a:prstGeom>
          <a:solidFill>
            <a:srgbClr val="e8ea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6720" bIns="3672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800" spc="-1" strike="noStrike">
                <a:solidFill>
                  <a:srgbClr val="64748b"/>
                </a:solidFill>
                <a:latin typeface="Arial"/>
              </a:rPr>
              <a:t>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6" name="TblR1C1"/>
          <p:cNvSpPr/>
          <p:nvPr/>
        </p:nvSpPr>
        <p:spPr>
          <a:xfrm>
            <a:off x="685800" y="2103120"/>
            <a:ext cx="4388760" cy="273960"/>
          </a:xfrm>
          <a:prstGeom prst="rect">
            <a:avLst/>
          </a:prstGeom>
          <a:solidFill>
            <a:srgbClr val="e8ea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rIns="109800" tIns="36720" bIns="36720" anchor="t">
            <a:noAutofit/>
          </a:bodyPr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f1020"/>
                </a:solidFill>
                <a:latin typeface="Arial"/>
              </a:rPr>
              <a:t>[Outcome 2]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7" name="TblR1C2"/>
          <p:cNvSpPr/>
          <p:nvPr/>
        </p:nvSpPr>
        <p:spPr>
          <a:xfrm>
            <a:off x="5074920" y="2103120"/>
            <a:ext cx="685440" cy="273960"/>
          </a:xfrm>
          <a:prstGeom prst="rect">
            <a:avLst/>
          </a:prstGeom>
          <a:solidFill>
            <a:srgbClr val="e8ea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6720" bIns="3672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900" spc="-1" strike="noStrike">
                <a:solidFill>
                  <a:srgbClr val="0f1020"/>
                </a:solidFill>
                <a:latin typeface="Arial"/>
              </a:rPr>
              <a:t>9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8" name="TblR1C3"/>
          <p:cNvSpPr/>
          <p:nvPr/>
        </p:nvSpPr>
        <p:spPr>
          <a:xfrm>
            <a:off x="5760720" y="2103120"/>
            <a:ext cx="685440" cy="273960"/>
          </a:xfrm>
          <a:prstGeom prst="rect">
            <a:avLst/>
          </a:prstGeom>
          <a:solidFill>
            <a:srgbClr val="e8ea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6720" bIns="3672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900" spc="-1" strike="noStrike">
                <a:solidFill>
                  <a:srgbClr val="0f1020"/>
                </a:solidFill>
                <a:latin typeface="Arial"/>
              </a:rPr>
              <a:t>3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9" name="TblR1C4"/>
          <p:cNvSpPr/>
          <p:nvPr/>
        </p:nvSpPr>
        <p:spPr>
          <a:xfrm>
            <a:off x="6446520" y="2103120"/>
            <a:ext cx="685440" cy="273960"/>
          </a:xfrm>
          <a:prstGeom prst="rect">
            <a:avLst/>
          </a:prstGeom>
          <a:solidFill>
            <a:srgbClr val="e5737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1000" spc="-1" strike="noStrike">
                <a:solidFill>
                  <a:srgbClr val="ffffff"/>
                </a:solidFill>
                <a:latin typeface="Arial"/>
              </a:rPr>
              <a:t>15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0" name="TblR1C5"/>
          <p:cNvSpPr/>
          <p:nvPr/>
        </p:nvSpPr>
        <p:spPr>
          <a:xfrm>
            <a:off x="7132320" y="2103120"/>
            <a:ext cx="1645560" cy="273960"/>
          </a:xfrm>
          <a:prstGeom prst="rect">
            <a:avLst/>
          </a:prstGeom>
          <a:solidFill>
            <a:srgbClr val="e8ea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36720" bIns="36720" anchor="t">
            <a:noAutofit/>
          </a:bodyPr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ffffff"/>
                </a:solidFill>
                <a:latin typeface="Arial"/>
              </a:rPr>
              <a:t>🔴 </a:t>
            </a:r>
            <a:r>
              <a:rPr b="1" lang="ru-RU" sz="900" spc="-1" strike="noStrike">
                <a:solidFill>
                  <a:srgbClr val="e57373"/>
                </a:solidFill>
                <a:latin typeface="Arial"/>
              </a:rPr>
              <a:t>Критический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1" name="TblR2C0"/>
          <p:cNvSpPr/>
          <p:nvPr/>
        </p:nvSpPr>
        <p:spPr>
          <a:xfrm>
            <a:off x="365760" y="2377440"/>
            <a:ext cx="319680" cy="273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6720" bIns="3672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800" spc="-1" strike="noStrike">
                <a:solidFill>
                  <a:srgbClr val="64748b"/>
                </a:solidFill>
                <a:latin typeface="Arial"/>
              </a:rPr>
              <a:t>3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2" name="TblR2C1"/>
          <p:cNvSpPr/>
          <p:nvPr/>
        </p:nvSpPr>
        <p:spPr>
          <a:xfrm>
            <a:off x="685800" y="2377440"/>
            <a:ext cx="4388760" cy="273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rIns="109800" tIns="36720" bIns="36720" anchor="t">
            <a:noAutofit/>
          </a:bodyPr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f1020"/>
                </a:solidFill>
                <a:latin typeface="Arial"/>
              </a:rPr>
              <a:t>[Outcome 3]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3" name="TblR2C2"/>
          <p:cNvSpPr/>
          <p:nvPr/>
        </p:nvSpPr>
        <p:spPr>
          <a:xfrm>
            <a:off x="5074920" y="2377440"/>
            <a:ext cx="685440" cy="273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6720" bIns="3672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900" spc="-1" strike="noStrike">
                <a:solidFill>
                  <a:srgbClr val="0f1020"/>
                </a:solidFill>
                <a:latin typeface="Arial"/>
              </a:rPr>
              <a:t>8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4" name="TblR2C3"/>
          <p:cNvSpPr/>
          <p:nvPr/>
        </p:nvSpPr>
        <p:spPr>
          <a:xfrm>
            <a:off x="5760720" y="2377440"/>
            <a:ext cx="685440" cy="273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6720" bIns="3672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900" spc="-1" strike="noStrike">
                <a:solidFill>
                  <a:srgbClr val="0f1020"/>
                </a:solidFill>
                <a:latin typeface="Arial"/>
              </a:rPr>
              <a:t>3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5" name="TblR2C4"/>
          <p:cNvSpPr/>
          <p:nvPr/>
        </p:nvSpPr>
        <p:spPr>
          <a:xfrm>
            <a:off x="6446520" y="2377440"/>
            <a:ext cx="685440" cy="273960"/>
          </a:xfrm>
          <a:prstGeom prst="rect">
            <a:avLst/>
          </a:prstGeom>
          <a:solidFill>
            <a:srgbClr val="d68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1000" spc="-1" strike="noStrike">
                <a:solidFill>
                  <a:srgbClr val="ffffff"/>
                </a:solidFill>
                <a:latin typeface="Arial"/>
              </a:rPr>
              <a:t>14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6" name="TblR2C5"/>
          <p:cNvSpPr/>
          <p:nvPr/>
        </p:nvSpPr>
        <p:spPr>
          <a:xfrm>
            <a:off x="7132320" y="2377440"/>
            <a:ext cx="1645560" cy="273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36720" bIns="36720" anchor="t">
            <a:noAutofit/>
          </a:bodyPr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ffffff"/>
                </a:solidFill>
                <a:latin typeface="Arial"/>
              </a:rPr>
              <a:t>🟠 </a:t>
            </a:r>
            <a:r>
              <a:rPr b="1" lang="ru-RU" sz="900" spc="-1" strike="noStrike">
                <a:solidFill>
                  <a:srgbClr val="d68c3c"/>
                </a:solidFill>
                <a:latin typeface="Arial"/>
              </a:rPr>
              <a:t>Высокий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7" name="TblR3C0"/>
          <p:cNvSpPr/>
          <p:nvPr/>
        </p:nvSpPr>
        <p:spPr>
          <a:xfrm>
            <a:off x="365760" y="2651760"/>
            <a:ext cx="319680" cy="273960"/>
          </a:xfrm>
          <a:prstGeom prst="rect">
            <a:avLst/>
          </a:prstGeom>
          <a:solidFill>
            <a:srgbClr val="e8ea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6720" bIns="3672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800" spc="-1" strike="noStrike">
                <a:solidFill>
                  <a:srgbClr val="64748b"/>
                </a:solidFill>
                <a:latin typeface="Arial"/>
              </a:rPr>
              <a:t>4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8" name="TblR3C1"/>
          <p:cNvSpPr/>
          <p:nvPr/>
        </p:nvSpPr>
        <p:spPr>
          <a:xfrm>
            <a:off x="685800" y="2651760"/>
            <a:ext cx="4388760" cy="273960"/>
          </a:xfrm>
          <a:prstGeom prst="rect">
            <a:avLst/>
          </a:prstGeom>
          <a:solidFill>
            <a:srgbClr val="e8ea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rIns="109800" tIns="36720" bIns="36720" anchor="t">
            <a:noAutofit/>
          </a:bodyPr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f1020"/>
                </a:solidFill>
                <a:latin typeface="Arial"/>
              </a:rPr>
              <a:t>[Outcome 4]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9" name="TblR3C2"/>
          <p:cNvSpPr/>
          <p:nvPr/>
        </p:nvSpPr>
        <p:spPr>
          <a:xfrm>
            <a:off x="5074920" y="2651760"/>
            <a:ext cx="685440" cy="273960"/>
          </a:xfrm>
          <a:prstGeom prst="rect">
            <a:avLst/>
          </a:prstGeom>
          <a:solidFill>
            <a:srgbClr val="e8ea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6720" bIns="3672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900" spc="-1" strike="noStrike">
                <a:solidFill>
                  <a:srgbClr val="0f1020"/>
                </a:solidFill>
                <a:latin typeface="Arial"/>
              </a:rPr>
              <a:t>8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0" name="TblR3C3"/>
          <p:cNvSpPr/>
          <p:nvPr/>
        </p:nvSpPr>
        <p:spPr>
          <a:xfrm>
            <a:off x="5760720" y="2651760"/>
            <a:ext cx="685440" cy="273960"/>
          </a:xfrm>
          <a:prstGeom prst="rect">
            <a:avLst/>
          </a:prstGeom>
          <a:solidFill>
            <a:srgbClr val="e8ea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6720" bIns="3672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900" spc="-1" strike="noStrike">
                <a:solidFill>
                  <a:srgbClr val="0f1020"/>
                </a:solidFill>
                <a:latin typeface="Arial"/>
              </a:rPr>
              <a:t>3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1" name="TblR3C4"/>
          <p:cNvSpPr/>
          <p:nvPr/>
        </p:nvSpPr>
        <p:spPr>
          <a:xfrm>
            <a:off x="6446520" y="2651760"/>
            <a:ext cx="685440" cy="273960"/>
          </a:xfrm>
          <a:prstGeom prst="rect">
            <a:avLst/>
          </a:prstGeom>
          <a:solidFill>
            <a:srgbClr val="d68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1000" spc="-1" strike="noStrike">
                <a:solidFill>
                  <a:srgbClr val="ffffff"/>
                </a:solidFill>
                <a:latin typeface="Arial"/>
              </a:rPr>
              <a:t>13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2" name="TblR3C5"/>
          <p:cNvSpPr/>
          <p:nvPr/>
        </p:nvSpPr>
        <p:spPr>
          <a:xfrm>
            <a:off x="7132320" y="2651760"/>
            <a:ext cx="1645560" cy="273960"/>
          </a:xfrm>
          <a:prstGeom prst="rect">
            <a:avLst/>
          </a:prstGeom>
          <a:solidFill>
            <a:srgbClr val="e8ea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36720" bIns="36720" anchor="t">
            <a:noAutofit/>
          </a:bodyPr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ffffff"/>
                </a:solidFill>
                <a:latin typeface="Arial"/>
              </a:rPr>
              <a:t>🟠 </a:t>
            </a:r>
            <a:r>
              <a:rPr b="1" lang="ru-RU" sz="900" spc="-1" strike="noStrike">
                <a:solidFill>
                  <a:srgbClr val="d68c3c"/>
                </a:solidFill>
                <a:latin typeface="Arial"/>
              </a:rPr>
              <a:t>Высокий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3" name="TblR4C0"/>
          <p:cNvSpPr/>
          <p:nvPr/>
        </p:nvSpPr>
        <p:spPr>
          <a:xfrm>
            <a:off x="365760" y="2926080"/>
            <a:ext cx="319680" cy="273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6720" bIns="3672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800" spc="-1" strike="noStrike">
                <a:solidFill>
                  <a:srgbClr val="64748b"/>
                </a:solidFill>
                <a:latin typeface="Arial"/>
              </a:rPr>
              <a:t>5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4" name="TblR4C1"/>
          <p:cNvSpPr/>
          <p:nvPr/>
        </p:nvSpPr>
        <p:spPr>
          <a:xfrm>
            <a:off x="685800" y="2926080"/>
            <a:ext cx="4388760" cy="273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rIns="109800" tIns="36720" bIns="36720" anchor="t">
            <a:noAutofit/>
          </a:bodyPr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f1020"/>
                </a:solidFill>
                <a:latin typeface="Arial"/>
              </a:rPr>
              <a:t>[Outcome 5]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5" name="TblR4C2"/>
          <p:cNvSpPr/>
          <p:nvPr/>
        </p:nvSpPr>
        <p:spPr>
          <a:xfrm>
            <a:off x="5074920" y="2926080"/>
            <a:ext cx="685440" cy="273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6720" bIns="3672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900" spc="-1" strike="noStrike">
                <a:solidFill>
                  <a:srgbClr val="0f1020"/>
                </a:solidFill>
                <a:latin typeface="Arial"/>
              </a:rPr>
              <a:t>7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6" name="TblR4C3"/>
          <p:cNvSpPr/>
          <p:nvPr/>
        </p:nvSpPr>
        <p:spPr>
          <a:xfrm>
            <a:off x="5760720" y="2926080"/>
            <a:ext cx="685440" cy="273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6720" bIns="3672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900" spc="-1" strike="noStrike">
                <a:solidFill>
                  <a:srgbClr val="0f1020"/>
                </a:solidFill>
                <a:latin typeface="Arial"/>
              </a:rPr>
              <a:t>3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7" name="TblR4C4"/>
          <p:cNvSpPr/>
          <p:nvPr/>
        </p:nvSpPr>
        <p:spPr>
          <a:xfrm>
            <a:off x="6446520" y="2926080"/>
            <a:ext cx="685440" cy="273960"/>
          </a:xfrm>
          <a:prstGeom prst="rect">
            <a:avLst/>
          </a:prstGeom>
          <a:solidFill>
            <a:srgbClr val="d68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1000" spc="-1" strike="noStrike">
                <a:solidFill>
                  <a:srgbClr val="ffffff"/>
                </a:solidFill>
                <a:latin typeface="Arial"/>
              </a:rPr>
              <a:t>11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8" name="TblR4C5"/>
          <p:cNvSpPr/>
          <p:nvPr/>
        </p:nvSpPr>
        <p:spPr>
          <a:xfrm>
            <a:off x="7132320" y="2926080"/>
            <a:ext cx="1645560" cy="273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36720" bIns="36720" anchor="t">
            <a:noAutofit/>
          </a:bodyPr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ffffff"/>
                </a:solidFill>
                <a:latin typeface="Arial"/>
              </a:rPr>
              <a:t>🟠 </a:t>
            </a:r>
            <a:r>
              <a:rPr b="1" lang="ru-RU" sz="900" spc="-1" strike="noStrike">
                <a:solidFill>
                  <a:srgbClr val="d68c3c"/>
                </a:solidFill>
                <a:latin typeface="Arial"/>
              </a:rPr>
              <a:t>Высокий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9" name="TblR5C0"/>
          <p:cNvSpPr/>
          <p:nvPr/>
        </p:nvSpPr>
        <p:spPr>
          <a:xfrm>
            <a:off x="365760" y="3200400"/>
            <a:ext cx="319680" cy="273960"/>
          </a:xfrm>
          <a:prstGeom prst="rect">
            <a:avLst/>
          </a:prstGeom>
          <a:solidFill>
            <a:srgbClr val="e8ea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6720" bIns="3672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800" spc="-1" strike="noStrike">
                <a:solidFill>
                  <a:srgbClr val="64748b"/>
                </a:solidFill>
                <a:latin typeface="Arial"/>
              </a:rPr>
              <a:t>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0" name="TblR5C1"/>
          <p:cNvSpPr/>
          <p:nvPr/>
        </p:nvSpPr>
        <p:spPr>
          <a:xfrm>
            <a:off x="685800" y="3200400"/>
            <a:ext cx="4388760" cy="273960"/>
          </a:xfrm>
          <a:prstGeom prst="rect">
            <a:avLst/>
          </a:prstGeom>
          <a:solidFill>
            <a:srgbClr val="e8ea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rIns="109800" tIns="36720" bIns="36720" anchor="t">
            <a:noAutofit/>
          </a:bodyPr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f1020"/>
                </a:solidFill>
                <a:latin typeface="Arial"/>
              </a:rPr>
              <a:t>[Outcome 6]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1" name="TblR5C2"/>
          <p:cNvSpPr/>
          <p:nvPr/>
        </p:nvSpPr>
        <p:spPr>
          <a:xfrm>
            <a:off x="5074920" y="3200400"/>
            <a:ext cx="685440" cy="273960"/>
          </a:xfrm>
          <a:prstGeom prst="rect">
            <a:avLst/>
          </a:prstGeom>
          <a:solidFill>
            <a:srgbClr val="e8ea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6720" bIns="3672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900" spc="-1" strike="noStrike">
                <a:solidFill>
                  <a:srgbClr val="0f1020"/>
                </a:solidFill>
                <a:latin typeface="Arial"/>
              </a:rPr>
              <a:t>7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2" name="TblR5C3"/>
          <p:cNvSpPr/>
          <p:nvPr/>
        </p:nvSpPr>
        <p:spPr>
          <a:xfrm>
            <a:off x="5760720" y="3200400"/>
            <a:ext cx="685440" cy="273960"/>
          </a:xfrm>
          <a:prstGeom prst="rect">
            <a:avLst/>
          </a:prstGeom>
          <a:solidFill>
            <a:srgbClr val="e8ea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6720" bIns="3672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900" spc="-1" strike="noStrike">
                <a:solidFill>
                  <a:srgbClr val="0f1020"/>
                </a:solidFill>
                <a:latin typeface="Arial"/>
              </a:rPr>
              <a:t>4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3" name="TblR5C4"/>
          <p:cNvSpPr/>
          <p:nvPr/>
        </p:nvSpPr>
        <p:spPr>
          <a:xfrm>
            <a:off x="6446520" y="3200400"/>
            <a:ext cx="685440" cy="273960"/>
          </a:xfrm>
          <a:prstGeom prst="rect">
            <a:avLst/>
          </a:prstGeom>
          <a:solidFill>
            <a:srgbClr val="d4b9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1000" spc="-1" strike="noStrike">
                <a:solidFill>
                  <a:srgbClr val="ffffff"/>
                </a:solidFill>
                <a:latin typeface="Arial"/>
              </a:rPr>
              <a:t>10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4" name="TblR5C5"/>
          <p:cNvSpPr/>
          <p:nvPr/>
        </p:nvSpPr>
        <p:spPr>
          <a:xfrm>
            <a:off x="7132320" y="3200400"/>
            <a:ext cx="1645560" cy="273960"/>
          </a:xfrm>
          <a:prstGeom prst="rect">
            <a:avLst/>
          </a:prstGeom>
          <a:solidFill>
            <a:srgbClr val="e8ea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36720" bIns="36720" anchor="t">
            <a:noAutofit/>
          </a:bodyPr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ffffff"/>
                </a:solidFill>
                <a:latin typeface="Arial"/>
              </a:rPr>
              <a:t>🟡 </a:t>
            </a:r>
            <a:r>
              <a:rPr b="1" lang="ru-RU" sz="900" spc="-1" strike="noStrike">
                <a:solidFill>
                  <a:srgbClr val="d4b942"/>
                </a:solidFill>
                <a:latin typeface="Arial"/>
              </a:rPr>
              <a:t>Средний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5" name="TblR6C0"/>
          <p:cNvSpPr/>
          <p:nvPr/>
        </p:nvSpPr>
        <p:spPr>
          <a:xfrm>
            <a:off x="365760" y="3474720"/>
            <a:ext cx="319680" cy="273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6720" bIns="3672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800" spc="-1" strike="noStrike">
                <a:solidFill>
                  <a:srgbClr val="64748b"/>
                </a:solidFill>
                <a:latin typeface="Arial"/>
              </a:rPr>
              <a:t>7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6" name="TblR6C1"/>
          <p:cNvSpPr/>
          <p:nvPr/>
        </p:nvSpPr>
        <p:spPr>
          <a:xfrm>
            <a:off x="685800" y="3474720"/>
            <a:ext cx="4388760" cy="273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rIns="109800" tIns="36720" bIns="36720" anchor="t">
            <a:noAutofit/>
          </a:bodyPr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f1020"/>
                </a:solidFill>
                <a:latin typeface="Arial"/>
              </a:rPr>
              <a:t>[Outcome 7]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7" name="TblR6C2"/>
          <p:cNvSpPr/>
          <p:nvPr/>
        </p:nvSpPr>
        <p:spPr>
          <a:xfrm>
            <a:off x="5074920" y="3474720"/>
            <a:ext cx="685440" cy="273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6720" bIns="3672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900" spc="-1" strike="noStrike">
                <a:solidFill>
                  <a:srgbClr val="0f1020"/>
                </a:solidFill>
                <a:latin typeface="Arial"/>
              </a:rPr>
              <a:t>7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8" name="TblR6C3"/>
          <p:cNvSpPr/>
          <p:nvPr/>
        </p:nvSpPr>
        <p:spPr>
          <a:xfrm>
            <a:off x="5760720" y="3474720"/>
            <a:ext cx="685440" cy="273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6720" bIns="3672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900" spc="-1" strike="noStrike">
                <a:solidFill>
                  <a:srgbClr val="0f1020"/>
                </a:solidFill>
                <a:latin typeface="Arial"/>
              </a:rPr>
              <a:t>5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9" name="TblR6C4"/>
          <p:cNvSpPr/>
          <p:nvPr/>
        </p:nvSpPr>
        <p:spPr>
          <a:xfrm>
            <a:off x="6446520" y="3474720"/>
            <a:ext cx="685440" cy="273960"/>
          </a:xfrm>
          <a:prstGeom prst="rect">
            <a:avLst/>
          </a:prstGeom>
          <a:solidFill>
            <a:srgbClr val="d4b9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1000" spc="-1" strike="noStrike">
                <a:solidFill>
                  <a:srgbClr val="ffffff"/>
                </a:solidFill>
                <a:latin typeface="Arial"/>
              </a:rPr>
              <a:t>9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0" name="TblR6C5"/>
          <p:cNvSpPr/>
          <p:nvPr/>
        </p:nvSpPr>
        <p:spPr>
          <a:xfrm>
            <a:off x="7132320" y="3474720"/>
            <a:ext cx="1645560" cy="273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36720" bIns="36720" anchor="t">
            <a:noAutofit/>
          </a:bodyPr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ffffff"/>
                </a:solidFill>
                <a:latin typeface="Arial"/>
              </a:rPr>
              <a:t>🟡 </a:t>
            </a:r>
            <a:r>
              <a:rPr b="1" lang="ru-RU" sz="900" spc="-1" strike="noStrike">
                <a:solidFill>
                  <a:srgbClr val="d4b942"/>
                </a:solidFill>
                <a:latin typeface="Arial"/>
              </a:rPr>
              <a:t>Средний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1" name="TblR7C0"/>
          <p:cNvSpPr/>
          <p:nvPr/>
        </p:nvSpPr>
        <p:spPr>
          <a:xfrm>
            <a:off x="365760" y="3749040"/>
            <a:ext cx="319680" cy="273960"/>
          </a:xfrm>
          <a:prstGeom prst="rect">
            <a:avLst/>
          </a:prstGeom>
          <a:solidFill>
            <a:srgbClr val="e8ea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6720" bIns="3672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800" spc="-1" strike="noStrike">
                <a:solidFill>
                  <a:srgbClr val="64748b"/>
                </a:solidFill>
                <a:latin typeface="Arial"/>
              </a:rPr>
              <a:t>8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2" name="TblR7C1"/>
          <p:cNvSpPr/>
          <p:nvPr/>
        </p:nvSpPr>
        <p:spPr>
          <a:xfrm>
            <a:off x="685800" y="3749040"/>
            <a:ext cx="4388760" cy="273960"/>
          </a:xfrm>
          <a:prstGeom prst="rect">
            <a:avLst/>
          </a:prstGeom>
          <a:solidFill>
            <a:srgbClr val="e8ea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rIns="109800" tIns="36720" bIns="36720" anchor="t">
            <a:noAutofit/>
          </a:bodyPr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f1020"/>
                </a:solidFill>
                <a:latin typeface="Arial"/>
              </a:rPr>
              <a:t>[Outcome 8]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3" name="TblR7C2"/>
          <p:cNvSpPr/>
          <p:nvPr/>
        </p:nvSpPr>
        <p:spPr>
          <a:xfrm>
            <a:off x="5074920" y="3749040"/>
            <a:ext cx="685440" cy="273960"/>
          </a:xfrm>
          <a:prstGeom prst="rect">
            <a:avLst/>
          </a:prstGeom>
          <a:solidFill>
            <a:srgbClr val="e8ea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6720" bIns="3672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900" spc="-1" strike="noStrike">
                <a:solidFill>
                  <a:srgbClr val="0f1020"/>
                </a:solidFill>
                <a:latin typeface="Arial"/>
              </a:rPr>
              <a:t>6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4" name="TblR7C3"/>
          <p:cNvSpPr/>
          <p:nvPr/>
        </p:nvSpPr>
        <p:spPr>
          <a:xfrm>
            <a:off x="5760720" y="3749040"/>
            <a:ext cx="685440" cy="273960"/>
          </a:xfrm>
          <a:prstGeom prst="rect">
            <a:avLst/>
          </a:prstGeom>
          <a:solidFill>
            <a:srgbClr val="e8ea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6720" bIns="3672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900" spc="-1" strike="noStrike">
                <a:solidFill>
                  <a:srgbClr val="0f1020"/>
                </a:solidFill>
                <a:latin typeface="Arial"/>
              </a:rPr>
              <a:t>5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5" name="TblR7C4"/>
          <p:cNvSpPr/>
          <p:nvPr/>
        </p:nvSpPr>
        <p:spPr>
          <a:xfrm>
            <a:off x="6446520" y="3749040"/>
            <a:ext cx="685440" cy="273960"/>
          </a:xfrm>
          <a:prstGeom prst="rect">
            <a:avLst/>
          </a:prstGeom>
          <a:solidFill>
            <a:srgbClr val="d4b9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1000" spc="-1" strike="noStrike">
                <a:solidFill>
                  <a:srgbClr val="ffffff"/>
                </a:solidFill>
                <a:latin typeface="Arial"/>
              </a:rPr>
              <a:t>9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6" name="TblR7C5"/>
          <p:cNvSpPr/>
          <p:nvPr/>
        </p:nvSpPr>
        <p:spPr>
          <a:xfrm>
            <a:off x="7132320" y="3749040"/>
            <a:ext cx="1645560" cy="273960"/>
          </a:xfrm>
          <a:prstGeom prst="rect">
            <a:avLst/>
          </a:prstGeom>
          <a:solidFill>
            <a:srgbClr val="e8ea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36720" bIns="36720" anchor="t">
            <a:noAutofit/>
          </a:bodyPr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ffffff"/>
                </a:solidFill>
                <a:latin typeface="Arial"/>
              </a:rPr>
              <a:t>🟡 </a:t>
            </a:r>
            <a:r>
              <a:rPr b="1" lang="ru-RU" sz="900" spc="-1" strike="noStrike">
                <a:solidFill>
                  <a:srgbClr val="d4b942"/>
                </a:solidFill>
                <a:latin typeface="Arial"/>
              </a:rPr>
              <a:t>Средний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7" name="TblR8C0"/>
          <p:cNvSpPr/>
          <p:nvPr/>
        </p:nvSpPr>
        <p:spPr>
          <a:xfrm>
            <a:off x="365760" y="4023360"/>
            <a:ext cx="319680" cy="273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6720" bIns="3672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800" spc="-1" strike="noStrike">
                <a:solidFill>
                  <a:srgbClr val="64748b"/>
                </a:solidFill>
                <a:latin typeface="Arial"/>
              </a:rPr>
              <a:t>9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8" name="TblR8C1"/>
          <p:cNvSpPr/>
          <p:nvPr/>
        </p:nvSpPr>
        <p:spPr>
          <a:xfrm>
            <a:off x="685800" y="4023360"/>
            <a:ext cx="4388760" cy="273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rIns="109800" tIns="36720" bIns="36720" anchor="t">
            <a:noAutofit/>
          </a:bodyPr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f1020"/>
                </a:solidFill>
                <a:latin typeface="Arial"/>
              </a:rPr>
              <a:t>[Outcome 9]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9" name="TblR8C2"/>
          <p:cNvSpPr/>
          <p:nvPr/>
        </p:nvSpPr>
        <p:spPr>
          <a:xfrm>
            <a:off x="5074920" y="4023360"/>
            <a:ext cx="685440" cy="273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6720" bIns="3672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900" spc="-1" strike="noStrike">
                <a:solidFill>
                  <a:srgbClr val="0f1020"/>
                </a:solidFill>
                <a:latin typeface="Arial"/>
              </a:rPr>
              <a:t>7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0" name="TblR8C3"/>
          <p:cNvSpPr/>
          <p:nvPr/>
        </p:nvSpPr>
        <p:spPr>
          <a:xfrm>
            <a:off x="5760720" y="4023360"/>
            <a:ext cx="685440" cy="273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6720" bIns="3672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900" spc="-1" strike="noStrike">
                <a:solidFill>
                  <a:srgbClr val="0f1020"/>
                </a:solidFill>
                <a:latin typeface="Arial"/>
              </a:rPr>
              <a:t>6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1" name="TblR8C4"/>
          <p:cNvSpPr/>
          <p:nvPr/>
        </p:nvSpPr>
        <p:spPr>
          <a:xfrm>
            <a:off x="6446520" y="4023360"/>
            <a:ext cx="685440" cy="273960"/>
          </a:xfrm>
          <a:prstGeom prst="rect">
            <a:avLst/>
          </a:prstGeom>
          <a:solidFill>
            <a:srgbClr val="4a8a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1000" spc="-1" strike="noStrike">
                <a:solidFill>
                  <a:srgbClr val="ffffff"/>
                </a:solidFill>
                <a:latin typeface="Arial"/>
              </a:rPr>
              <a:t>8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2" name="TblR8C5"/>
          <p:cNvSpPr/>
          <p:nvPr/>
        </p:nvSpPr>
        <p:spPr>
          <a:xfrm>
            <a:off x="7132320" y="4023360"/>
            <a:ext cx="1645560" cy="273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36720" bIns="36720" anchor="t">
            <a:noAutofit/>
          </a:bodyPr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ffffff"/>
                </a:solidFill>
                <a:latin typeface="Arial"/>
              </a:rPr>
              <a:t>🟢 </a:t>
            </a:r>
            <a:r>
              <a:rPr b="1" lang="ru-RU" sz="900" spc="-1" strike="noStrike">
                <a:solidFill>
                  <a:srgbClr val="4a8a4f"/>
                </a:solidFill>
                <a:latin typeface="Arial"/>
              </a:rPr>
              <a:t>Низкий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3" name="TblR9C0"/>
          <p:cNvSpPr/>
          <p:nvPr/>
        </p:nvSpPr>
        <p:spPr>
          <a:xfrm>
            <a:off x="365760" y="4297680"/>
            <a:ext cx="319680" cy="273960"/>
          </a:xfrm>
          <a:prstGeom prst="rect">
            <a:avLst/>
          </a:prstGeom>
          <a:solidFill>
            <a:srgbClr val="e8ea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6720" bIns="3672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800" spc="-1" strike="noStrike">
                <a:solidFill>
                  <a:srgbClr val="64748b"/>
                </a:solidFill>
                <a:latin typeface="Arial"/>
              </a:rPr>
              <a:t>10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4" name="TblR9C1"/>
          <p:cNvSpPr/>
          <p:nvPr/>
        </p:nvSpPr>
        <p:spPr>
          <a:xfrm>
            <a:off x="685800" y="4297680"/>
            <a:ext cx="4388760" cy="273960"/>
          </a:xfrm>
          <a:prstGeom prst="rect">
            <a:avLst/>
          </a:prstGeom>
          <a:solidFill>
            <a:srgbClr val="e8ea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rIns="109800" tIns="36720" bIns="36720" anchor="t">
            <a:noAutofit/>
          </a:bodyPr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f1020"/>
                </a:solidFill>
                <a:latin typeface="Arial"/>
              </a:rPr>
              <a:t>[Outcome 10]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5" name="TblR9C2"/>
          <p:cNvSpPr/>
          <p:nvPr/>
        </p:nvSpPr>
        <p:spPr>
          <a:xfrm>
            <a:off x="5074920" y="4297680"/>
            <a:ext cx="685440" cy="273960"/>
          </a:xfrm>
          <a:prstGeom prst="rect">
            <a:avLst/>
          </a:prstGeom>
          <a:solidFill>
            <a:srgbClr val="e8ea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6720" bIns="3672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900" spc="-1" strike="noStrike">
                <a:solidFill>
                  <a:srgbClr val="0f1020"/>
                </a:solidFill>
                <a:latin typeface="Arial"/>
              </a:rPr>
              <a:t>6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6" name="TblR9C3"/>
          <p:cNvSpPr/>
          <p:nvPr/>
        </p:nvSpPr>
        <p:spPr>
          <a:xfrm>
            <a:off x="5760720" y="4297680"/>
            <a:ext cx="685440" cy="273960"/>
          </a:xfrm>
          <a:prstGeom prst="rect">
            <a:avLst/>
          </a:prstGeom>
          <a:solidFill>
            <a:srgbClr val="e8ea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6720" bIns="3672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900" spc="-1" strike="noStrike">
                <a:solidFill>
                  <a:srgbClr val="0f1020"/>
                </a:solidFill>
                <a:latin typeface="Arial"/>
              </a:rPr>
              <a:t>5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7" name="TblR9C4"/>
          <p:cNvSpPr/>
          <p:nvPr/>
        </p:nvSpPr>
        <p:spPr>
          <a:xfrm>
            <a:off x="6446520" y="4297680"/>
            <a:ext cx="685440" cy="273960"/>
          </a:xfrm>
          <a:prstGeom prst="rect">
            <a:avLst/>
          </a:prstGeom>
          <a:solidFill>
            <a:srgbClr val="4a8a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1000" spc="-1" strike="noStrike">
                <a:solidFill>
                  <a:srgbClr val="ffffff"/>
                </a:solidFill>
                <a:latin typeface="Arial"/>
              </a:rPr>
              <a:t>7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8" name="TblR9C5"/>
          <p:cNvSpPr/>
          <p:nvPr/>
        </p:nvSpPr>
        <p:spPr>
          <a:xfrm>
            <a:off x="7132320" y="4297680"/>
            <a:ext cx="1645560" cy="273960"/>
          </a:xfrm>
          <a:prstGeom prst="rect">
            <a:avLst/>
          </a:prstGeom>
          <a:solidFill>
            <a:srgbClr val="e8ea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36720" bIns="36720" anchor="t">
            <a:noAutofit/>
          </a:bodyPr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ffffff"/>
                </a:solidFill>
                <a:latin typeface="Arial"/>
              </a:rPr>
              <a:t>🟢 </a:t>
            </a:r>
            <a:r>
              <a:rPr b="1" lang="ru-RU" sz="900" spc="-1" strike="noStrike">
                <a:solidFill>
                  <a:srgbClr val="4a8a4f"/>
                </a:solidFill>
                <a:latin typeface="Arial"/>
              </a:rPr>
              <a:t>Низкий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9" name="Conclusion"/>
          <p:cNvSpPr/>
          <p:nvPr/>
        </p:nvSpPr>
        <p:spPr>
          <a:xfrm>
            <a:off x="365760" y="4663440"/>
            <a:ext cx="8412120" cy="228240"/>
          </a:xfrm>
          <a:prstGeom prst="rect">
            <a:avLst/>
          </a:prstGeom>
          <a:solidFill>
            <a:srgbClr val="1a1f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36720" bIns="36720" anchor="t">
            <a:noAutofit/>
          </a:bodyPr>
          <a:p>
            <a:pPr>
              <a:lnSpc>
                <a:spcPct val="100000"/>
              </a:lnSpc>
            </a:pPr>
            <a:r>
              <a:rPr b="0" lang="ru-RU" sz="1000" spc="-1" strike="noStrike">
                <a:solidFill>
                  <a:srgbClr val="ffffff"/>
                </a:solidFill>
                <a:latin typeface="Arial"/>
              </a:rPr>
              <a:t>🔴 </a:t>
            </a:r>
            <a:r>
              <a:rPr b="1" lang="ru-RU" sz="900" spc="-1" strike="noStrike">
                <a:solidFill>
                  <a:srgbClr val="ffffff"/>
                </a:solidFill>
                <a:latin typeface="Arial"/>
              </a:rPr>
              <a:t>[Сколько outcomes с OS ≥ 15] — критически незакрытые потребности, </a:t>
            </a:r>
            <a:r>
              <a:rPr b="0" lang="ru-RU" sz="900" spc="-1" strike="noStrike">
                <a:solidFill>
                  <a:srgbClr val="ffffff"/>
                </a:solidFill>
                <a:latin typeface="Arial"/>
              </a:rPr>
              <a:t>[Вывод: что двигается в приоритет OST; остальные — в roadmap]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0" name="Shape 3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51" name="Text 4"/>
          <p:cNvSpPr/>
          <p:nvPr/>
        </p:nvSpPr>
        <p:spPr>
          <a:xfrm>
            <a:off x="365760" y="4937760"/>
            <a:ext cx="64000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Источник: [указать источник]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Shape 0"/>
          <p:cNvSpPr/>
          <p:nvPr/>
        </p:nvSpPr>
        <p:spPr>
          <a:xfrm>
            <a:off x="0" y="0"/>
            <a:ext cx="319320" cy="5142960"/>
          </a:xfrm>
          <a:prstGeom prst="rect">
            <a:avLst/>
          </a:prstGeom>
          <a:solidFill>
            <a:srgbClr val="457e4a"/>
          </a:solidFill>
          <a:ln w="12700">
            <a:solidFill>
              <a:srgbClr val="457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53" name="Text 1"/>
          <p:cNvSpPr/>
          <p:nvPr/>
        </p:nvSpPr>
        <p:spPr>
          <a:xfrm>
            <a:off x="548640" y="594360"/>
            <a:ext cx="8046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395" strike="noStrike">
                <a:solidFill>
                  <a:srgbClr val="457e4a"/>
                </a:solidFill>
                <a:latin typeface="Calibri"/>
                <a:ea typeface="Calibri"/>
              </a:rPr>
              <a:t>СЛЕДУЮЩИЕ ШАГИ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4" name="Shape 2"/>
          <p:cNvSpPr/>
          <p:nvPr/>
        </p:nvSpPr>
        <p:spPr>
          <a:xfrm>
            <a:off x="548640" y="1051560"/>
            <a:ext cx="474840" cy="593640"/>
          </a:xfrm>
          <a:prstGeom prst="rect">
            <a:avLst/>
          </a:prstGeom>
          <a:solidFill>
            <a:srgbClr val="457e4a"/>
          </a:solidFill>
          <a:ln w="12700">
            <a:solidFill>
              <a:srgbClr val="457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55" name="Text 3"/>
          <p:cNvSpPr/>
          <p:nvPr/>
        </p:nvSpPr>
        <p:spPr>
          <a:xfrm>
            <a:off x="548640" y="1051560"/>
            <a:ext cx="4748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01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6" name="Text 4"/>
          <p:cNvSpPr/>
          <p:nvPr/>
        </p:nvSpPr>
        <p:spPr>
          <a:xfrm>
            <a:off x="1188720" y="1088280"/>
            <a:ext cx="75888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Провести интервью с потребителями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7" name="Text 5"/>
          <p:cNvSpPr/>
          <p:nvPr/>
        </p:nvSpPr>
        <p:spPr>
          <a:xfrm>
            <a:off x="1188720" y="1398960"/>
            <a:ext cx="7588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5–7 глубинных интервью (The Mom Test) с ЦА «Анна» за 2 нед. Цель: 5/7 подтверждают боль. 0 ₽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8" name="Shape 6"/>
          <p:cNvSpPr/>
          <p:nvPr/>
        </p:nvSpPr>
        <p:spPr>
          <a:xfrm>
            <a:off x="548640" y="1828800"/>
            <a:ext cx="474840" cy="593640"/>
          </a:xfrm>
          <a:prstGeom prst="rect">
            <a:avLst/>
          </a:prstGeom>
          <a:solidFill>
            <a:srgbClr val="94a3f6"/>
          </a:solidFill>
          <a:ln w="12700">
            <a:solidFill>
              <a:srgbClr val="94a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59" name="Text 7"/>
          <p:cNvSpPr/>
          <p:nvPr/>
        </p:nvSpPr>
        <p:spPr>
          <a:xfrm>
            <a:off x="548640" y="1828800"/>
            <a:ext cx="4748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02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0" name="Text 8"/>
          <p:cNvSpPr/>
          <p:nvPr/>
        </p:nvSpPr>
        <p:spPr>
          <a:xfrm>
            <a:off x="1188720" y="1865520"/>
            <a:ext cx="75888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Запустить Rapid Assumption Tests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1" name="Text 9"/>
          <p:cNvSpPr/>
          <p:nvPr/>
        </p:nvSpPr>
        <p:spPr>
          <a:xfrm>
            <a:off x="1188720" y="2176200"/>
            <a:ext cx="7588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Smoke Test Instagram: «6ct за 295K vs нат. за 3M». 50 000 ₽, 7 дней. CTR ≥ 2%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2" name="Shape 10"/>
          <p:cNvSpPr/>
          <p:nvPr/>
        </p:nvSpPr>
        <p:spPr>
          <a:xfrm>
            <a:off x="548640" y="2606040"/>
            <a:ext cx="474840" cy="593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63" name="Text 11"/>
          <p:cNvSpPr/>
          <p:nvPr/>
        </p:nvSpPr>
        <p:spPr>
          <a:xfrm>
            <a:off x="548640" y="2606040"/>
            <a:ext cx="4748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03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4" name="Text 12"/>
          <p:cNvSpPr/>
          <p:nvPr/>
        </p:nvSpPr>
        <p:spPr>
          <a:xfrm>
            <a:off x="1188720" y="2642760"/>
            <a:ext cx="75888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Верифицировать Opportunity Score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5" name="Text 13"/>
          <p:cNvSpPr/>
          <p:nvPr/>
        </p:nvSpPr>
        <p:spPr>
          <a:xfrm>
            <a:off x="1188720" y="2953440"/>
            <a:ext cx="7588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Опрос 30–50 респондентов на лендинге WD после «Что такое CVD» — верификация OS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6" name="Shape 14"/>
          <p:cNvSpPr/>
          <p:nvPr/>
        </p:nvSpPr>
        <p:spPr>
          <a:xfrm>
            <a:off x="548640" y="3383280"/>
            <a:ext cx="474840" cy="593640"/>
          </a:xfrm>
          <a:prstGeom prst="rect">
            <a:avLst/>
          </a:prstGeom>
          <a:solidFill>
            <a:srgbClr val="457e4a"/>
          </a:solidFill>
          <a:ln w="12700">
            <a:solidFill>
              <a:srgbClr val="457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67" name="Text 15"/>
          <p:cNvSpPr/>
          <p:nvPr/>
        </p:nvSpPr>
        <p:spPr>
          <a:xfrm>
            <a:off x="548640" y="3383280"/>
            <a:ext cx="4748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04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8" name="Text 16"/>
          <p:cNvSpPr/>
          <p:nvPr/>
        </p:nvSpPr>
        <p:spPr>
          <a:xfrm>
            <a:off x="1188720" y="3420000"/>
            <a:ext cx="75888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Выбрать целевую возможность в OST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9" name="Text 17"/>
          <p:cNvSpPr/>
          <p:nvPr/>
        </p:nvSpPr>
        <p:spPr>
          <a:xfrm>
            <a:off x="1188720" y="3730680"/>
            <a:ext cx="7588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Приоритет: «Доступный CVD 6ct+» (OS=16). Решения: линейка Classic + price-calculator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0" name="Shape 18"/>
          <p:cNvSpPr/>
          <p:nvPr/>
        </p:nvSpPr>
        <p:spPr>
          <a:xfrm>
            <a:off x="548640" y="4160520"/>
            <a:ext cx="474840" cy="593640"/>
          </a:xfrm>
          <a:prstGeom prst="rect">
            <a:avLst/>
          </a:prstGeom>
          <a:solidFill>
            <a:srgbClr val="94a3f6"/>
          </a:solidFill>
          <a:ln w="12700">
            <a:solidFill>
              <a:srgbClr val="94a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71" name="Text 19"/>
          <p:cNvSpPr/>
          <p:nvPr/>
        </p:nvSpPr>
        <p:spPr>
          <a:xfrm>
            <a:off x="548640" y="4160520"/>
            <a:ext cx="4748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05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2" name="Text 20"/>
          <p:cNvSpPr/>
          <p:nvPr/>
        </p:nvSpPr>
        <p:spPr>
          <a:xfrm>
            <a:off x="1188720" y="4197240"/>
            <a:ext cx="75888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Перейти к фазе Value Validation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3" name="Text 21"/>
          <p:cNvSpPr/>
          <p:nvPr/>
        </p:nvSpPr>
        <p:spPr>
          <a:xfrm>
            <a:off x="1188720" y="4507920"/>
            <a:ext cx="7588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Value Validation после 10 продаж: Sean Ellis Test («если WD исчез?» ≥ 40% очень разочарованы)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4" name="Text 22"/>
          <p:cNvSpPr/>
          <p:nvPr/>
        </p:nvSpPr>
        <p:spPr>
          <a:xfrm>
            <a:off x="548640" y="4709160"/>
            <a:ext cx="8228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Wonder Diamond  ·  wonderdiamond.ru  ·  Апрель 2026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2026-04-17T10:43:18Z</dcterms:created>
  <dc:creator>PptxGenJS</dc:creator>
  <dc:description/>
  <dc:language>en-US</dc:language>
  <cp:lastModifiedBy>PptxGenJS</cp:lastModifiedBy>
  <dcterms:modified xsi:type="dcterms:W3CDTF">2026-04-17T10:43:18Z</dcterms:modified>
  <cp:revision>1</cp:revision>
  <dc:subject>PptxGenJS Presentation</dc:subject>
  <dc:title>Product Discovery — Verification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28</vt:r8>
  </property>
  <property fmtid="{D5CDD505-2E9C-101B-9397-08002B2CF9AE}" pid="3" name="PresentationFormat">
    <vt:lpwstr>On-screen Show (16:9)</vt:lpwstr>
  </property>
  <property fmtid="{D5CDD505-2E9C-101B-9397-08002B2CF9AE}" pid="4" name="Slides">
    <vt:r8>28</vt:r8>
  </property>
</Properties>
</file>